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8" r:id="rId9"/>
    <p:sldId id="263" r:id="rId10"/>
    <p:sldId id="267" r:id="rId11"/>
    <p:sldId id="264" r:id="rId12"/>
    <p:sldId id="265" r:id="rId13"/>
    <p:sldId id="266"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7"/>
    <p:restoredTop sz="94703"/>
  </p:normalViewPr>
  <p:slideViewPr>
    <p:cSldViewPr snapToGrid="0">
      <p:cViewPr varScale="1">
        <p:scale>
          <a:sx n="128" d="100"/>
          <a:sy n="128" d="100"/>
        </p:scale>
        <p:origin x="176"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GB"/>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12/9/24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GB"/>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12/9/24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GB"/>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12/9/24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12/9/24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GB"/>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12/9/24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12/9/24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12/9/24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GB"/>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12/9/24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12/9/24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GB"/>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12/9/24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GB"/>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12/9/24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GB"/>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GB"/>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12/9/24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GB"/>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GB"/>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12/9/24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GB"/>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GB"/>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12/9/24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12/9/24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GB"/>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12/9/24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GB"/>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12/9/24</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link.springer.com/article/10.1007/s10207-023-00755-2" TargetMode="External"/><Relationship Id="rId2" Type="http://schemas.openxmlformats.org/officeDocument/2006/relationships/hyperlink" Target="https://aclanthology.org/2024.lrec-main.409/" TargetMode="External"/><Relationship Id="rId1" Type="http://schemas.openxmlformats.org/officeDocument/2006/relationships/slideLayout" Target="../slideLayouts/slideLayout2.xml"/><Relationship Id="rId5" Type="http://schemas.openxmlformats.org/officeDocument/2006/relationships/hyperlink" Target="https://ieeexplore.ieee.org/document/8292838" TargetMode="External"/><Relationship Id="rId4" Type="http://schemas.openxmlformats.org/officeDocument/2006/relationships/hyperlink" Target="https://www.researchgate.net/publication/368283064_Threat_Modelling_and_Detection_Using_Semantic_Network_for_Improving_Social_Media_Safety"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71FCC54-0CC8-0578-7488-AE5FAE18DA61}"/>
              </a:ext>
            </a:extLst>
          </p:cNvPr>
          <p:cNvSpPr txBox="1">
            <a:spLocks/>
          </p:cNvSpPr>
          <p:nvPr/>
        </p:nvSpPr>
        <p:spPr>
          <a:xfrm>
            <a:off x="1833837" y="626167"/>
            <a:ext cx="8915399" cy="2186608"/>
          </a:xfrm>
          <a:prstGeom prst="rect">
            <a:avLst/>
          </a:prstGeom>
        </p:spPr>
        <p:txBody>
          <a:bodyPr vert="horz" lIns="91440" tIns="45720" rIns="91440" bIns="45720" rtlCol="0" anchor="b">
            <a:normAutofit fontScale="25000" lnSpcReduction="20000"/>
          </a:bodyPr>
          <a:lstStyle>
            <a:lvl1pPr algn="l" defTabSz="457200" rtl="0" eaLnBrk="1" latinLnBrk="0" hangingPunct="1">
              <a:spcBef>
                <a:spcPct val="0"/>
              </a:spcBef>
              <a:buNone/>
              <a:defRPr sz="54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lnSpc>
                <a:spcPct val="170000"/>
              </a:lnSpc>
            </a:pPr>
            <a:r>
              <a:rPr lang="en-GB" sz="14400" b="1" dirty="0"/>
              <a:t>Enhancing the Safety and Authenticity of Online Discussions on Social Media Platforms with AI</a:t>
            </a:r>
            <a:br>
              <a:rPr lang="en-GB" dirty="0"/>
            </a:br>
            <a:endParaRPr lang="en-DE" dirty="0"/>
          </a:p>
        </p:txBody>
      </p:sp>
      <p:sp>
        <p:nvSpPr>
          <p:cNvPr id="9" name="Title 5">
            <a:extLst>
              <a:ext uri="{FF2B5EF4-FFF2-40B4-BE49-F238E27FC236}">
                <a16:creationId xmlns:a16="http://schemas.microsoft.com/office/drawing/2014/main" id="{9BB5AF7F-B6BA-7C59-76C9-087287F71335}"/>
              </a:ext>
            </a:extLst>
          </p:cNvPr>
          <p:cNvSpPr>
            <a:spLocks noGrp="1"/>
          </p:cNvSpPr>
          <p:nvPr>
            <p:ph type="subTitle" idx="1"/>
          </p:nvPr>
        </p:nvSpPr>
        <p:spPr>
          <a:xfrm>
            <a:off x="2281097" y="2524539"/>
            <a:ext cx="8915400" cy="3955774"/>
          </a:xfrm>
        </p:spPr>
        <p:txBody>
          <a:bodyPr>
            <a:normAutofit fontScale="92500" lnSpcReduction="10000"/>
          </a:bodyPr>
          <a:lstStyle/>
          <a:p>
            <a:pPr algn="just"/>
            <a:r>
              <a:rPr lang="en-GB" b="1" dirty="0"/>
              <a:t>	</a:t>
            </a:r>
            <a:r>
              <a:rPr lang="en-GB" sz="1900" b="1" dirty="0"/>
              <a:t>			Presented by</a:t>
            </a:r>
            <a:r>
              <a:rPr lang="en-GB" sz="1900" dirty="0"/>
              <a:t>: Group B1: Metrics</a:t>
            </a:r>
          </a:p>
          <a:p>
            <a:pPr algn="just"/>
            <a:br>
              <a:rPr lang="en-GB" sz="1900" dirty="0"/>
            </a:br>
            <a:r>
              <a:rPr lang="en-GB" sz="1900" dirty="0"/>
              <a:t>				</a:t>
            </a:r>
            <a:r>
              <a:rPr lang="en-GB" sz="1900" b="1" dirty="0"/>
              <a:t>Supervised by</a:t>
            </a:r>
            <a:r>
              <a:rPr lang="en-GB" sz="1900" dirty="0"/>
              <a:t>: Mr. Kai Kugler</a:t>
            </a:r>
          </a:p>
          <a:p>
            <a:br>
              <a:rPr lang="en-GB" sz="1900" dirty="0"/>
            </a:br>
            <a:r>
              <a:rPr lang="en-GB" sz="1900" b="1" dirty="0"/>
              <a:t>Group Members:</a:t>
            </a:r>
            <a:endParaRPr lang="en-GB" sz="1900" dirty="0"/>
          </a:p>
          <a:p>
            <a:pPr>
              <a:buFont typeface="Arial" panose="020B0604020202020204" pitchFamily="34" charset="0"/>
              <a:buChar char="•"/>
            </a:pPr>
            <a:r>
              <a:rPr lang="en-GB" sz="1900" dirty="0"/>
              <a:t>Aastha Shreya</a:t>
            </a:r>
          </a:p>
          <a:p>
            <a:pPr>
              <a:buFont typeface="Arial" panose="020B0604020202020204" pitchFamily="34" charset="0"/>
              <a:buChar char="•"/>
            </a:pPr>
            <a:r>
              <a:rPr lang="en-GB" sz="1900" dirty="0"/>
              <a:t>Donya Sheikhi</a:t>
            </a:r>
          </a:p>
          <a:p>
            <a:pPr>
              <a:buFont typeface="Arial" panose="020B0604020202020204" pitchFamily="34" charset="0"/>
              <a:buChar char="•"/>
            </a:pPr>
            <a:r>
              <a:rPr lang="en-GB" sz="1900" dirty="0"/>
              <a:t>Farhan Ali Arshad</a:t>
            </a:r>
          </a:p>
          <a:p>
            <a:pPr>
              <a:buFont typeface="Arial" panose="020B0604020202020204" pitchFamily="34" charset="0"/>
              <a:buChar char="•"/>
            </a:pPr>
            <a:r>
              <a:rPr lang="en-GB" sz="1900" dirty="0"/>
              <a:t>Muhammad Ahmed</a:t>
            </a:r>
          </a:p>
          <a:p>
            <a:pPr>
              <a:buFont typeface="Arial" panose="020B0604020202020204" pitchFamily="34" charset="0"/>
              <a:buChar char="•"/>
            </a:pPr>
            <a:r>
              <a:rPr lang="en-GB" sz="1900" dirty="0"/>
              <a:t>Shivang Sinha</a:t>
            </a:r>
          </a:p>
          <a:p>
            <a:pPr>
              <a:buFont typeface="Arial" panose="020B0604020202020204" pitchFamily="34" charset="0"/>
              <a:buChar char="•"/>
            </a:pPr>
            <a:r>
              <a:rPr lang="en-GB" sz="1900" dirty="0"/>
              <a:t>Syed Huzaifa Ali</a:t>
            </a:r>
          </a:p>
          <a:p>
            <a:endParaRPr lang="en-DE" dirty="0"/>
          </a:p>
        </p:txBody>
      </p:sp>
    </p:spTree>
    <p:extLst>
      <p:ext uri="{BB962C8B-B14F-4D97-AF65-F5344CB8AC3E}">
        <p14:creationId xmlns:p14="http://schemas.microsoft.com/office/powerpoint/2010/main" val="10493821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8EC73-544A-5769-FACD-6853B32103DD}"/>
              </a:ext>
            </a:extLst>
          </p:cNvPr>
          <p:cNvSpPr>
            <a:spLocks noGrp="1"/>
          </p:cNvSpPr>
          <p:nvPr>
            <p:ph type="title"/>
          </p:nvPr>
        </p:nvSpPr>
        <p:spPr/>
        <p:txBody>
          <a:bodyPr/>
          <a:lstStyle/>
          <a:p>
            <a:r>
              <a:rPr lang="en-GB" b="1" dirty="0"/>
              <a:t>Introduction</a:t>
            </a:r>
            <a:br>
              <a:rPr lang="en-GB" b="1" dirty="0"/>
            </a:br>
            <a:endParaRPr lang="en-DE" dirty="0"/>
          </a:p>
        </p:txBody>
      </p:sp>
      <p:sp>
        <p:nvSpPr>
          <p:cNvPr id="3" name="Content Placeholder 2">
            <a:extLst>
              <a:ext uri="{FF2B5EF4-FFF2-40B4-BE49-F238E27FC236}">
                <a16:creationId xmlns:a16="http://schemas.microsoft.com/office/drawing/2014/main" id="{40DC38A6-A2D8-E28B-05F9-AEF01B7DEAA2}"/>
              </a:ext>
            </a:extLst>
          </p:cNvPr>
          <p:cNvSpPr>
            <a:spLocks noGrp="1"/>
          </p:cNvSpPr>
          <p:nvPr>
            <p:ph idx="1"/>
          </p:nvPr>
        </p:nvSpPr>
        <p:spPr>
          <a:xfrm>
            <a:off x="2261221" y="1540189"/>
            <a:ext cx="8915400" cy="4900368"/>
          </a:xfrm>
        </p:spPr>
        <p:txBody>
          <a:bodyPr/>
          <a:lstStyle/>
          <a:p>
            <a:pPr>
              <a:buFont typeface="Arial" panose="020B0604020202020204" pitchFamily="34" charset="0"/>
              <a:buChar char="•"/>
            </a:pPr>
            <a:r>
              <a:rPr lang="en-GB" sz="1600" dirty="0"/>
              <a:t>Social media revolutionized communication but poses risks like fake news and online threats.</a:t>
            </a:r>
          </a:p>
          <a:p>
            <a:pPr>
              <a:buFont typeface="Arial" panose="020B0604020202020204" pitchFamily="34" charset="0"/>
              <a:buChar char="•"/>
            </a:pPr>
            <a:r>
              <a:rPr lang="en-GB" sz="1600" dirty="0"/>
              <a:t>These issues harm societal trust, safety, and quality of discourse.</a:t>
            </a:r>
          </a:p>
          <a:p>
            <a:pPr>
              <a:buFont typeface="Arial" panose="020B0604020202020204" pitchFamily="34" charset="0"/>
              <a:buChar char="•"/>
            </a:pPr>
            <a:r>
              <a:rPr lang="en-GB" sz="1600" dirty="0"/>
              <a:t>Existing detection systems address these challenges separately, missing their interconnected nature.</a:t>
            </a:r>
          </a:p>
          <a:p>
            <a:pPr>
              <a:buFont typeface="Arial" panose="020B0604020202020204" pitchFamily="34" charset="0"/>
              <a:buChar char="•"/>
            </a:pPr>
            <a:r>
              <a:rPr lang="en-GB" sz="1600" b="1" dirty="0"/>
              <a:t>Goal</a:t>
            </a:r>
            <a:r>
              <a:rPr lang="en-GB" sz="1600" dirty="0"/>
              <a:t>: Leverage transformer-based models (e.g., BERT) to create unified detection systems for these challenges.</a:t>
            </a:r>
          </a:p>
          <a:p>
            <a:endParaRPr lang="en-DE" dirty="0"/>
          </a:p>
        </p:txBody>
      </p:sp>
    </p:spTree>
    <p:extLst>
      <p:ext uri="{BB962C8B-B14F-4D97-AF65-F5344CB8AC3E}">
        <p14:creationId xmlns:p14="http://schemas.microsoft.com/office/powerpoint/2010/main" val="35719410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B21D00-2B8A-D31D-BC59-E93F07C0C0E4}"/>
              </a:ext>
            </a:extLst>
          </p:cNvPr>
          <p:cNvSpPr>
            <a:spLocks noGrp="1"/>
          </p:cNvSpPr>
          <p:nvPr>
            <p:ph type="title"/>
          </p:nvPr>
        </p:nvSpPr>
        <p:spPr/>
        <p:txBody>
          <a:bodyPr/>
          <a:lstStyle/>
          <a:p>
            <a:r>
              <a:rPr lang="en-GB" b="1" dirty="0"/>
              <a:t>Problem Statement</a:t>
            </a:r>
          </a:p>
        </p:txBody>
      </p:sp>
      <p:sp>
        <p:nvSpPr>
          <p:cNvPr id="3" name="Content Placeholder 2">
            <a:extLst>
              <a:ext uri="{FF2B5EF4-FFF2-40B4-BE49-F238E27FC236}">
                <a16:creationId xmlns:a16="http://schemas.microsoft.com/office/drawing/2014/main" id="{30DB935A-1867-BFB1-CBB2-BBD10E3BBC5F}"/>
              </a:ext>
            </a:extLst>
          </p:cNvPr>
          <p:cNvSpPr>
            <a:spLocks noGrp="1"/>
          </p:cNvSpPr>
          <p:nvPr>
            <p:ph idx="1"/>
          </p:nvPr>
        </p:nvSpPr>
        <p:spPr>
          <a:xfrm>
            <a:off x="2291039" y="1540189"/>
            <a:ext cx="8915400" cy="3777622"/>
          </a:xfrm>
        </p:spPr>
        <p:txBody>
          <a:bodyPr/>
          <a:lstStyle/>
          <a:p>
            <a:r>
              <a:rPr lang="en-GB" sz="1600" b="1" dirty="0"/>
              <a:t>Key Challenges</a:t>
            </a:r>
            <a:r>
              <a:rPr lang="en-GB" sz="1600" dirty="0"/>
              <a:t>:</a:t>
            </a:r>
          </a:p>
          <a:p>
            <a:pPr>
              <a:buFont typeface="Arial" panose="020B0604020202020204" pitchFamily="34" charset="0"/>
              <a:buChar char="•"/>
            </a:pPr>
            <a:r>
              <a:rPr lang="en-GB" sz="1600" dirty="0"/>
              <a:t>Fake news manipulates public opinion and polarizes communities.</a:t>
            </a:r>
          </a:p>
          <a:p>
            <a:pPr>
              <a:buFont typeface="Arial" panose="020B0604020202020204" pitchFamily="34" charset="0"/>
              <a:buChar char="•"/>
            </a:pPr>
            <a:r>
              <a:rPr lang="en-GB" sz="1600" dirty="0"/>
              <a:t>Online threats foster hostility and degrade the quality of discourse.</a:t>
            </a:r>
          </a:p>
          <a:p>
            <a:pPr>
              <a:buFont typeface="Arial" panose="020B0604020202020204" pitchFamily="34" charset="0"/>
              <a:buChar char="•"/>
            </a:pPr>
            <a:r>
              <a:rPr lang="en-GB" sz="1600" dirty="0"/>
              <a:t>These issues often overlap but are studied separately.</a:t>
            </a:r>
          </a:p>
          <a:p>
            <a:pPr>
              <a:buFont typeface="Arial" panose="020B0604020202020204" pitchFamily="34" charset="0"/>
              <a:buChar char="•"/>
            </a:pPr>
            <a:r>
              <a:rPr lang="en-GB" sz="1600" dirty="0"/>
              <a:t>Limited comparison of transformer models (e.g., encoder, decoder, hybrid) for these tasks.</a:t>
            </a:r>
          </a:p>
          <a:p>
            <a:pPr>
              <a:buFont typeface="Arial" panose="020B0604020202020204" pitchFamily="34" charset="0"/>
              <a:buChar char="•"/>
            </a:pPr>
            <a:endParaRPr lang="en-GB" sz="1600" b="1" dirty="0"/>
          </a:p>
          <a:p>
            <a:pPr>
              <a:buFont typeface="Wingdings" pitchFamily="2" charset="2"/>
              <a:buChar char="Ø"/>
            </a:pPr>
            <a:r>
              <a:rPr lang="en-GB" sz="1600" b="1" dirty="0"/>
              <a:t>Objective</a:t>
            </a:r>
            <a:r>
              <a:rPr lang="en-GB" sz="1600" dirty="0"/>
              <a:t>: </a:t>
            </a:r>
          </a:p>
          <a:p>
            <a:pPr>
              <a:buFont typeface="Arial" panose="020B0604020202020204" pitchFamily="34" charset="0"/>
              <a:buChar char="•"/>
            </a:pPr>
            <a:r>
              <a:rPr lang="en-GB" sz="1600" dirty="0"/>
              <a:t>Address these gaps by exploring unified detection methods.</a:t>
            </a:r>
          </a:p>
          <a:p>
            <a:endParaRPr lang="en-DE" dirty="0"/>
          </a:p>
        </p:txBody>
      </p:sp>
    </p:spTree>
    <p:extLst>
      <p:ext uri="{BB962C8B-B14F-4D97-AF65-F5344CB8AC3E}">
        <p14:creationId xmlns:p14="http://schemas.microsoft.com/office/powerpoint/2010/main" val="14130669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D7B51F-E085-0448-D374-B8BD8DA6AAAF}"/>
              </a:ext>
            </a:extLst>
          </p:cNvPr>
          <p:cNvSpPr>
            <a:spLocks noGrp="1"/>
          </p:cNvSpPr>
          <p:nvPr>
            <p:ph type="title"/>
          </p:nvPr>
        </p:nvSpPr>
        <p:spPr/>
        <p:txBody>
          <a:bodyPr/>
          <a:lstStyle/>
          <a:p>
            <a:r>
              <a:rPr lang="en-GB" b="1" dirty="0"/>
              <a:t>Research Questions</a:t>
            </a:r>
            <a:br>
              <a:rPr lang="en-GB" b="1" dirty="0"/>
            </a:br>
            <a:endParaRPr lang="en-DE" dirty="0"/>
          </a:p>
        </p:txBody>
      </p:sp>
      <p:sp>
        <p:nvSpPr>
          <p:cNvPr id="3" name="Content Placeholder 2">
            <a:extLst>
              <a:ext uri="{FF2B5EF4-FFF2-40B4-BE49-F238E27FC236}">
                <a16:creationId xmlns:a16="http://schemas.microsoft.com/office/drawing/2014/main" id="{ED23DEC8-A24D-A961-BA52-BFB01706CD29}"/>
              </a:ext>
            </a:extLst>
          </p:cNvPr>
          <p:cNvSpPr>
            <a:spLocks noGrp="1"/>
          </p:cNvSpPr>
          <p:nvPr>
            <p:ph idx="1"/>
          </p:nvPr>
        </p:nvSpPr>
        <p:spPr>
          <a:xfrm>
            <a:off x="2380490" y="1425889"/>
            <a:ext cx="8915400" cy="4006222"/>
          </a:xfrm>
        </p:spPr>
        <p:txBody>
          <a:bodyPr/>
          <a:lstStyle/>
          <a:p>
            <a:pPr marL="0" indent="0">
              <a:buNone/>
            </a:pPr>
            <a:endParaRPr lang="en-GB" sz="1600" b="1" dirty="0"/>
          </a:p>
          <a:p>
            <a:pPr marL="0" indent="0">
              <a:buNone/>
            </a:pPr>
            <a:r>
              <a:rPr lang="en-GB" sz="1600" b="1" dirty="0"/>
              <a:t>Q1</a:t>
            </a:r>
            <a:r>
              <a:rPr lang="en-GB" sz="1600" dirty="0"/>
              <a:t>: How does the performance of separate BERT models trained individually on fake news and threat datasets compare to a single BERT model trained unified on both datasets and which approach yields better results for combined detection tasks?</a:t>
            </a:r>
          </a:p>
          <a:p>
            <a:pPr marL="0" indent="0">
              <a:buNone/>
            </a:pPr>
            <a:br>
              <a:rPr lang="en-GB" sz="1600" dirty="0"/>
            </a:br>
            <a:r>
              <a:rPr lang="en-GB" sz="1600" b="1" dirty="0"/>
              <a:t>Q2</a:t>
            </a:r>
            <a:r>
              <a:rPr lang="en-GB" sz="1600" dirty="0"/>
              <a:t>: What are the conclusions be drawn from the combined detection of fake news and threats? How can it contribute to improving societal safety, fostering informed public engagement, and enhancing the quality of social media?</a:t>
            </a:r>
          </a:p>
          <a:p>
            <a:pPr marL="0" indent="0">
              <a:buNone/>
            </a:pPr>
            <a:br>
              <a:rPr lang="en-GB" sz="1600" dirty="0"/>
            </a:br>
            <a:r>
              <a:rPr lang="en-GB" sz="1600" b="1" dirty="0"/>
              <a:t>Q3</a:t>
            </a:r>
            <a:r>
              <a:rPr lang="en-GB" sz="1600" dirty="0"/>
              <a:t>: What are the trends in different transformer models (Encoder, Decoder, Hybrid) while detecting online threats &amp; fake news detection?</a:t>
            </a:r>
          </a:p>
          <a:p>
            <a:endParaRPr lang="en-DE" dirty="0"/>
          </a:p>
        </p:txBody>
      </p:sp>
    </p:spTree>
    <p:extLst>
      <p:ext uri="{BB962C8B-B14F-4D97-AF65-F5344CB8AC3E}">
        <p14:creationId xmlns:p14="http://schemas.microsoft.com/office/powerpoint/2010/main" val="10459290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7615D5-D332-149E-7C40-1B5F3DF5399F}"/>
              </a:ext>
            </a:extLst>
          </p:cNvPr>
          <p:cNvSpPr>
            <a:spLocks noGrp="1"/>
          </p:cNvSpPr>
          <p:nvPr>
            <p:ph type="title"/>
          </p:nvPr>
        </p:nvSpPr>
        <p:spPr/>
        <p:txBody>
          <a:bodyPr/>
          <a:lstStyle/>
          <a:p>
            <a:r>
              <a:rPr lang="en-GB" b="1" dirty="0"/>
              <a:t>Literature Review</a:t>
            </a:r>
            <a:br>
              <a:rPr lang="en-GB" b="1" dirty="0"/>
            </a:br>
            <a:endParaRPr lang="en-DE" dirty="0"/>
          </a:p>
        </p:txBody>
      </p:sp>
      <p:sp>
        <p:nvSpPr>
          <p:cNvPr id="3" name="Content Placeholder 2">
            <a:extLst>
              <a:ext uri="{FF2B5EF4-FFF2-40B4-BE49-F238E27FC236}">
                <a16:creationId xmlns:a16="http://schemas.microsoft.com/office/drawing/2014/main" id="{5C316421-D317-1992-7624-FCD13EF7D4B1}"/>
              </a:ext>
            </a:extLst>
          </p:cNvPr>
          <p:cNvSpPr>
            <a:spLocks noGrp="1"/>
          </p:cNvSpPr>
          <p:nvPr>
            <p:ph idx="1"/>
          </p:nvPr>
        </p:nvSpPr>
        <p:spPr>
          <a:xfrm>
            <a:off x="2420247" y="1408043"/>
            <a:ext cx="8915400" cy="3777622"/>
          </a:xfrm>
        </p:spPr>
        <p:txBody>
          <a:bodyPr/>
          <a:lstStyle/>
          <a:p>
            <a:pPr>
              <a:buFont typeface="Arial" panose="020B0604020202020204" pitchFamily="34" charset="0"/>
              <a:buChar char="•"/>
            </a:pPr>
            <a:r>
              <a:rPr lang="en-GB" sz="1600" b="1" dirty="0"/>
              <a:t>Fake News Detection</a:t>
            </a:r>
            <a:r>
              <a:rPr lang="en-GB" sz="1600" dirty="0"/>
              <a:t>: Studies like </a:t>
            </a:r>
            <a:r>
              <a:rPr lang="en-GB" sz="1600" dirty="0" err="1"/>
              <a:t>DeFaktS</a:t>
            </a:r>
            <a:r>
              <a:rPr lang="en-GB" sz="1600" dirty="0"/>
              <a:t> dataset highlight transformer models (e.g., BERT) for fine-grained detection.</a:t>
            </a:r>
          </a:p>
          <a:p>
            <a:pPr>
              <a:buFont typeface="Arial" panose="020B0604020202020204" pitchFamily="34" charset="0"/>
              <a:buChar char="•"/>
            </a:pPr>
            <a:r>
              <a:rPr lang="en-GB" sz="1600" b="1" dirty="0"/>
              <a:t>Threat Detection</a:t>
            </a:r>
            <a:r>
              <a:rPr lang="en-GB" sz="1600" dirty="0"/>
              <a:t>: Transformer models effectively identify hate speech and toxicity.</a:t>
            </a:r>
          </a:p>
          <a:p>
            <a:pPr>
              <a:buFont typeface="Arial" panose="020B0604020202020204" pitchFamily="34" charset="0"/>
              <a:buChar char="•"/>
            </a:pPr>
            <a:r>
              <a:rPr lang="en-GB" sz="1600" b="1" dirty="0"/>
              <a:t>Social Media Safety</a:t>
            </a:r>
            <a:r>
              <a:rPr lang="en-GB" sz="1600" dirty="0"/>
              <a:t>: Semantic networks provide insights into harmful </a:t>
            </a:r>
            <a:r>
              <a:rPr lang="en-GB" sz="1600" dirty="0" err="1"/>
              <a:t>behavior</a:t>
            </a:r>
            <a:r>
              <a:rPr lang="en-GB" sz="1600" dirty="0"/>
              <a:t> </a:t>
            </a:r>
            <a:r>
              <a:rPr lang="en-GB" sz="1600" dirty="0" err="1"/>
              <a:t>modeling</a:t>
            </a:r>
            <a:r>
              <a:rPr lang="en-GB" sz="1600" dirty="0"/>
              <a:t>.</a:t>
            </a:r>
          </a:p>
          <a:p>
            <a:pPr>
              <a:buFont typeface="Arial" panose="020B0604020202020204" pitchFamily="34" charset="0"/>
              <a:buChar char="•"/>
            </a:pPr>
            <a:r>
              <a:rPr lang="en-GB" sz="1600" b="1" dirty="0"/>
              <a:t>Gap</a:t>
            </a:r>
            <a:r>
              <a:rPr lang="en-GB" sz="1600" dirty="0"/>
              <a:t>: Overlap of fake news and threats remains under-explored</a:t>
            </a:r>
          </a:p>
          <a:p>
            <a:pPr marL="0" indent="0">
              <a:buNone/>
            </a:pPr>
            <a:endParaRPr lang="en-DE" dirty="0"/>
          </a:p>
        </p:txBody>
      </p:sp>
    </p:spTree>
    <p:extLst>
      <p:ext uri="{BB962C8B-B14F-4D97-AF65-F5344CB8AC3E}">
        <p14:creationId xmlns:p14="http://schemas.microsoft.com/office/powerpoint/2010/main" val="37286325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7F5F1-6721-92DD-6FF4-67533D2EBA70}"/>
              </a:ext>
            </a:extLst>
          </p:cNvPr>
          <p:cNvSpPr>
            <a:spLocks noGrp="1"/>
          </p:cNvSpPr>
          <p:nvPr>
            <p:ph type="title"/>
          </p:nvPr>
        </p:nvSpPr>
        <p:spPr/>
        <p:txBody>
          <a:bodyPr/>
          <a:lstStyle/>
          <a:p>
            <a:r>
              <a:rPr lang="en-GB" b="1" dirty="0"/>
              <a:t>Objectives</a:t>
            </a:r>
            <a:br>
              <a:rPr lang="en-GB" b="1" dirty="0"/>
            </a:br>
            <a:endParaRPr lang="en-DE" dirty="0"/>
          </a:p>
        </p:txBody>
      </p:sp>
      <p:sp>
        <p:nvSpPr>
          <p:cNvPr id="3" name="Content Placeholder 2">
            <a:extLst>
              <a:ext uri="{FF2B5EF4-FFF2-40B4-BE49-F238E27FC236}">
                <a16:creationId xmlns:a16="http://schemas.microsoft.com/office/drawing/2014/main" id="{4E851A95-3AA9-98F5-C89E-6AF47A8938D3}"/>
              </a:ext>
            </a:extLst>
          </p:cNvPr>
          <p:cNvSpPr>
            <a:spLocks noGrp="1"/>
          </p:cNvSpPr>
          <p:nvPr>
            <p:ph idx="1"/>
          </p:nvPr>
        </p:nvSpPr>
        <p:spPr>
          <a:xfrm>
            <a:off x="2479881" y="1729033"/>
            <a:ext cx="8915400" cy="3777622"/>
          </a:xfrm>
        </p:spPr>
        <p:txBody>
          <a:bodyPr/>
          <a:lstStyle/>
          <a:p>
            <a:pPr>
              <a:buFont typeface="+mj-lt"/>
              <a:buAutoNum type="arabicPeriod"/>
            </a:pPr>
            <a:r>
              <a:rPr lang="en-GB" sz="1600" b="1" dirty="0"/>
              <a:t>Model Comparison</a:t>
            </a:r>
            <a:r>
              <a:rPr lang="en-GB" sz="1600" dirty="0"/>
              <a:t>:</a:t>
            </a:r>
          </a:p>
          <a:p>
            <a:pPr lvl="1">
              <a:buFont typeface="Arial" panose="020B0604020202020204" pitchFamily="34" charset="0"/>
              <a:buChar char="•"/>
            </a:pPr>
            <a:r>
              <a:rPr lang="en-GB" dirty="0"/>
              <a:t>Compare separate vs. unified BERT models for detecting fake news and threats.</a:t>
            </a:r>
          </a:p>
          <a:p>
            <a:pPr>
              <a:buFont typeface="+mj-lt"/>
              <a:buAutoNum type="arabicPeriod"/>
            </a:pPr>
            <a:r>
              <a:rPr lang="en-GB" sz="1600" b="1" dirty="0"/>
              <a:t>Optimization</a:t>
            </a:r>
            <a:r>
              <a:rPr lang="en-GB" sz="1600" dirty="0"/>
              <a:t>:</a:t>
            </a:r>
          </a:p>
          <a:p>
            <a:pPr lvl="1">
              <a:buFont typeface="Arial" panose="020B0604020202020204" pitchFamily="34" charset="0"/>
              <a:buChar char="•"/>
            </a:pPr>
            <a:r>
              <a:rPr lang="en-GB" dirty="0"/>
              <a:t>Investigate efficiency, accuracy, and reduced computational overhead of unified models.</a:t>
            </a:r>
          </a:p>
          <a:p>
            <a:pPr>
              <a:buFont typeface="+mj-lt"/>
              <a:buAutoNum type="arabicPeriod"/>
            </a:pPr>
            <a:r>
              <a:rPr lang="en-GB" sz="1600" b="1" dirty="0"/>
              <a:t>Societal Impact</a:t>
            </a:r>
            <a:r>
              <a:rPr lang="en-GB" sz="1600" dirty="0"/>
              <a:t>:</a:t>
            </a:r>
          </a:p>
          <a:p>
            <a:pPr lvl="1">
              <a:buFont typeface="Arial" panose="020B0604020202020204" pitchFamily="34" charset="0"/>
              <a:buChar char="•"/>
            </a:pPr>
            <a:r>
              <a:rPr lang="en-GB" dirty="0"/>
              <a:t>Measure the impact of improved detection on safety and awareness.</a:t>
            </a:r>
          </a:p>
          <a:p>
            <a:pPr>
              <a:buFont typeface="+mj-lt"/>
              <a:buAutoNum type="arabicPeriod"/>
            </a:pPr>
            <a:r>
              <a:rPr lang="en-GB" sz="1600" b="1" dirty="0"/>
              <a:t>Trends Analysis</a:t>
            </a:r>
            <a:r>
              <a:rPr lang="en-GB" sz="1600" dirty="0"/>
              <a:t>:</a:t>
            </a:r>
          </a:p>
          <a:p>
            <a:pPr lvl="1">
              <a:buFont typeface="Arial" panose="020B0604020202020204" pitchFamily="34" charset="0"/>
              <a:buChar char="•"/>
            </a:pPr>
            <a:r>
              <a:rPr lang="en-GB" dirty="0"/>
              <a:t>Explore encoder, decoder, and hybrid transformer models.</a:t>
            </a:r>
          </a:p>
          <a:p>
            <a:endParaRPr lang="en-DE" dirty="0"/>
          </a:p>
        </p:txBody>
      </p:sp>
    </p:spTree>
    <p:extLst>
      <p:ext uri="{BB962C8B-B14F-4D97-AF65-F5344CB8AC3E}">
        <p14:creationId xmlns:p14="http://schemas.microsoft.com/office/powerpoint/2010/main" val="8661973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E6BAA-CC20-CE41-E611-2B68C12CA04C}"/>
              </a:ext>
            </a:extLst>
          </p:cNvPr>
          <p:cNvSpPr>
            <a:spLocks noGrp="1"/>
          </p:cNvSpPr>
          <p:nvPr>
            <p:ph type="title"/>
          </p:nvPr>
        </p:nvSpPr>
        <p:spPr/>
        <p:txBody>
          <a:bodyPr/>
          <a:lstStyle/>
          <a:p>
            <a:r>
              <a:rPr lang="en-GB" b="1" dirty="0"/>
              <a:t>Scope of Fake News Detection Metrics</a:t>
            </a:r>
            <a:br>
              <a:rPr lang="en-GB" b="1" dirty="0"/>
            </a:br>
            <a:endParaRPr lang="en-DE" dirty="0"/>
          </a:p>
        </p:txBody>
      </p:sp>
      <p:sp>
        <p:nvSpPr>
          <p:cNvPr id="3" name="Content Placeholder 2">
            <a:extLst>
              <a:ext uri="{FF2B5EF4-FFF2-40B4-BE49-F238E27FC236}">
                <a16:creationId xmlns:a16="http://schemas.microsoft.com/office/drawing/2014/main" id="{BD464F50-FDC3-C6E7-14B2-390A0E94E1F1}"/>
              </a:ext>
            </a:extLst>
          </p:cNvPr>
          <p:cNvSpPr>
            <a:spLocks noGrp="1"/>
          </p:cNvSpPr>
          <p:nvPr>
            <p:ph idx="1"/>
          </p:nvPr>
        </p:nvSpPr>
        <p:spPr>
          <a:xfrm>
            <a:off x="2430187" y="1493155"/>
            <a:ext cx="8915400" cy="4424968"/>
          </a:xfrm>
        </p:spPr>
        <p:txBody>
          <a:bodyPr>
            <a:normAutofit/>
          </a:bodyPr>
          <a:lstStyle/>
          <a:p>
            <a:pPr marL="0" indent="0">
              <a:buNone/>
            </a:pPr>
            <a:endParaRPr lang="en-GB" sz="1600" dirty="0"/>
          </a:p>
          <a:p>
            <a:pPr>
              <a:buFont typeface="Arial" panose="020B0604020202020204" pitchFamily="34" charset="0"/>
              <a:buChar char="•"/>
            </a:pPr>
            <a:r>
              <a:rPr lang="en-GB" sz="1600" b="1" dirty="0"/>
              <a:t>Semantic Inconsistency</a:t>
            </a:r>
            <a:r>
              <a:rPr lang="en-GB" sz="1600" dirty="0"/>
              <a:t>: Identifying contradictions or logical errors in the content to flag unreliable posts.</a:t>
            </a:r>
          </a:p>
          <a:p>
            <a:pPr>
              <a:buFont typeface="Arial" panose="020B0604020202020204" pitchFamily="34" charset="0"/>
              <a:buChar char="•"/>
            </a:pPr>
            <a:r>
              <a:rPr lang="en-GB" sz="1600" b="1" dirty="0"/>
              <a:t>Polarization</a:t>
            </a:r>
            <a:r>
              <a:rPr lang="en-GB" sz="1600" dirty="0"/>
              <a:t>: Detecting narratives that frame issues in divisive terms, such as friend vs. foe.</a:t>
            </a:r>
          </a:p>
          <a:p>
            <a:pPr>
              <a:buFont typeface="Arial" panose="020B0604020202020204" pitchFamily="34" charset="0"/>
              <a:buChar char="•"/>
            </a:pPr>
            <a:r>
              <a:rPr lang="en-GB" sz="1600" b="1" dirty="0"/>
              <a:t>Vagueness</a:t>
            </a:r>
            <a:r>
              <a:rPr lang="en-GB" sz="1600" dirty="0"/>
              <a:t>: </a:t>
            </a:r>
            <a:r>
              <a:rPr lang="en-GB" sz="1600" dirty="0" err="1"/>
              <a:t>Analyzing</a:t>
            </a:r>
            <a:r>
              <a:rPr lang="en-GB" sz="1600" dirty="0"/>
              <a:t> indirect expressions or hedging words that make content unclear or unreliable.</a:t>
            </a:r>
          </a:p>
          <a:p>
            <a:pPr>
              <a:buFont typeface="Arial" panose="020B0604020202020204" pitchFamily="34" charset="0"/>
              <a:buChar char="•"/>
            </a:pPr>
            <a:r>
              <a:rPr lang="en-GB" sz="1600" b="1" dirty="0"/>
              <a:t>Authenticity and Referencing</a:t>
            </a:r>
            <a:r>
              <a:rPr lang="en-GB" sz="1600" dirty="0"/>
              <a:t>: Measuring the use of credible references and contextualized sources versus false or absent citations.</a:t>
            </a:r>
          </a:p>
          <a:p>
            <a:endParaRPr lang="en-DE" dirty="0"/>
          </a:p>
        </p:txBody>
      </p:sp>
    </p:spTree>
    <p:extLst>
      <p:ext uri="{BB962C8B-B14F-4D97-AF65-F5344CB8AC3E}">
        <p14:creationId xmlns:p14="http://schemas.microsoft.com/office/powerpoint/2010/main" val="36622978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AF9394-A4B7-304C-9F5E-53FA65B08364}"/>
              </a:ext>
            </a:extLst>
          </p:cNvPr>
          <p:cNvSpPr>
            <a:spLocks noGrp="1"/>
          </p:cNvSpPr>
          <p:nvPr>
            <p:ph type="title"/>
          </p:nvPr>
        </p:nvSpPr>
        <p:spPr/>
        <p:txBody>
          <a:bodyPr/>
          <a:lstStyle/>
          <a:p>
            <a:r>
              <a:rPr lang="en-GB" b="1" dirty="0"/>
              <a:t>Scope of Threat Detection Metrics</a:t>
            </a:r>
            <a:endParaRPr lang="en-DE" dirty="0"/>
          </a:p>
        </p:txBody>
      </p:sp>
      <p:sp>
        <p:nvSpPr>
          <p:cNvPr id="3" name="Content Placeholder 2">
            <a:extLst>
              <a:ext uri="{FF2B5EF4-FFF2-40B4-BE49-F238E27FC236}">
                <a16:creationId xmlns:a16="http://schemas.microsoft.com/office/drawing/2014/main" id="{EBAFF33A-0EB4-A24E-E81B-687F6AB28873}"/>
              </a:ext>
            </a:extLst>
          </p:cNvPr>
          <p:cNvSpPr>
            <a:spLocks noGrp="1"/>
          </p:cNvSpPr>
          <p:nvPr>
            <p:ph idx="1"/>
          </p:nvPr>
        </p:nvSpPr>
        <p:spPr>
          <a:xfrm>
            <a:off x="2300976" y="1577009"/>
            <a:ext cx="8915400" cy="4436165"/>
          </a:xfrm>
        </p:spPr>
        <p:txBody>
          <a:bodyPr/>
          <a:lstStyle/>
          <a:p>
            <a:pPr marL="0" indent="0">
              <a:buNone/>
            </a:pPr>
            <a:endParaRPr lang="en-GB" sz="1600" dirty="0"/>
          </a:p>
          <a:p>
            <a:pPr>
              <a:buFont typeface="Arial" panose="020B0604020202020204" pitchFamily="34" charset="0"/>
              <a:buChar char="•"/>
            </a:pPr>
            <a:r>
              <a:rPr lang="en-GB" sz="1600" b="1" dirty="0"/>
              <a:t>Toxicity</a:t>
            </a:r>
            <a:r>
              <a:rPr lang="en-GB" sz="1600" dirty="0"/>
              <a:t>: Identifying harmful and aggressive language.</a:t>
            </a:r>
          </a:p>
          <a:p>
            <a:pPr>
              <a:buFont typeface="Arial" panose="020B0604020202020204" pitchFamily="34" charset="0"/>
              <a:buChar char="•"/>
            </a:pPr>
            <a:r>
              <a:rPr lang="en-GB" sz="1600" b="1" dirty="0"/>
              <a:t>Cyberbullying</a:t>
            </a:r>
            <a:r>
              <a:rPr lang="en-GB" sz="1600" dirty="0"/>
              <a:t>: Detecting language explicitly or implicitly targeting harm toward individuals or groups.</a:t>
            </a:r>
          </a:p>
          <a:p>
            <a:pPr>
              <a:buFont typeface="Arial" panose="020B0604020202020204" pitchFamily="34" charset="0"/>
              <a:buChar char="•"/>
            </a:pPr>
            <a:r>
              <a:rPr lang="en-GB" sz="1600" b="1" dirty="0"/>
              <a:t>Insults</a:t>
            </a:r>
            <a:r>
              <a:rPr lang="en-GB" sz="1600" dirty="0"/>
              <a:t>: Recognizing disrespectful or degrading comments.</a:t>
            </a:r>
          </a:p>
          <a:p>
            <a:pPr>
              <a:buFont typeface="Arial" panose="020B0604020202020204" pitchFamily="34" charset="0"/>
              <a:buChar char="•"/>
            </a:pPr>
            <a:r>
              <a:rPr lang="en-GB" sz="1600" b="1" dirty="0"/>
              <a:t>Identity Hate</a:t>
            </a:r>
            <a:r>
              <a:rPr lang="en-GB" sz="1600" dirty="0"/>
              <a:t>: Identifying hate speech targeted toward identity attributes such as race, religion, or gender.</a:t>
            </a:r>
          </a:p>
          <a:p>
            <a:endParaRPr lang="en-DE" dirty="0"/>
          </a:p>
        </p:txBody>
      </p:sp>
    </p:spTree>
    <p:extLst>
      <p:ext uri="{BB962C8B-B14F-4D97-AF65-F5344CB8AC3E}">
        <p14:creationId xmlns:p14="http://schemas.microsoft.com/office/powerpoint/2010/main" val="11014974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ED7E81-8BA6-0BA3-1DAE-77EDDFD084F3}"/>
              </a:ext>
            </a:extLst>
          </p:cNvPr>
          <p:cNvSpPr>
            <a:spLocks noGrp="1"/>
          </p:cNvSpPr>
          <p:nvPr>
            <p:ph type="title"/>
          </p:nvPr>
        </p:nvSpPr>
        <p:spPr>
          <a:xfrm>
            <a:off x="1837551" y="624110"/>
            <a:ext cx="8911687" cy="1280890"/>
          </a:xfrm>
        </p:spPr>
        <p:txBody>
          <a:bodyPr/>
          <a:lstStyle/>
          <a:p>
            <a:r>
              <a:rPr lang="en-DE" b="1" dirty="0"/>
              <a:t>Methodology</a:t>
            </a:r>
          </a:p>
        </p:txBody>
      </p:sp>
      <p:sp>
        <p:nvSpPr>
          <p:cNvPr id="3" name="Content Placeholder 2">
            <a:extLst>
              <a:ext uri="{FF2B5EF4-FFF2-40B4-BE49-F238E27FC236}">
                <a16:creationId xmlns:a16="http://schemas.microsoft.com/office/drawing/2014/main" id="{E8D77698-A947-8A97-9238-11B74B47454C}"/>
              </a:ext>
            </a:extLst>
          </p:cNvPr>
          <p:cNvSpPr>
            <a:spLocks noGrp="1"/>
          </p:cNvSpPr>
          <p:nvPr>
            <p:ph idx="1"/>
          </p:nvPr>
        </p:nvSpPr>
        <p:spPr>
          <a:xfrm>
            <a:off x="1433160" y="1055833"/>
            <a:ext cx="9720468" cy="5710429"/>
          </a:xfrm>
        </p:spPr>
        <p:txBody>
          <a:bodyPr>
            <a:normAutofit fontScale="77500" lnSpcReduction="20000"/>
          </a:bodyPr>
          <a:lstStyle/>
          <a:p>
            <a:pPr marL="0" indent="0">
              <a:buNone/>
            </a:pPr>
            <a:endParaRPr lang="en-GB" sz="1900" b="1" dirty="0"/>
          </a:p>
          <a:p>
            <a:r>
              <a:rPr lang="en-GB" sz="1900" b="1" dirty="0"/>
              <a:t>Input Data Collection and Preprocessing</a:t>
            </a:r>
            <a:r>
              <a:rPr lang="en-GB" sz="1900" dirty="0"/>
              <a:t>:</a:t>
            </a:r>
          </a:p>
          <a:p>
            <a:pPr>
              <a:buFont typeface="Arial" panose="020B0604020202020204" pitchFamily="34" charset="0"/>
              <a:buChar char="•"/>
            </a:pPr>
            <a:r>
              <a:rPr lang="en-GB" sz="1900" b="1" dirty="0"/>
              <a:t>Data Sources</a:t>
            </a:r>
            <a:r>
              <a:rPr lang="en-GB" sz="1900" dirty="0"/>
              <a:t>:</a:t>
            </a:r>
          </a:p>
          <a:p>
            <a:pPr marL="0" indent="0">
              <a:buNone/>
            </a:pPr>
            <a:r>
              <a:rPr lang="en-GB" sz="1900" dirty="0"/>
              <a:t> Social media platform datasets will be used, integrating fake news datasets (e.g., </a:t>
            </a:r>
            <a:r>
              <a:rPr lang="en-GB" sz="1900" dirty="0" err="1"/>
              <a:t>DeFaktS</a:t>
            </a:r>
            <a:r>
              <a:rPr lang="en-GB" sz="1900" dirty="0"/>
              <a:t>) and harmful content datasets (e.g., toxicity, hate speech, threats).</a:t>
            </a:r>
          </a:p>
          <a:p>
            <a:pPr>
              <a:buFont typeface="Arial" panose="020B0604020202020204" pitchFamily="34" charset="0"/>
              <a:buChar char="•"/>
            </a:pPr>
            <a:r>
              <a:rPr lang="en-GB" sz="1900" b="1" dirty="0"/>
              <a:t>Preprocessing</a:t>
            </a:r>
            <a:r>
              <a:rPr lang="en-GB" sz="1900" dirty="0"/>
              <a:t>:</a:t>
            </a:r>
          </a:p>
          <a:p>
            <a:pPr marL="742950" lvl="1" indent="-285750">
              <a:buFont typeface="Arial" panose="020B0604020202020204" pitchFamily="34" charset="0"/>
              <a:buChar char="•"/>
            </a:pPr>
            <a:r>
              <a:rPr lang="en-GB" sz="1900" dirty="0"/>
              <a:t>Tokenization and cleaning of text to remove noise (e.g., special characters, URLs, and stop words).</a:t>
            </a:r>
          </a:p>
          <a:p>
            <a:pPr marL="742950" lvl="1" indent="-285750">
              <a:buFont typeface="Arial" panose="020B0604020202020204" pitchFamily="34" charset="0"/>
              <a:buChar char="•"/>
            </a:pPr>
            <a:r>
              <a:rPr lang="en-GB" sz="1900" dirty="0"/>
              <a:t>Annotate data for binary outputs: Fake News (1 or 0) and Threats (1 or 0).</a:t>
            </a:r>
          </a:p>
          <a:p>
            <a:pPr marL="742950" lvl="1" indent="-285750">
              <a:buFont typeface="Arial" panose="020B0604020202020204" pitchFamily="34" charset="0"/>
              <a:buChar char="•"/>
            </a:pPr>
            <a:r>
              <a:rPr lang="en-GB" sz="1900" dirty="0"/>
              <a:t>Extract linguistic and semantic features, focusing on key indicators like semantic inconsistency, polarization, and vagueness.</a:t>
            </a:r>
            <a:endParaRPr lang="en-GB" sz="1900" b="1" dirty="0"/>
          </a:p>
          <a:p>
            <a:r>
              <a:rPr lang="en-GB" sz="1900" b="1" dirty="0"/>
              <a:t>Model Training Approaches</a:t>
            </a:r>
            <a:r>
              <a:rPr lang="en-GB" sz="1900" dirty="0"/>
              <a:t>:</a:t>
            </a:r>
          </a:p>
          <a:p>
            <a:pPr>
              <a:buFont typeface="Arial" panose="020B0604020202020204" pitchFamily="34" charset="0"/>
              <a:buChar char="•"/>
            </a:pPr>
            <a:r>
              <a:rPr lang="en-GB" sz="1900" b="1" dirty="0"/>
              <a:t>Separate Models</a:t>
            </a:r>
            <a:r>
              <a:rPr lang="en-GB" sz="1900" dirty="0"/>
              <a:t>: </a:t>
            </a:r>
          </a:p>
          <a:p>
            <a:pPr>
              <a:buFont typeface="Arial" panose="020B0604020202020204" pitchFamily="34" charset="0"/>
              <a:buChar char="•"/>
            </a:pPr>
            <a:r>
              <a:rPr lang="en-GB" sz="1900" dirty="0"/>
              <a:t>Train individual BERT models for fake news and threats detection, fine-tuning them on specific datasets.</a:t>
            </a:r>
          </a:p>
          <a:p>
            <a:pPr>
              <a:buFont typeface="Arial" panose="020B0604020202020204" pitchFamily="34" charset="0"/>
              <a:buChar char="•"/>
            </a:pPr>
            <a:r>
              <a:rPr lang="en-GB" sz="1900" b="1" dirty="0"/>
              <a:t>Unified Multi-task Model</a:t>
            </a:r>
            <a:r>
              <a:rPr lang="en-GB" sz="1900" dirty="0"/>
              <a:t>: </a:t>
            </a:r>
          </a:p>
          <a:p>
            <a:pPr>
              <a:buFont typeface="Arial" panose="020B0604020202020204" pitchFamily="34" charset="0"/>
              <a:buChar char="•"/>
            </a:pPr>
            <a:r>
              <a:rPr lang="en-GB" sz="1900" dirty="0"/>
              <a:t>Use shared encoder layers in a multitask BERT model, focusing on task-specific outputs for fake news and threats.</a:t>
            </a:r>
          </a:p>
          <a:p>
            <a:pPr>
              <a:buFont typeface="Arial" panose="020B0604020202020204" pitchFamily="34" charset="0"/>
              <a:buChar char="•"/>
            </a:pPr>
            <a:r>
              <a:rPr lang="en-GB" sz="1900" b="1" dirty="0"/>
              <a:t>Comparison Metrics</a:t>
            </a:r>
            <a:r>
              <a:rPr lang="en-GB" sz="1900" dirty="0"/>
              <a:t>: </a:t>
            </a:r>
          </a:p>
          <a:p>
            <a:pPr>
              <a:buFont typeface="Arial" panose="020B0604020202020204" pitchFamily="34" charset="0"/>
              <a:buChar char="•"/>
            </a:pPr>
            <a:r>
              <a:rPr lang="en-GB" sz="1900" dirty="0"/>
              <a:t>Evaluate models using accuracy, F1-score, precision, and recall.</a:t>
            </a:r>
          </a:p>
          <a:p>
            <a:pPr algn="r"/>
            <a:endParaRPr lang="en-GB" dirty="0"/>
          </a:p>
          <a:p>
            <a:pPr marL="0" indent="0" algn="r">
              <a:buNone/>
            </a:pPr>
            <a:endParaRPr lang="en-DE" dirty="0"/>
          </a:p>
        </p:txBody>
      </p:sp>
    </p:spTree>
    <p:extLst>
      <p:ext uri="{BB962C8B-B14F-4D97-AF65-F5344CB8AC3E}">
        <p14:creationId xmlns:p14="http://schemas.microsoft.com/office/powerpoint/2010/main" val="42246332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54BF299-037D-7A80-D5E4-796948064B5D}"/>
              </a:ext>
            </a:extLst>
          </p:cNvPr>
          <p:cNvSpPr>
            <a:spLocks noGrp="1"/>
          </p:cNvSpPr>
          <p:nvPr>
            <p:ph idx="1"/>
          </p:nvPr>
        </p:nvSpPr>
        <p:spPr>
          <a:xfrm>
            <a:off x="1759226" y="685800"/>
            <a:ext cx="9645995" cy="5285057"/>
          </a:xfrm>
        </p:spPr>
        <p:txBody>
          <a:bodyPr>
            <a:normAutofit/>
          </a:bodyPr>
          <a:lstStyle/>
          <a:p>
            <a:r>
              <a:rPr lang="en-GB" sz="1600" b="1" dirty="0"/>
              <a:t>Transformer Architecture Exploration</a:t>
            </a:r>
            <a:r>
              <a:rPr lang="en-GB" sz="1600" dirty="0"/>
              <a:t>:</a:t>
            </a:r>
          </a:p>
          <a:p>
            <a:pPr>
              <a:buFont typeface="Arial" panose="020B0604020202020204" pitchFamily="34" charset="0"/>
              <a:buChar char="•"/>
            </a:pPr>
            <a:r>
              <a:rPr lang="en-GB" sz="1600" dirty="0"/>
              <a:t>Experiment with encoder-based (BERT), decoder-based (GPT), and hybrid models to compare performance.</a:t>
            </a:r>
          </a:p>
          <a:p>
            <a:r>
              <a:rPr lang="en-GB" sz="1600" b="1" dirty="0"/>
              <a:t>Output Generation</a:t>
            </a:r>
            <a:r>
              <a:rPr lang="en-GB" sz="1600" dirty="0"/>
              <a:t>:</a:t>
            </a:r>
          </a:p>
          <a:p>
            <a:pPr>
              <a:buFont typeface="Arial" panose="020B0604020202020204" pitchFamily="34" charset="0"/>
              <a:buChar char="•"/>
            </a:pPr>
            <a:r>
              <a:rPr lang="en-GB" sz="1600" dirty="0"/>
              <a:t>Binary outputs for each task:</a:t>
            </a:r>
          </a:p>
          <a:p>
            <a:pPr marL="742950" lvl="1" indent="-285750">
              <a:buFont typeface="Arial" panose="020B0604020202020204" pitchFamily="34" charset="0"/>
              <a:buChar char="•"/>
            </a:pPr>
            <a:r>
              <a:rPr lang="en-GB" dirty="0"/>
              <a:t>Fake News Detection: Fake (1) or Not Fake (0).</a:t>
            </a:r>
          </a:p>
          <a:p>
            <a:pPr marL="742950" lvl="1" indent="-285750">
              <a:buFont typeface="Arial" panose="020B0604020202020204" pitchFamily="34" charset="0"/>
              <a:buChar char="•"/>
            </a:pPr>
            <a:r>
              <a:rPr lang="en-GB" dirty="0"/>
              <a:t>Threat Detection: Threat (1) or No Threat (0).</a:t>
            </a:r>
          </a:p>
          <a:p>
            <a:r>
              <a:rPr lang="en-GB" sz="1600" b="1" dirty="0"/>
              <a:t>Evaluation of Combined Detection Impact</a:t>
            </a:r>
            <a:r>
              <a:rPr lang="en-GB" sz="1600" dirty="0"/>
              <a:t>:</a:t>
            </a:r>
          </a:p>
          <a:p>
            <a:pPr>
              <a:buFont typeface="Arial" panose="020B0604020202020204" pitchFamily="34" charset="0"/>
              <a:buChar char="•"/>
            </a:pPr>
            <a:r>
              <a:rPr lang="en-GB" sz="1600" dirty="0"/>
              <a:t>Measure improvements in performance when fake news and threats are detected simultaneously.</a:t>
            </a:r>
          </a:p>
          <a:p>
            <a:pPr>
              <a:buFont typeface="Arial" panose="020B0604020202020204" pitchFamily="34" charset="0"/>
              <a:buChar char="•"/>
            </a:pPr>
            <a:r>
              <a:rPr lang="en-GB" sz="1600" dirty="0"/>
              <a:t>Compare accuracy and efficiency between separate and unified models.</a:t>
            </a:r>
          </a:p>
          <a:p>
            <a:r>
              <a:rPr lang="en-GB" sz="1600" b="1" dirty="0"/>
              <a:t>Societal Analysis</a:t>
            </a:r>
            <a:r>
              <a:rPr lang="en-GB" sz="1600" dirty="0"/>
              <a:t>:</a:t>
            </a:r>
          </a:p>
          <a:p>
            <a:pPr>
              <a:buFont typeface="Arial" panose="020B0604020202020204" pitchFamily="34" charset="0"/>
              <a:buChar char="•"/>
            </a:pPr>
            <a:r>
              <a:rPr lang="en-GB" sz="1600" dirty="0"/>
              <a:t>Study how these methods improve social media safety and user interactions</a:t>
            </a:r>
          </a:p>
          <a:p>
            <a:endParaRPr lang="en-DE" dirty="0"/>
          </a:p>
        </p:txBody>
      </p:sp>
    </p:spTree>
    <p:extLst>
      <p:ext uri="{BB962C8B-B14F-4D97-AF65-F5344CB8AC3E}">
        <p14:creationId xmlns:p14="http://schemas.microsoft.com/office/powerpoint/2010/main" val="6042633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2B258D2B-6AC3-4B3A-A87C-FD7E651782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20" y="-1"/>
            <a:ext cx="1220724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8" name="Freeform 5">
            <a:extLst>
              <a:ext uri="{FF2B5EF4-FFF2-40B4-BE49-F238E27FC236}">
                <a16:creationId xmlns:a16="http://schemas.microsoft.com/office/drawing/2014/main" id="{8D55DD8B-9BF9-4B91-A22D-2D3F2AEFF1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1" y="659027"/>
            <a:ext cx="9042690" cy="1035152"/>
          </a:xfrm>
          <a:custGeom>
            <a:avLst/>
            <a:gdLst>
              <a:gd name="T0" fmla="*/ 1900 w 1902"/>
              <a:gd name="T1" fmla="*/ 77 h 163"/>
              <a:gd name="T2" fmla="*/ 1826 w 1902"/>
              <a:gd name="T3" fmla="*/ 3 h 163"/>
              <a:gd name="T4" fmla="*/ 1825 w 1902"/>
              <a:gd name="T5" fmla="*/ 2 h 163"/>
              <a:gd name="T6" fmla="*/ 1819 w 1902"/>
              <a:gd name="T7" fmla="*/ 0 h 163"/>
              <a:gd name="T8" fmla="*/ 1363 w 1902"/>
              <a:gd name="T9" fmla="*/ 0 h 163"/>
              <a:gd name="T10" fmla="*/ 1348 w 1902"/>
              <a:gd name="T11" fmla="*/ 0 h 163"/>
              <a:gd name="T12" fmla="*/ 1225 w 1902"/>
              <a:gd name="T13" fmla="*/ 0 h 163"/>
              <a:gd name="T14" fmla="*/ 1033 w 1902"/>
              <a:gd name="T15" fmla="*/ 0 h 163"/>
              <a:gd name="T16" fmla="*/ 892 w 1902"/>
              <a:gd name="T17" fmla="*/ 0 h 163"/>
              <a:gd name="T18" fmla="*/ 786 w 1902"/>
              <a:gd name="T19" fmla="*/ 0 h 163"/>
              <a:gd name="T20" fmla="*/ 577 w 1902"/>
              <a:gd name="T21" fmla="*/ 0 h 163"/>
              <a:gd name="T22" fmla="*/ 562 w 1902"/>
              <a:gd name="T23" fmla="*/ 0 h 163"/>
              <a:gd name="T24" fmla="*/ 439 w 1902"/>
              <a:gd name="T25" fmla="*/ 0 h 163"/>
              <a:gd name="T26" fmla="*/ 106 w 1902"/>
              <a:gd name="T27" fmla="*/ 0 h 163"/>
              <a:gd name="T28" fmla="*/ 0 w 1902"/>
              <a:gd name="T29" fmla="*/ 0 h 163"/>
              <a:gd name="T30" fmla="*/ 0 w 1902"/>
              <a:gd name="T31" fmla="*/ 163 h 163"/>
              <a:gd name="T32" fmla="*/ 106 w 1902"/>
              <a:gd name="T33" fmla="*/ 163 h 163"/>
              <a:gd name="T34" fmla="*/ 439 w 1902"/>
              <a:gd name="T35" fmla="*/ 163 h 163"/>
              <a:gd name="T36" fmla="*/ 562 w 1902"/>
              <a:gd name="T37" fmla="*/ 163 h 163"/>
              <a:gd name="T38" fmla="*/ 577 w 1902"/>
              <a:gd name="T39" fmla="*/ 163 h 163"/>
              <a:gd name="T40" fmla="*/ 786 w 1902"/>
              <a:gd name="T41" fmla="*/ 163 h 163"/>
              <a:gd name="T42" fmla="*/ 892 w 1902"/>
              <a:gd name="T43" fmla="*/ 163 h 163"/>
              <a:gd name="T44" fmla="*/ 1033 w 1902"/>
              <a:gd name="T45" fmla="*/ 163 h 163"/>
              <a:gd name="T46" fmla="*/ 1225 w 1902"/>
              <a:gd name="T47" fmla="*/ 163 h 163"/>
              <a:gd name="T48" fmla="*/ 1348 w 1902"/>
              <a:gd name="T49" fmla="*/ 163 h 163"/>
              <a:gd name="T50" fmla="*/ 1363 w 1902"/>
              <a:gd name="T51" fmla="*/ 163 h 163"/>
              <a:gd name="T52" fmla="*/ 1819 w 1902"/>
              <a:gd name="T53" fmla="*/ 163 h 163"/>
              <a:gd name="T54" fmla="*/ 1825 w 1902"/>
              <a:gd name="T55" fmla="*/ 161 h 163"/>
              <a:gd name="T56" fmla="*/ 1826 w 1902"/>
              <a:gd name="T57" fmla="*/ 160 h 163"/>
              <a:gd name="T58" fmla="*/ 1900 w 1902"/>
              <a:gd name="T59" fmla="*/ 86 h 163"/>
              <a:gd name="T60" fmla="*/ 1900 w 1902"/>
              <a:gd name="T61" fmla="*/ 77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902" h="163">
                <a:moveTo>
                  <a:pt x="1900" y="77"/>
                </a:moveTo>
                <a:cubicBezTo>
                  <a:pt x="1826" y="3"/>
                  <a:pt x="1826" y="3"/>
                  <a:pt x="1826" y="3"/>
                </a:cubicBezTo>
                <a:cubicBezTo>
                  <a:pt x="1825" y="2"/>
                  <a:pt x="1825" y="2"/>
                  <a:pt x="1825" y="2"/>
                </a:cubicBezTo>
                <a:cubicBezTo>
                  <a:pt x="1823" y="1"/>
                  <a:pt x="1821" y="0"/>
                  <a:pt x="1819" y="0"/>
                </a:cubicBezTo>
                <a:cubicBezTo>
                  <a:pt x="1363" y="0"/>
                  <a:pt x="1363" y="0"/>
                  <a:pt x="1363" y="0"/>
                </a:cubicBezTo>
                <a:cubicBezTo>
                  <a:pt x="1348" y="0"/>
                  <a:pt x="1348" y="0"/>
                  <a:pt x="1348" y="0"/>
                </a:cubicBezTo>
                <a:cubicBezTo>
                  <a:pt x="1225" y="0"/>
                  <a:pt x="1225" y="0"/>
                  <a:pt x="1225" y="0"/>
                </a:cubicBezTo>
                <a:cubicBezTo>
                  <a:pt x="1033" y="0"/>
                  <a:pt x="1033" y="0"/>
                  <a:pt x="1033" y="0"/>
                </a:cubicBezTo>
                <a:cubicBezTo>
                  <a:pt x="892" y="0"/>
                  <a:pt x="892" y="0"/>
                  <a:pt x="892" y="0"/>
                </a:cubicBezTo>
                <a:cubicBezTo>
                  <a:pt x="786" y="0"/>
                  <a:pt x="786" y="0"/>
                  <a:pt x="786" y="0"/>
                </a:cubicBezTo>
                <a:cubicBezTo>
                  <a:pt x="577" y="0"/>
                  <a:pt x="577" y="0"/>
                  <a:pt x="577" y="0"/>
                </a:cubicBezTo>
                <a:cubicBezTo>
                  <a:pt x="562" y="0"/>
                  <a:pt x="562" y="0"/>
                  <a:pt x="562" y="0"/>
                </a:cubicBezTo>
                <a:cubicBezTo>
                  <a:pt x="439" y="0"/>
                  <a:pt x="439" y="0"/>
                  <a:pt x="439" y="0"/>
                </a:cubicBezTo>
                <a:cubicBezTo>
                  <a:pt x="106" y="0"/>
                  <a:pt x="106" y="0"/>
                  <a:pt x="106" y="0"/>
                </a:cubicBezTo>
                <a:cubicBezTo>
                  <a:pt x="0" y="0"/>
                  <a:pt x="0" y="0"/>
                  <a:pt x="0" y="0"/>
                </a:cubicBezTo>
                <a:cubicBezTo>
                  <a:pt x="0" y="163"/>
                  <a:pt x="0" y="163"/>
                  <a:pt x="0" y="163"/>
                </a:cubicBezTo>
                <a:cubicBezTo>
                  <a:pt x="106" y="163"/>
                  <a:pt x="106" y="163"/>
                  <a:pt x="106" y="163"/>
                </a:cubicBezTo>
                <a:cubicBezTo>
                  <a:pt x="439" y="163"/>
                  <a:pt x="439" y="163"/>
                  <a:pt x="439" y="163"/>
                </a:cubicBezTo>
                <a:cubicBezTo>
                  <a:pt x="562" y="163"/>
                  <a:pt x="562" y="163"/>
                  <a:pt x="562" y="163"/>
                </a:cubicBezTo>
                <a:cubicBezTo>
                  <a:pt x="577" y="163"/>
                  <a:pt x="577" y="163"/>
                  <a:pt x="577" y="163"/>
                </a:cubicBezTo>
                <a:cubicBezTo>
                  <a:pt x="786" y="163"/>
                  <a:pt x="786" y="163"/>
                  <a:pt x="786" y="163"/>
                </a:cubicBezTo>
                <a:cubicBezTo>
                  <a:pt x="892" y="163"/>
                  <a:pt x="892" y="163"/>
                  <a:pt x="892" y="163"/>
                </a:cubicBezTo>
                <a:cubicBezTo>
                  <a:pt x="1033" y="163"/>
                  <a:pt x="1033" y="163"/>
                  <a:pt x="1033" y="163"/>
                </a:cubicBezTo>
                <a:cubicBezTo>
                  <a:pt x="1225" y="163"/>
                  <a:pt x="1225" y="163"/>
                  <a:pt x="1225" y="163"/>
                </a:cubicBezTo>
                <a:cubicBezTo>
                  <a:pt x="1348" y="163"/>
                  <a:pt x="1348" y="163"/>
                  <a:pt x="1348" y="163"/>
                </a:cubicBezTo>
                <a:cubicBezTo>
                  <a:pt x="1363" y="163"/>
                  <a:pt x="1363" y="163"/>
                  <a:pt x="1363" y="163"/>
                </a:cubicBezTo>
                <a:cubicBezTo>
                  <a:pt x="1819" y="163"/>
                  <a:pt x="1819" y="163"/>
                  <a:pt x="1819" y="163"/>
                </a:cubicBezTo>
                <a:cubicBezTo>
                  <a:pt x="1821" y="163"/>
                  <a:pt x="1823" y="162"/>
                  <a:pt x="1825" y="161"/>
                </a:cubicBezTo>
                <a:cubicBezTo>
                  <a:pt x="1825" y="160"/>
                  <a:pt x="1825" y="160"/>
                  <a:pt x="1826" y="160"/>
                </a:cubicBezTo>
                <a:cubicBezTo>
                  <a:pt x="1900" y="86"/>
                  <a:pt x="1900" y="86"/>
                  <a:pt x="1900" y="86"/>
                </a:cubicBezTo>
                <a:cubicBezTo>
                  <a:pt x="1902" y="83"/>
                  <a:pt x="1902" y="79"/>
                  <a:pt x="1900" y="77"/>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Title 1">
            <a:extLst>
              <a:ext uri="{FF2B5EF4-FFF2-40B4-BE49-F238E27FC236}">
                <a16:creationId xmlns:a16="http://schemas.microsoft.com/office/drawing/2014/main" id="{A682D407-68AB-ECA9-83B2-4DA852D9F3CD}"/>
              </a:ext>
            </a:extLst>
          </p:cNvPr>
          <p:cNvSpPr>
            <a:spLocks noGrp="1"/>
          </p:cNvSpPr>
          <p:nvPr>
            <p:ph type="title"/>
          </p:nvPr>
        </p:nvSpPr>
        <p:spPr>
          <a:xfrm>
            <a:off x="541867" y="787400"/>
            <a:ext cx="7145866" cy="778933"/>
          </a:xfrm>
        </p:spPr>
        <p:txBody>
          <a:bodyPr anchor="ctr">
            <a:normAutofit/>
          </a:bodyPr>
          <a:lstStyle/>
          <a:p>
            <a:pPr>
              <a:lnSpc>
                <a:spcPct val="90000"/>
              </a:lnSpc>
            </a:pPr>
            <a:r>
              <a:rPr lang="en-GB" sz="2500" b="1" dirty="0">
                <a:solidFill>
                  <a:srgbClr val="FEFFFF"/>
                </a:solidFill>
              </a:rPr>
              <a:t>Model Framework</a:t>
            </a:r>
            <a:br>
              <a:rPr lang="en-GB" sz="2500" b="1" dirty="0">
                <a:solidFill>
                  <a:srgbClr val="FEFFFF"/>
                </a:solidFill>
              </a:rPr>
            </a:br>
            <a:endParaRPr lang="en-DE" sz="2500" dirty="0">
              <a:solidFill>
                <a:srgbClr val="FEFFFF"/>
              </a:solidFill>
            </a:endParaRPr>
          </a:p>
        </p:txBody>
      </p:sp>
      <p:pic>
        <p:nvPicPr>
          <p:cNvPr id="5" name="Content Placeholder 4">
            <a:extLst>
              <a:ext uri="{FF2B5EF4-FFF2-40B4-BE49-F238E27FC236}">
                <a16:creationId xmlns:a16="http://schemas.microsoft.com/office/drawing/2014/main" id="{F28A702C-0358-2BB9-05F3-930396E4687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694178"/>
            <a:ext cx="12191999" cy="5054491"/>
          </a:xfrm>
        </p:spPr>
      </p:pic>
    </p:spTree>
    <p:extLst>
      <p:ext uri="{BB962C8B-B14F-4D97-AF65-F5344CB8AC3E}">
        <p14:creationId xmlns:p14="http://schemas.microsoft.com/office/powerpoint/2010/main" val="10975409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2CF711-5BE7-7367-4331-70B9E6C7E93E}"/>
              </a:ext>
            </a:extLst>
          </p:cNvPr>
          <p:cNvSpPr>
            <a:spLocks noGrp="1"/>
          </p:cNvSpPr>
          <p:nvPr>
            <p:ph type="title"/>
          </p:nvPr>
        </p:nvSpPr>
        <p:spPr>
          <a:xfrm>
            <a:off x="2400367" y="683745"/>
            <a:ext cx="8911687" cy="1280890"/>
          </a:xfrm>
        </p:spPr>
        <p:txBody>
          <a:bodyPr/>
          <a:lstStyle/>
          <a:p>
            <a:r>
              <a:rPr lang="en-GB" b="1" dirty="0"/>
              <a:t>Conclusion</a:t>
            </a:r>
            <a:br>
              <a:rPr lang="en-GB" b="1" dirty="0"/>
            </a:br>
            <a:endParaRPr lang="en-DE" dirty="0"/>
          </a:p>
        </p:txBody>
      </p:sp>
      <p:sp>
        <p:nvSpPr>
          <p:cNvPr id="3" name="Content Placeholder 2">
            <a:extLst>
              <a:ext uri="{FF2B5EF4-FFF2-40B4-BE49-F238E27FC236}">
                <a16:creationId xmlns:a16="http://schemas.microsoft.com/office/drawing/2014/main" id="{D1031B91-7C5C-448E-D610-D948A1A21D4E}"/>
              </a:ext>
            </a:extLst>
          </p:cNvPr>
          <p:cNvSpPr>
            <a:spLocks noGrp="1"/>
          </p:cNvSpPr>
          <p:nvPr>
            <p:ph idx="1"/>
          </p:nvPr>
        </p:nvSpPr>
        <p:spPr>
          <a:xfrm>
            <a:off x="2201584" y="1676400"/>
            <a:ext cx="8915400" cy="3777622"/>
          </a:xfrm>
        </p:spPr>
        <p:txBody>
          <a:bodyPr/>
          <a:lstStyle/>
          <a:p>
            <a:pPr>
              <a:buFont typeface="Arial" panose="020B0604020202020204" pitchFamily="34" charset="0"/>
              <a:buChar char="•"/>
            </a:pPr>
            <a:r>
              <a:rPr lang="en-GB" sz="1600" dirty="0"/>
              <a:t>Unified models may outperform separate models for combined detection tasks.</a:t>
            </a:r>
          </a:p>
          <a:p>
            <a:pPr>
              <a:buFont typeface="Arial" panose="020B0604020202020204" pitchFamily="34" charset="0"/>
              <a:buChar char="•"/>
            </a:pPr>
            <a:r>
              <a:rPr lang="en-GB" sz="1600" dirty="0"/>
              <a:t>Trends in transformer architectures provide new opportunities for tackling misinformation and threats.</a:t>
            </a:r>
          </a:p>
          <a:p>
            <a:pPr>
              <a:buFont typeface="Arial" panose="020B0604020202020204" pitchFamily="34" charset="0"/>
              <a:buChar char="•"/>
            </a:pPr>
            <a:r>
              <a:rPr lang="en-GB" sz="1600" dirty="0"/>
              <a:t>Improved detection fosters safer digital spaces and informed public engagement.</a:t>
            </a:r>
          </a:p>
          <a:p>
            <a:endParaRPr lang="en-DE" dirty="0"/>
          </a:p>
        </p:txBody>
      </p:sp>
    </p:spTree>
    <p:extLst>
      <p:ext uri="{BB962C8B-B14F-4D97-AF65-F5344CB8AC3E}">
        <p14:creationId xmlns:p14="http://schemas.microsoft.com/office/powerpoint/2010/main" val="6203525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F5AE-C32E-DB01-40E0-1BA12A648A03}"/>
              </a:ext>
            </a:extLst>
          </p:cNvPr>
          <p:cNvSpPr>
            <a:spLocks noGrp="1"/>
          </p:cNvSpPr>
          <p:nvPr>
            <p:ph type="title"/>
          </p:nvPr>
        </p:nvSpPr>
        <p:spPr/>
        <p:txBody>
          <a:bodyPr/>
          <a:lstStyle/>
          <a:p>
            <a:r>
              <a:rPr lang="en-GB" b="1" dirty="0"/>
              <a:t>References</a:t>
            </a:r>
            <a:br>
              <a:rPr lang="en-GB" b="1" dirty="0"/>
            </a:br>
            <a:endParaRPr lang="en-DE" dirty="0"/>
          </a:p>
        </p:txBody>
      </p:sp>
      <p:sp>
        <p:nvSpPr>
          <p:cNvPr id="3" name="Content Placeholder 2">
            <a:extLst>
              <a:ext uri="{FF2B5EF4-FFF2-40B4-BE49-F238E27FC236}">
                <a16:creationId xmlns:a16="http://schemas.microsoft.com/office/drawing/2014/main" id="{F2C413DF-C50F-81B2-C90B-A599C8C4DD82}"/>
              </a:ext>
            </a:extLst>
          </p:cNvPr>
          <p:cNvSpPr>
            <a:spLocks noGrp="1"/>
          </p:cNvSpPr>
          <p:nvPr>
            <p:ph idx="1"/>
          </p:nvPr>
        </p:nvSpPr>
        <p:spPr>
          <a:xfrm>
            <a:off x="2430186" y="1351723"/>
            <a:ext cx="8915400" cy="3180522"/>
          </a:xfrm>
        </p:spPr>
        <p:txBody>
          <a:bodyPr/>
          <a:lstStyle/>
          <a:p>
            <a:pPr>
              <a:buFont typeface="+mj-lt"/>
              <a:buAutoNum type="arabicPeriod"/>
            </a:pPr>
            <a:r>
              <a:rPr lang="en-GB" sz="1600" dirty="0" err="1"/>
              <a:t>Baly</a:t>
            </a:r>
            <a:r>
              <a:rPr lang="en-GB" sz="1600" dirty="0"/>
              <a:t>, R., Horne, B. D., &amp; </a:t>
            </a:r>
            <a:r>
              <a:rPr lang="en-GB" sz="1600" dirty="0" err="1"/>
              <a:t>Adali</a:t>
            </a:r>
            <a:r>
              <a:rPr lang="en-GB" sz="1600" dirty="0"/>
              <a:t>, S. (2023). </a:t>
            </a:r>
            <a:r>
              <a:rPr lang="en-GB" sz="1600" dirty="0" err="1"/>
              <a:t>DeFaktS</a:t>
            </a:r>
            <a:r>
              <a:rPr lang="en-GB" sz="1600" dirty="0"/>
              <a:t>: A German Dataset for Fine-Grained Disinformation Detection through Social Media Framing. </a:t>
            </a:r>
            <a:r>
              <a:rPr lang="en-GB" sz="1600" dirty="0">
                <a:hlinkClick r:id="rId2"/>
              </a:rPr>
              <a:t>Link</a:t>
            </a:r>
            <a:endParaRPr lang="en-GB" sz="1600" dirty="0"/>
          </a:p>
          <a:p>
            <a:pPr>
              <a:buFont typeface="+mj-lt"/>
              <a:buAutoNum type="arabicPeriod"/>
            </a:pPr>
            <a:r>
              <a:rPr lang="en-GB" sz="1600" dirty="0"/>
              <a:t>Gupta, S., &amp; Chauhan, V. (2022). Hate Speech, Toxicity Detection in Online Social Media: A Recent Survey of State of the Art and Opportunities. </a:t>
            </a:r>
            <a:r>
              <a:rPr lang="en-GB" sz="1600" dirty="0">
                <a:hlinkClick r:id="rId3"/>
              </a:rPr>
              <a:t>Link</a:t>
            </a:r>
            <a:endParaRPr lang="en-GB" sz="1600" dirty="0"/>
          </a:p>
          <a:p>
            <a:pPr>
              <a:buFont typeface="+mj-lt"/>
              <a:buAutoNum type="arabicPeriod"/>
            </a:pPr>
            <a:r>
              <a:rPr lang="en-GB" sz="1600" dirty="0"/>
              <a:t>Singh, R., &amp; Sharma, K. (2023). Threat Modelling and Detection Using Semantic Network for Improving Social Media Safety. </a:t>
            </a:r>
            <a:r>
              <a:rPr lang="en-GB" sz="1600" dirty="0">
                <a:hlinkClick r:id="rId4"/>
              </a:rPr>
              <a:t>Link</a:t>
            </a:r>
            <a:endParaRPr lang="en-GB" sz="1600" dirty="0"/>
          </a:p>
          <a:p>
            <a:pPr>
              <a:buFont typeface="+mj-lt"/>
              <a:buAutoNum type="arabicPeriod"/>
            </a:pPr>
            <a:r>
              <a:rPr lang="en-GB" sz="1600" dirty="0" err="1"/>
              <a:t>Sazany</a:t>
            </a:r>
            <a:r>
              <a:rPr lang="en-GB" sz="1600" dirty="0"/>
              <a:t>, E. (2018). Deep learning-based implementation of hate speech identification on texts in Indonesian. </a:t>
            </a:r>
            <a:r>
              <a:rPr lang="en-GB" sz="1600" dirty="0">
                <a:hlinkClick r:id="rId5"/>
              </a:rPr>
              <a:t>Link</a:t>
            </a:r>
            <a:endParaRPr lang="en-GB" sz="1600" dirty="0"/>
          </a:p>
          <a:p>
            <a:endParaRPr lang="en-DE" dirty="0"/>
          </a:p>
        </p:txBody>
      </p:sp>
    </p:spTree>
    <p:extLst>
      <p:ext uri="{BB962C8B-B14F-4D97-AF65-F5344CB8AC3E}">
        <p14:creationId xmlns:p14="http://schemas.microsoft.com/office/powerpoint/2010/main" val="1411228572"/>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109</TotalTime>
  <Words>972</Words>
  <Application>Microsoft Macintosh PowerPoint</Application>
  <PresentationFormat>Widescreen</PresentationFormat>
  <Paragraphs>92</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Century Gothic</vt:lpstr>
      <vt:lpstr>Wingdings</vt:lpstr>
      <vt:lpstr>Wingdings 3</vt:lpstr>
      <vt:lpstr>Wisp</vt:lpstr>
      <vt:lpstr>PowerPoint Presentation</vt:lpstr>
      <vt:lpstr>Introduction </vt:lpstr>
      <vt:lpstr>Problem Statement</vt:lpstr>
      <vt:lpstr>Research Questions </vt:lpstr>
      <vt:lpstr>Literature Review </vt:lpstr>
      <vt:lpstr>Objectives </vt:lpstr>
      <vt:lpstr>Scope of Fake News Detection Metrics </vt:lpstr>
      <vt:lpstr>Scope of Threat Detection Metrics</vt:lpstr>
      <vt:lpstr>Methodology</vt:lpstr>
      <vt:lpstr>PowerPoint Presentation</vt:lpstr>
      <vt:lpstr>Model Framework </vt:lpstr>
      <vt:lpstr>Conclusion </vt:lpstr>
      <vt:lpstr>References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Ahmed, Muhammad</dc:creator>
  <cp:lastModifiedBy>Ahmed, Muhammad</cp:lastModifiedBy>
  <cp:revision>3</cp:revision>
  <dcterms:created xsi:type="dcterms:W3CDTF">2024-12-09T00:19:16Z</dcterms:created>
  <dcterms:modified xsi:type="dcterms:W3CDTF">2024-12-09T02:08:46Z</dcterms:modified>
</cp:coreProperties>
</file>