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1"/>
  </p:notesMasterIdLst>
  <p:handoutMasterIdLst>
    <p:handoutMasterId r:id="rId22"/>
  </p:handoutMasterIdLst>
  <p:sldIdLst>
    <p:sldId id="298" r:id="rId5"/>
    <p:sldId id="288" r:id="rId6"/>
    <p:sldId id="289" r:id="rId7"/>
    <p:sldId id="290" r:id="rId8"/>
    <p:sldId id="291" r:id="rId9"/>
    <p:sldId id="292" r:id="rId10"/>
    <p:sldId id="299" r:id="rId11"/>
    <p:sldId id="294" r:id="rId12"/>
    <p:sldId id="302" r:id="rId13"/>
    <p:sldId id="303" r:id="rId14"/>
    <p:sldId id="295" r:id="rId15"/>
    <p:sldId id="304" r:id="rId16"/>
    <p:sldId id="305" r:id="rId17"/>
    <p:sldId id="296" r:id="rId18"/>
    <p:sldId id="306" r:id="rId19"/>
    <p:sldId id="28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52" autoAdjust="0"/>
  </p:normalViewPr>
  <p:slideViewPr>
    <p:cSldViewPr snapToGrid="0" showGuides="1">
      <p:cViewPr varScale="1">
        <p:scale>
          <a:sx n="87" d="100"/>
          <a:sy n="87" d="100"/>
        </p:scale>
        <p:origin x="246" y="9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12/8/2024</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12/8/2024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960374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13317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88157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933202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24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687232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52702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20021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483007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27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5013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05465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03981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60992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0DA1498-92C7-4E4B-8045-C9195F453964}" type="datetimeFigureOut">
              <a:rPr lang="en-US" smtClean="0"/>
              <a:t>12/8/2024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98613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68283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0DA1498-92C7-4E4B-8045-C9195F453964}" type="datetimeFigureOut">
              <a:rPr lang="en-US" smtClean="0"/>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56569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0DA1498-92C7-4E4B-8045-C9195F453964}" type="datetimeFigureOut">
              <a:rPr lang="en-US" smtClean="0"/>
              <a:t>12/8/2024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339369371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ink.springer.com/article/10.1007/s10207-023-00755-2" TargetMode="External"/><Relationship Id="rId2" Type="http://schemas.openxmlformats.org/officeDocument/2006/relationships/hyperlink" Target="https://aclanthology.org/2024.lrec-main.409/" TargetMode="External"/><Relationship Id="rId1" Type="http://schemas.openxmlformats.org/officeDocument/2006/relationships/slideLayout" Target="../slideLayouts/slideLayout2.xml"/><Relationship Id="rId5" Type="http://schemas.openxmlformats.org/officeDocument/2006/relationships/hyperlink" Target="https://ieeexplore.ieee.org/document/8292838" TargetMode="External"/><Relationship Id="rId4" Type="http://schemas.openxmlformats.org/officeDocument/2006/relationships/hyperlink" Target="https://www.researchgate.net/publication/368283064_Threat_Modelling_and_Detection_Using_Semantic_Network_for_Improving_Social_Media_Safety"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697D5-5B2C-12F1-FC9A-323AA2E6568C}"/>
              </a:ext>
            </a:extLst>
          </p:cNvPr>
          <p:cNvSpPr>
            <a:spLocks noGrp="1"/>
          </p:cNvSpPr>
          <p:nvPr>
            <p:ph type="title"/>
          </p:nvPr>
        </p:nvSpPr>
        <p:spPr/>
        <p:txBody>
          <a:bodyPr>
            <a:normAutofit fontScale="90000"/>
          </a:bodyPr>
          <a:lstStyle/>
          <a:p>
            <a:r>
              <a:rPr lang="en-US" sz="3200" b="1">
                <a:latin typeface="Arial" panose="020B0604020202020204" pitchFamily="34" charset="0"/>
                <a:cs typeface="Arial" panose="020B0604020202020204" pitchFamily="34" charset="0"/>
              </a:rPr>
              <a:t>Enhancing the Safety and Authenticity of Online Discussions on Social Media Platforms with AI</a:t>
            </a:r>
            <a:endParaRPr lang="en-US" dirty="0"/>
          </a:p>
        </p:txBody>
      </p:sp>
      <p:sp>
        <p:nvSpPr>
          <p:cNvPr id="3" name="Content Placeholder 2">
            <a:extLst>
              <a:ext uri="{FF2B5EF4-FFF2-40B4-BE49-F238E27FC236}">
                <a16:creationId xmlns:a16="http://schemas.microsoft.com/office/drawing/2014/main" id="{86778B4A-C8E4-8D9F-DE6A-4E4BCE34EB31}"/>
              </a:ext>
            </a:extLst>
          </p:cNvPr>
          <p:cNvSpPr>
            <a:spLocks noGrp="1"/>
          </p:cNvSpPr>
          <p:nvPr>
            <p:ph idx="1"/>
          </p:nvPr>
        </p:nvSpPr>
        <p:spPr>
          <a:xfrm>
            <a:off x="694063" y="2489812"/>
            <a:ext cx="10631277" cy="3529988"/>
          </a:xfrm>
        </p:spPr>
        <p:txBody>
          <a:bodyPr>
            <a:normAutofit fontScale="47500" lnSpcReduction="20000"/>
          </a:bodyPr>
          <a:lstStyle/>
          <a:p>
            <a:pPr marL="0" indent="0" algn="ctr">
              <a:buNone/>
            </a:pPr>
            <a:r>
              <a:rPr lang="en-US">
                <a:solidFill>
                  <a:schemeClr val="tx1"/>
                </a:solidFill>
              </a:rPr>
              <a:t>           </a:t>
            </a:r>
            <a:r>
              <a:rPr lang="en-US" sz="3300" b="1" u="sng">
                <a:solidFill>
                  <a:schemeClr val="tx1"/>
                </a:solidFill>
                <a:latin typeface="Arial" panose="020B0604020202020204" pitchFamily="34" charset="0"/>
                <a:cs typeface="Arial" panose="020B0604020202020204" pitchFamily="34" charset="0"/>
              </a:rPr>
              <a:t>Group B1: Metrics</a:t>
            </a:r>
          </a:p>
          <a:p>
            <a:pPr marL="0" indent="0" algn="ctr">
              <a:buNone/>
            </a:pPr>
            <a:endParaRPr lang="en-US" b="1">
              <a:solidFill>
                <a:schemeClr val="tx1"/>
              </a:solidFill>
              <a:latin typeface="Arial" panose="020B0604020202020204" pitchFamily="34" charset="0"/>
              <a:cs typeface="Arial" panose="020B0604020202020204" pitchFamily="34" charset="0"/>
            </a:endParaRPr>
          </a:p>
          <a:p>
            <a:pPr marL="0" indent="0">
              <a:buNone/>
            </a:pPr>
            <a:r>
              <a:rPr lang="en-US" sz="3400" b="1">
                <a:solidFill>
                  <a:schemeClr val="tx1"/>
                </a:solidFill>
                <a:latin typeface="Arial" panose="020B0604020202020204" pitchFamily="34" charset="0"/>
                <a:cs typeface="Arial" panose="020B0604020202020204" pitchFamily="34" charset="0"/>
              </a:rPr>
              <a:t>Supervised by:</a:t>
            </a:r>
          </a:p>
          <a:p>
            <a:pPr marL="0" indent="0">
              <a:buNone/>
            </a:pPr>
            <a:r>
              <a:rPr lang="en-US" sz="3400" b="0" i="0">
                <a:solidFill>
                  <a:srgbClr val="212121"/>
                </a:solidFill>
                <a:effectLst/>
                <a:latin typeface="Arial" panose="020B0604020202020204" pitchFamily="34" charset="0"/>
                <a:cs typeface="Arial" panose="020B0604020202020204" pitchFamily="34" charset="0"/>
              </a:rPr>
              <a:t>                                                   </a:t>
            </a:r>
            <a:r>
              <a:rPr lang="en-US" sz="2900" b="0" i="0">
                <a:solidFill>
                  <a:srgbClr val="212121"/>
                </a:solidFill>
                <a:effectLst/>
                <a:latin typeface="Arial" panose="020B0604020202020204" pitchFamily="34" charset="0"/>
                <a:cs typeface="Arial" panose="020B0604020202020204" pitchFamily="34" charset="0"/>
              </a:rPr>
              <a:t>Mr. Kai Kugler</a:t>
            </a:r>
          </a:p>
          <a:p>
            <a:pPr marL="0" indent="0">
              <a:buNone/>
            </a:pPr>
            <a:r>
              <a:rPr lang="en-US" sz="3400" b="1">
                <a:solidFill>
                  <a:schemeClr val="tx1"/>
                </a:solidFill>
                <a:latin typeface="Arial" panose="020B0604020202020204" pitchFamily="34" charset="0"/>
                <a:cs typeface="Arial" panose="020B0604020202020204" pitchFamily="34" charset="0"/>
              </a:rPr>
              <a:t>Team Members: </a:t>
            </a:r>
          </a:p>
          <a:p>
            <a:pPr marL="0" indent="0">
              <a:buNone/>
            </a:pPr>
            <a:r>
              <a:rPr lang="en-US" sz="1600">
                <a:solidFill>
                  <a:schemeClr val="tx1"/>
                </a:solidFill>
                <a:latin typeface="Arial" panose="020B0604020202020204" pitchFamily="34" charset="0"/>
                <a:cs typeface="Arial" panose="020B0604020202020204" pitchFamily="34" charset="0"/>
              </a:rPr>
              <a:t>                                                                                                     </a:t>
            </a:r>
            <a:r>
              <a:rPr lang="en-US" sz="2900">
                <a:solidFill>
                  <a:schemeClr val="tx1"/>
                </a:solidFill>
                <a:latin typeface="Arial" panose="020B0604020202020204" pitchFamily="34" charset="0"/>
                <a:cs typeface="Arial" panose="020B0604020202020204" pitchFamily="34" charset="0"/>
              </a:rPr>
              <a:t>Aastha Shreya </a:t>
            </a:r>
          </a:p>
          <a:p>
            <a:pPr marL="0" indent="0">
              <a:buNone/>
            </a:pPr>
            <a:r>
              <a:rPr lang="en-US" sz="2900">
                <a:solidFill>
                  <a:schemeClr val="tx1"/>
                </a:solidFill>
                <a:latin typeface="Arial" panose="020B0604020202020204" pitchFamily="34" charset="0"/>
                <a:cs typeface="Arial" panose="020B0604020202020204" pitchFamily="34" charset="0"/>
              </a:rPr>
              <a:t>                                                           Farhan Ali Arshad</a:t>
            </a:r>
          </a:p>
          <a:p>
            <a:pPr marL="0" indent="0">
              <a:buNone/>
            </a:pPr>
            <a:r>
              <a:rPr lang="en-US" sz="2900">
                <a:solidFill>
                  <a:schemeClr val="tx1"/>
                </a:solidFill>
                <a:latin typeface="Arial" panose="020B0604020202020204" pitchFamily="34" charset="0"/>
                <a:cs typeface="Arial" panose="020B0604020202020204" pitchFamily="34" charset="0"/>
              </a:rPr>
              <a:t>                                                           Shivang Sinha</a:t>
            </a:r>
          </a:p>
          <a:p>
            <a:pPr marL="0" indent="0">
              <a:buNone/>
            </a:pPr>
            <a:r>
              <a:rPr lang="en-US" sz="2900">
                <a:solidFill>
                  <a:schemeClr val="tx1"/>
                </a:solidFill>
                <a:latin typeface="Arial" panose="020B0604020202020204" pitchFamily="34" charset="0"/>
                <a:cs typeface="Arial" panose="020B0604020202020204" pitchFamily="34" charset="0"/>
              </a:rPr>
              <a:t>                                                           Syed Huzaifa Ali</a:t>
            </a:r>
          </a:p>
          <a:p>
            <a:pPr marL="0" indent="0">
              <a:buNone/>
            </a:pPr>
            <a:r>
              <a:rPr lang="en-US" sz="2900">
                <a:solidFill>
                  <a:schemeClr val="tx1"/>
                </a:solidFill>
                <a:latin typeface="Arial" panose="020B0604020202020204" pitchFamily="34" charset="0"/>
                <a:cs typeface="Arial" panose="020B0604020202020204" pitchFamily="34" charset="0"/>
              </a:rPr>
              <a:t>                                                           Muhammad Ahmed</a:t>
            </a:r>
          </a:p>
          <a:p>
            <a:pPr marL="0" indent="0">
              <a:buNone/>
            </a:pPr>
            <a:r>
              <a:rPr lang="en-US" sz="2900">
                <a:solidFill>
                  <a:schemeClr val="tx1"/>
                </a:solidFill>
                <a:latin typeface="Arial" panose="020B0604020202020204" pitchFamily="34" charset="0"/>
                <a:cs typeface="Arial" panose="020B0604020202020204" pitchFamily="34" charset="0"/>
              </a:rPr>
              <a:t>                                                           Donya Sheikhi </a:t>
            </a:r>
          </a:p>
          <a:p>
            <a:pPr marL="0" indent="0">
              <a:buNone/>
            </a:pPr>
            <a:r>
              <a:rPr lang="en-US" b="1">
                <a:solidFill>
                  <a:schemeClr val="tx1"/>
                </a:solidFill>
                <a:latin typeface="Arial" panose="020B0604020202020204" pitchFamily="34" charset="0"/>
                <a:cs typeface="Arial" panose="020B0604020202020204" pitchFamily="34" charset="0"/>
              </a:rPr>
              <a:t>                      </a:t>
            </a:r>
            <a:endParaRPr lang="en-US"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96218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4881-B4CE-81EB-1D02-680025F34731}"/>
              </a:ext>
            </a:extLst>
          </p:cNvPr>
          <p:cNvSpPr>
            <a:spLocks noGrp="1"/>
          </p:cNvSpPr>
          <p:nvPr>
            <p:ph type="title"/>
          </p:nvPr>
        </p:nvSpPr>
        <p:spPr>
          <a:xfrm>
            <a:off x="1451579" y="661012"/>
            <a:ext cx="9085484" cy="892367"/>
          </a:xfrm>
        </p:spPr>
        <p:txBody>
          <a:bodyPr>
            <a:normAutofit fontScale="90000"/>
          </a:bodyPr>
          <a:lstStyle/>
          <a:p>
            <a:br>
              <a:rPr lang="en-US" sz="4000" b="1" dirty="0">
                <a:latin typeface="Arial" panose="020B0604020202020204" pitchFamily="34" charset="0"/>
                <a:cs typeface="Arial" panose="020B0604020202020204" pitchFamily="34" charset="0"/>
              </a:rPr>
            </a:br>
            <a:r>
              <a:rPr lang="en-US" sz="4000" b="1" dirty="0">
                <a:latin typeface="Arial" panose="020B0604020202020204" pitchFamily="34" charset="0"/>
                <a:cs typeface="Arial" panose="020B0604020202020204" pitchFamily="34" charset="0"/>
              </a:rPr>
              <a:t>Introduction</a:t>
            </a:r>
            <a:br>
              <a:rPr lang="en-US" b="1" dirty="0"/>
            </a:br>
            <a:endParaRPr lang="en-US" dirty="0"/>
          </a:p>
        </p:txBody>
      </p:sp>
      <p:sp>
        <p:nvSpPr>
          <p:cNvPr id="3" name="Content Placeholder 2">
            <a:extLst>
              <a:ext uri="{FF2B5EF4-FFF2-40B4-BE49-F238E27FC236}">
                <a16:creationId xmlns:a16="http://schemas.microsoft.com/office/drawing/2014/main" id="{856D0081-C096-B3A2-13AF-49305B135392}"/>
              </a:ext>
            </a:extLst>
          </p:cNvPr>
          <p:cNvSpPr>
            <a:spLocks noGrp="1"/>
          </p:cNvSpPr>
          <p:nvPr>
            <p:ph idx="1"/>
          </p:nvPr>
        </p:nvSpPr>
        <p:spPr>
          <a:xfrm>
            <a:off x="1451579" y="2489981"/>
            <a:ext cx="9603275" cy="4220307"/>
          </a:xfrm>
        </p:spPr>
        <p:txBody>
          <a:bodyPr>
            <a:noAutofit/>
          </a:bodyPr>
          <a:lstStyle/>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Social media has made it easier for people to share information and connect with others.</a:t>
            </a:r>
          </a:p>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However, it is also used to spread fake news and create online threats like hate speech and cyberbullying.</a:t>
            </a:r>
          </a:p>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Fake news tricks people and changes their opinions, while threats create a hostile and unsafe environment.</a:t>
            </a:r>
          </a:p>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Current systems address fake news and threats separately, overlooking their interconnected nature.</a:t>
            </a:r>
          </a:p>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Transformer-based models (e.g., BERT) excel in text classification but multitask detection of fake news and threats remains underexplored.</a:t>
            </a:r>
          </a:p>
          <a:p>
            <a:pPr>
              <a:buFont typeface="Wingdings" panose="05000000000000000000" pitchFamily="2" charset="2"/>
              <a:buChar char="Ø"/>
            </a:pPr>
            <a:r>
              <a:rPr lang="en-US" sz="1800" dirty="0">
                <a:latin typeface="Arial" panose="020B0604020202020204" pitchFamily="34" charset="0"/>
                <a:cs typeface="Arial" panose="020B0604020202020204" pitchFamily="34" charset="0"/>
              </a:rPr>
              <a:t>Research focuses on evaluating separate versus unified detection models and analyzing transformer trends (encoders, decoders, hybrids).</a:t>
            </a:r>
          </a:p>
          <a:p>
            <a:pPr>
              <a:buFont typeface="Wingdings" panose="05000000000000000000" pitchFamily="2" charset="2"/>
              <a:buChar char="Ø"/>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59349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89E16-E476-3014-2B3C-08A8F4AB0553}"/>
              </a:ext>
            </a:extLst>
          </p:cNvPr>
          <p:cNvSpPr>
            <a:spLocks noGrp="1"/>
          </p:cNvSpPr>
          <p:nvPr>
            <p:ph type="title"/>
          </p:nvPr>
        </p:nvSpPr>
        <p:spPr>
          <a:xfrm>
            <a:off x="1154954" y="616945"/>
            <a:ext cx="8761413" cy="1063687"/>
          </a:xfrm>
        </p:spPr>
        <p:txBody>
          <a:bodyPr/>
          <a:lstStyle/>
          <a:p>
            <a:r>
              <a:rPr lang="en-US" b="1" dirty="0">
                <a:latin typeface="Arial" panose="020B0604020202020204" pitchFamily="34" charset="0"/>
                <a:cs typeface="Arial" panose="020B0604020202020204" pitchFamily="34" charset="0"/>
              </a:rPr>
              <a:t>Problem Statement</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564FEC8-7D1F-8E22-8CC6-B1938DA3FE98}"/>
              </a:ext>
            </a:extLst>
          </p:cNvPr>
          <p:cNvSpPr>
            <a:spLocks noGrp="1"/>
          </p:cNvSpPr>
          <p:nvPr>
            <p:ph idx="1"/>
          </p:nvPr>
        </p:nvSpPr>
        <p:spPr/>
        <p:txBody>
          <a:bodyPr>
            <a:normAutofit/>
          </a:bodyPr>
          <a:lstStyle/>
          <a:p>
            <a:pPr>
              <a:buFont typeface="Wingdings" panose="05000000000000000000" pitchFamily="2" charset="2"/>
              <a:buChar char="Ø"/>
            </a:pPr>
            <a:r>
              <a:rPr lang="en-US" dirty="0">
                <a:solidFill>
                  <a:schemeClr val="tx1"/>
                </a:solidFill>
                <a:latin typeface="Arial" panose="020B0604020202020204" pitchFamily="34" charset="0"/>
                <a:cs typeface="Arial" panose="020B0604020202020204" pitchFamily="34" charset="0"/>
              </a:rPr>
              <a:t>Fake news divides communities and reduces trust.</a:t>
            </a:r>
          </a:p>
          <a:p>
            <a:pPr>
              <a:buFont typeface="Wingdings" panose="05000000000000000000" pitchFamily="2" charset="2"/>
              <a:buChar char="Ø"/>
            </a:pPr>
            <a:r>
              <a:rPr lang="en-US" dirty="0">
                <a:solidFill>
                  <a:schemeClr val="tx1"/>
                </a:solidFill>
                <a:latin typeface="Arial" panose="020B0604020202020204" pitchFamily="34" charset="0"/>
                <a:cs typeface="Arial" panose="020B0604020202020204" pitchFamily="34" charset="0"/>
              </a:rPr>
              <a:t>Threats stop useful conversations and increase negativity.</a:t>
            </a:r>
          </a:p>
          <a:p>
            <a:pPr>
              <a:buFont typeface="Wingdings" panose="05000000000000000000" pitchFamily="2" charset="2"/>
              <a:buChar char="Ø"/>
            </a:pPr>
            <a:r>
              <a:rPr lang="en-US" dirty="0">
                <a:solidFill>
                  <a:schemeClr val="tx1"/>
                </a:solidFill>
                <a:latin typeface="Arial" panose="020B0604020202020204" pitchFamily="34" charset="0"/>
                <a:cs typeface="Arial" panose="020B0604020202020204" pitchFamily="34" charset="0"/>
              </a:rPr>
              <a:t>Fake news and threats often overlap, making problems worse.</a:t>
            </a:r>
          </a:p>
          <a:p>
            <a:pPr>
              <a:buFont typeface="Wingdings" panose="05000000000000000000" pitchFamily="2" charset="2"/>
              <a:buChar char="Ø"/>
            </a:pPr>
            <a:r>
              <a:rPr lang="en-US" dirty="0">
                <a:solidFill>
                  <a:schemeClr val="tx1"/>
                </a:solidFill>
                <a:latin typeface="Arial" panose="020B0604020202020204" pitchFamily="34" charset="0"/>
                <a:cs typeface="Arial" panose="020B0604020202020204" pitchFamily="34" charset="0"/>
              </a:rPr>
              <a:t>Limited studies comparing tools that handle both issues together.</a:t>
            </a:r>
          </a:p>
          <a:p>
            <a:pPr marL="0" indent="0">
              <a:buNone/>
            </a:pPr>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61930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634B-A319-0E3E-2244-DCED807EAE06}"/>
              </a:ext>
            </a:extLst>
          </p:cNvPr>
          <p:cNvSpPr>
            <a:spLocks noGrp="1"/>
          </p:cNvSpPr>
          <p:nvPr>
            <p:ph type="title"/>
          </p:nvPr>
        </p:nvSpPr>
        <p:spPr>
          <a:xfrm>
            <a:off x="1154954" y="683046"/>
            <a:ext cx="8761414" cy="997585"/>
          </a:xfrm>
        </p:spPr>
        <p:txBody>
          <a:bodyPr/>
          <a:lstStyle/>
          <a:p>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Research Questions</a:t>
            </a:r>
            <a:br>
              <a:rPr lang="en-US" b="1"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8EB3E54-DBBC-72EC-4799-26286C6DEAA5}"/>
              </a:ext>
            </a:extLst>
          </p:cNvPr>
          <p:cNvSpPr>
            <a:spLocks noGrp="1"/>
          </p:cNvSpPr>
          <p:nvPr>
            <p:ph idx="1"/>
          </p:nvPr>
        </p:nvSpPr>
        <p:spPr>
          <a:xfrm>
            <a:off x="1154954" y="2603500"/>
            <a:ext cx="10390723" cy="3488828"/>
          </a:xfrm>
        </p:spPr>
        <p:txBody>
          <a:bodyPr>
            <a:normAutofit/>
          </a:bodyPr>
          <a:lstStyle/>
          <a:p>
            <a:pPr>
              <a:buSzPct val="100000"/>
              <a:buFont typeface="+mj-lt"/>
              <a:buAutoNum type="arabicPeriod"/>
            </a:pPr>
            <a:r>
              <a:rPr lang="en-US" dirty="0">
                <a:solidFill>
                  <a:schemeClr val="tx1"/>
                </a:solidFill>
                <a:latin typeface="Arial" panose="020B0604020202020204" pitchFamily="34" charset="0"/>
                <a:cs typeface="Arial" panose="020B0604020202020204" pitchFamily="34" charset="0"/>
              </a:rPr>
              <a:t>How does the performance of separate BERT models trained individually on fake news and threat datasets compare to a single BERT model trained unified on both datasets and which approach yields better results for combined detection tasks?</a:t>
            </a:r>
          </a:p>
          <a:p>
            <a:pPr>
              <a:buSzPct val="100000"/>
              <a:buFont typeface="+mj-lt"/>
              <a:buAutoNum type="arabicPeriod"/>
            </a:pPr>
            <a:r>
              <a:rPr lang="en-US" dirty="0">
                <a:solidFill>
                  <a:schemeClr val="tx1"/>
                </a:solidFill>
                <a:latin typeface="Arial" panose="020B0604020202020204" pitchFamily="34" charset="0"/>
                <a:cs typeface="Arial" panose="020B0604020202020204" pitchFamily="34" charset="0"/>
              </a:rPr>
              <a:t>What are the conclusions be drawn from the combined detection of fake news and threats? How can it contribute to improving societal safety, fostering informed public engagement, and enhancing the quality of social media?</a:t>
            </a:r>
          </a:p>
          <a:p>
            <a:pPr>
              <a:buSzPct val="100000"/>
              <a:buFont typeface="+mj-lt"/>
              <a:buAutoNum type="arabicPeriod"/>
            </a:pPr>
            <a:r>
              <a:rPr lang="en-US" dirty="0">
                <a:solidFill>
                  <a:schemeClr val="tx1"/>
                </a:solidFill>
                <a:latin typeface="Arial" panose="020B0604020202020204" pitchFamily="34" charset="0"/>
                <a:cs typeface="Arial" panose="020B0604020202020204" pitchFamily="34" charset="0"/>
              </a:rPr>
              <a:t>What are the trends in different transformer models ( Encoder, Decoder, Hybrid ) while detecting online threats &amp; fake news detection?</a:t>
            </a:r>
          </a:p>
        </p:txBody>
      </p:sp>
    </p:spTree>
    <p:extLst>
      <p:ext uri="{BB962C8B-B14F-4D97-AF65-F5344CB8AC3E}">
        <p14:creationId xmlns:p14="http://schemas.microsoft.com/office/powerpoint/2010/main" val="376414713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805E4-A3D4-3308-D313-3F52F859E6FC}"/>
              </a:ext>
            </a:extLst>
          </p:cNvPr>
          <p:cNvSpPr>
            <a:spLocks noGrp="1"/>
          </p:cNvSpPr>
          <p:nvPr>
            <p:ph type="title"/>
          </p:nvPr>
        </p:nvSpPr>
        <p:spPr>
          <a:xfrm>
            <a:off x="1154954" y="661012"/>
            <a:ext cx="8761413" cy="1019619"/>
          </a:xfrm>
        </p:spPr>
        <p:txBody>
          <a:bodyPr/>
          <a:lstStyle/>
          <a:p>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Objectives</a:t>
            </a:r>
            <a:br>
              <a:rPr lang="en-US" b="1" dirty="0"/>
            </a:br>
            <a:endParaRPr lang="en-US" dirty="0"/>
          </a:p>
        </p:txBody>
      </p:sp>
      <p:sp>
        <p:nvSpPr>
          <p:cNvPr id="3" name="Content Placeholder 2">
            <a:extLst>
              <a:ext uri="{FF2B5EF4-FFF2-40B4-BE49-F238E27FC236}">
                <a16:creationId xmlns:a16="http://schemas.microsoft.com/office/drawing/2014/main" id="{5E63D88E-1907-BE08-4C10-061E9977D0CF}"/>
              </a:ext>
            </a:extLst>
          </p:cNvPr>
          <p:cNvSpPr>
            <a:spLocks noGrp="1"/>
          </p:cNvSpPr>
          <p:nvPr>
            <p:ph idx="1"/>
          </p:nvPr>
        </p:nvSpPr>
        <p:spPr>
          <a:xfrm>
            <a:off x="1154954" y="2379643"/>
            <a:ext cx="9377171" cy="4478357"/>
          </a:xfrm>
        </p:spPr>
        <p:txBody>
          <a:bodyPr>
            <a:noAutofit/>
          </a:bodyPr>
          <a:lstStyle/>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Compare separate and combined BERT models to evaluate their performance in detecting fake news and threats.</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Train specialized models for fake news and threat detection individually.</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Build a multitask BERT model addressing both tasks simultaneously.</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Investigate how integrating fake news and threat detection in one framework improves efficiency and accuracy.</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Minimize computational overhead for practical implementation.</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Study how improved detection mechanisms reduce harmful content.</a:t>
            </a:r>
          </a:p>
          <a:p>
            <a:pPr>
              <a:buSzPct val="89000"/>
              <a:buFont typeface="Wingdings" panose="05000000000000000000" pitchFamily="2" charset="2"/>
              <a:buChar char="Ø"/>
            </a:pPr>
            <a:r>
              <a:rPr lang="en-US" dirty="0">
                <a:latin typeface="Arial" panose="020B0604020202020204" pitchFamily="34" charset="0"/>
                <a:cs typeface="Arial" panose="020B0604020202020204" pitchFamily="34" charset="0"/>
              </a:rPr>
              <a:t>Promote public awareness and create safer online interactions.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Examine encoder-based, decoder-based, and hybrid transformer models to determine their effectiveness</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074335"/>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164F3-FDB8-D69C-62F3-74BA18FE764C}"/>
              </a:ext>
            </a:extLst>
          </p:cNvPr>
          <p:cNvSpPr>
            <a:spLocks noGrp="1"/>
          </p:cNvSpPr>
          <p:nvPr>
            <p:ph type="title"/>
          </p:nvPr>
        </p:nvSpPr>
        <p:spPr>
          <a:xfrm>
            <a:off x="859316" y="616945"/>
            <a:ext cx="9057051" cy="1063687"/>
          </a:xfrm>
        </p:spPr>
        <p:txBody>
          <a:bodyPr/>
          <a:lstStyle/>
          <a:p>
            <a:r>
              <a:rPr lang="en-US" b="1" dirty="0">
                <a:latin typeface="Arial" panose="020B0604020202020204" pitchFamily="34" charset="0"/>
                <a:cs typeface="Arial" panose="020B0604020202020204" pitchFamily="34" charset="0"/>
              </a:rPr>
              <a:t>Methodologies</a:t>
            </a:r>
          </a:p>
        </p:txBody>
      </p:sp>
      <p:sp>
        <p:nvSpPr>
          <p:cNvPr id="4" name="Rectangle 1">
            <a:extLst>
              <a:ext uri="{FF2B5EF4-FFF2-40B4-BE49-F238E27FC236}">
                <a16:creationId xmlns:a16="http://schemas.microsoft.com/office/drawing/2014/main" id="{7D97B49A-4BFC-1173-1C6A-25B9FBEE2BC9}"/>
              </a:ext>
            </a:extLst>
          </p:cNvPr>
          <p:cNvSpPr>
            <a:spLocks noGrp="1" noChangeArrowheads="1"/>
          </p:cNvSpPr>
          <p:nvPr>
            <p:ph idx="1"/>
          </p:nvPr>
        </p:nvSpPr>
        <p:spPr bwMode="auto">
          <a:xfrm>
            <a:off x="859317" y="2500134"/>
            <a:ext cx="1025416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Collection &amp; Preprocessing:</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1"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Use datasets for fake news (e.g.,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DeFaktS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threats (e.g., hate speech).</a:t>
            </a:r>
          </a:p>
          <a:p>
            <a:pPr marR="0" lvl="1"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Clean text, extract key features.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Model Training:</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1"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Train separate BERT models for fake news and threats.</a:t>
            </a:r>
          </a:p>
          <a:p>
            <a:pPr marR="0" lvl="1"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Build a combined BERT model with shared layers.</a:t>
            </a:r>
          </a:p>
          <a:p>
            <a:pPr marR="0" lvl="1"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US" sz="2000" dirty="0">
                <a:solidFill>
                  <a:schemeClr val="tx1"/>
                </a:solidFill>
                <a:latin typeface="Arial" panose="020B0604020202020204" pitchFamily="34" charset="0"/>
                <a:cs typeface="Arial" panose="020B0604020202020204" pitchFamily="34" charset="0"/>
              </a:rPr>
              <a:t>Evaluate models using accuracy, F1-score, precision, &amp; recall to determine performance.</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Architecture Exploration:</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1" defTabSz="914400" eaLnBrk="0" fontAlgn="base" hangingPunct="0">
              <a:spcBef>
                <a:spcPct val="0"/>
              </a:spcBef>
              <a:spcAft>
                <a:spcPct val="0"/>
              </a:spcAft>
              <a:buSzTx/>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Experiment with encoder-based (BERT), decoder-based (GPT), and hybrid models for comparative performance analysis. </a:t>
            </a:r>
          </a:p>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tx1"/>
                </a:solidFill>
                <a:latin typeface="Arial" panose="020B0604020202020204" pitchFamily="34" charset="0"/>
                <a:cs typeface="Arial" panose="020B0604020202020204" pitchFamily="34" charset="0"/>
              </a:rPr>
              <a:t>Output Generation: </a:t>
            </a:r>
          </a:p>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tx1"/>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The models will produce binary outputs for each task: o Fake News Detection: Fake (1) or Not Fake (0). o Threat Detection: Threat (1) or No Threat (0).</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903822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F2F349-04B3-2988-6E99-B0E44BE672F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6"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8" name="Freeform: Shape 27">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0"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38E84F54-4B72-511B-08EE-5286764B3F2A}"/>
              </a:ext>
            </a:extLst>
          </p:cNvPr>
          <p:cNvSpPr>
            <a:spLocks noGrp="1"/>
          </p:cNvSpPr>
          <p:nvPr>
            <p:ph type="title"/>
          </p:nvPr>
        </p:nvSpPr>
        <p:spPr>
          <a:xfrm>
            <a:off x="994087" y="1130603"/>
            <a:ext cx="3342442" cy="4596794"/>
          </a:xfrm>
        </p:spPr>
        <p:txBody>
          <a:bodyPr anchor="ctr">
            <a:normAutofit/>
          </a:bodyPr>
          <a:lstStyle/>
          <a:p>
            <a:r>
              <a:rPr lang="en-US" sz="3200" b="1" dirty="0">
                <a:latin typeface="Arial" panose="020B0604020202020204" pitchFamily="34" charset="0"/>
                <a:cs typeface="Arial" panose="020B0604020202020204" pitchFamily="34" charset="0"/>
              </a:rPr>
              <a:t>Methodologies </a:t>
            </a:r>
            <a:endParaRPr lang="en-US" sz="3200" b="1" dirty="0">
              <a:solidFill>
                <a:srgbClr val="EBEBEB"/>
              </a:solidFill>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ACFF7A25-EAB7-A71F-B087-45CC8CADB602}"/>
              </a:ext>
            </a:extLst>
          </p:cNvPr>
          <p:cNvSpPr>
            <a:spLocks noGrp="1" noChangeArrowheads="1"/>
          </p:cNvSpPr>
          <p:nvPr>
            <p:ph idx="1"/>
          </p:nvPr>
        </p:nvSpPr>
        <p:spPr bwMode="auto">
          <a:xfrm>
            <a:off x="5290077" y="437513"/>
            <a:ext cx="5502614" cy="595432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lang="en-US" sz="2000" b="1" dirty="0">
                <a:solidFill>
                  <a:schemeClr val="tx1"/>
                </a:solidFill>
                <a:latin typeface="Arial" panose="020B0604020202020204" pitchFamily="34" charset="0"/>
                <a:cs typeface="Arial" panose="020B0604020202020204" pitchFamily="34" charset="0"/>
              </a:rPr>
              <a:t>Evaluation of Combined Detection Impact: </a:t>
            </a:r>
          </a:p>
          <a:p>
            <a:pPr marR="0" lvl="0" defTabSz="914400" rtl="0" eaLnBrk="0" fontAlgn="base" latinLnBrk="0" hangingPunct="0">
              <a:spcBef>
                <a:spcPct val="0"/>
              </a:spcBef>
              <a:spcAft>
                <a:spcPts val="600"/>
              </a:spcAft>
              <a:buSzTx/>
              <a:buFont typeface="Wingdings" panose="05000000000000000000" pitchFamily="2" charset="2"/>
              <a:buChar char="Ø"/>
              <a:tabLst/>
            </a:pPr>
            <a:r>
              <a:rPr lang="en-US" sz="2000" dirty="0">
                <a:solidFill>
                  <a:schemeClr val="tx1"/>
                </a:solidFill>
              </a:rPr>
              <a:t> </a:t>
            </a:r>
            <a:r>
              <a:rPr lang="en-US" sz="2000" dirty="0">
                <a:solidFill>
                  <a:schemeClr val="tx1"/>
                </a:solidFill>
                <a:latin typeface="Arial" panose="020B0604020202020204" pitchFamily="34" charset="0"/>
                <a:cs typeface="Arial" panose="020B0604020202020204" pitchFamily="34" charset="0"/>
              </a:rPr>
              <a:t>Measure improvements in predictive performance when fake news and threats are detected simultaneously. </a:t>
            </a:r>
          </a:p>
          <a:p>
            <a:pPr marR="0" lvl="0" defTabSz="914400" rtl="0" eaLnBrk="0" fontAlgn="base" latinLnBrk="0" hangingPunct="0">
              <a:spcBef>
                <a:spcPct val="0"/>
              </a:spcBef>
              <a:spcAft>
                <a:spcPts val="600"/>
              </a:spcAft>
              <a:buSzTx/>
              <a:buFont typeface="Wingdings" panose="05000000000000000000" pitchFamily="2" charset="2"/>
              <a:buChar char="Ø"/>
              <a:tabLst/>
            </a:pPr>
            <a:r>
              <a:rPr lang="en-US" sz="2000" dirty="0">
                <a:solidFill>
                  <a:schemeClr val="tx1"/>
                </a:solidFill>
                <a:latin typeface="Arial" panose="020B0604020202020204" pitchFamily="34" charset="0"/>
                <a:cs typeface="Arial" panose="020B0604020202020204" pitchFamily="34" charset="0"/>
              </a:rPr>
              <a:t>Conduct comparative analysis on datasets processed through separate versus unified models to assess accuracy gains and computational efficiency</a:t>
            </a:r>
            <a:endParaRPr lang="en-US"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871080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900A-79E3-F5E9-75B4-5DA460E0A755}"/>
              </a:ext>
            </a:extLst>
          </p:cNvPr>
          <p:cNvSpPr>
            <a:spLocks noGrp="1"/>
          </p:cNvSpPr>
          <p:nvPr>
            <p:ph type="title"/>
          </p:nvPr>
        </p:nvSpPr>
        <p:spPr>
          <a:xfrm>
            <a:off x="1154954" y="838200"/>
            <a:ext cx="8761413" cy="842432"/>
          </a:xfrm>
        </p:spPr>
        <p:txBody>
          <a:bodyPr/>
          <a:lstStyle/>
          <a:p>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Methodologies </a:t>
            </a:r>
            <a:br>
              <a:rPr lang="en-US" b="1" dirty="0"/>
            </a:br>
            <a:endParaRPr lang="en-US" dirty="0"/>
          </a:p>
        </p:txBody>
      </p:sp>
      <p:pic>
        <p:nvPicPr>
          <p:cNvPr id="5" name="Content Placeholder 4">
            <a:extLst>
              <a:ext uri="{FF2B5EF4-FFF2-40B4-BE49-F238E27FC236}">
                <a16:creationId xmlns:a16="http://schemas.microsoft.com/office/drawing/2014/main" id="{E0036D3B-9FF6-317F-4CB8-6D28CB14F1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4954" y="2412694"/>
            <a:ext cx="9553441" cy="4363104"/>
          </a:xfrm>
        </p:spPr>
      </p:pic>
    </p:spTree>
    <p:extLst>
      <p:ext uri="{BB962C8B-B14F-4D97-AF65-F5344CB8AC3E}">
        <p14:creationId xmlns:p14="http://schemas.microsoft.com/office/powerpoint/2010/main" val="390135554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3FA86-4A90-9F13-1A64-DA2BBAA46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76348-FE03-B312-9811-94837973FA62}"/>
              </a:ext>
            </a:extLst>
          </p:cNvPr>
          <p:cNvSpPr>
            <a:spLocks noGrp="1"/>
          </p:cNvSpPr>
          <p:nvPr>
            <p:ph type="title"/>
          </p:nvPr>
        </p:nvSpPr>
        <p:spPr>
          <a:xfrm>
            <a:off x="892366" y="1068636"/>
            <a:ext cx="9024002" cy="611995"/>
          </a:xfrm>
        </p:spPr>
        <p:txBody>
          <a:bodyPr/>
          <a:lstStyle/>
          <a:p>
            <a:r>
              <a:rPr lang="en-US" b="1" dirty="0"/>
              <a:t>Metrics </a:t>
            </a:r>
            <a:r>
              <a:rPr lang="en-US" b="1" dirty="0">
                <a:latin typeface="Arial" panose="020B0604020202020204" pitchFamily="34" charset="0"/>
                <a:cs typeface="Arial" panose="020B0604020202020204" pitchFamily="34" charset="0"/>
              </a:rPr>
              <a:t>for</a:t>
            </a:r>
            <a:r>
              <a:rPr lang="en-US" b="1" dirty="0"/>
              <a:t> Evaluation</a:t>
            </a:r>
            <a:br>
              <a:rPr lang="en-US" b="1" dirty="0"/>
            </a:br>
            <a:endParaRPr lang="en-US" dirty="0"/>
          </a:p>
        </p:txBody>
      </p:sp>
      <p:sp>
        <p:nvSpPr>
          <p:cNvPr id="4" name="TextBox 3">
            <a:extLst>
              <a:ext uri="{FF2B5EF4-FFF2-40B4-BE49-F238E27FC236}">
                <a16:creationId xmlns:a16="http://schemas.microsoft.com/office/drawing/2014/main" id="{3E9EA1C5-F8C2-2535-8592-865C14E54E36}"/>
              </a:ext>
            </a:extLst>
          </p:cNvPr>
          <p:cNvSpPr txBox="1"/>
          <p:nvPr/>
        </p:nvSpPr>
        <p:spPr>
          <a:xfrm>
            <a:off x="892366" y="2478794"/>
            <a:ext cx="8769427" cy="3970318"/>
          </a:xfrm>
          <a:prstGeom prst="rect">
            <a:avLst/>
          </a:prstGeom>
          <a:noFill/>
        </p:spPr>
        <p:txBody>
          <a:bodyPr wrap="square">
            <a:spAutoFit/>
          </a:bodyPr>
          <a:lstStyle/>
          <a:p>
            <a:pPr marL="342900" indent="-342900">
              <a:buClr>
                <a:schemeClr val="accent1"/>
              </a:buClr>
              <a:buFont typeface="+mj-lt"/>
              <a:buAutoNum type="arabicPeriod"/>
            </a:pPr>
            <a:r>
              <a:rPr lang="en-US" b="1" dirty="0">
                <a:latin typeface="Arial" panose="020B0604020202020204" pitchFamily="34" charset="0"/>
                <a:cs typeface="Arial" panose="020B0604020202020204" pitchFamily="34" charset="0"/>
              </a:rPr>
              <a:t>Fake News Detection Metrics:</a:t>
            </a:r>
          </a:p>
          <a:p>
            <a:r>
              <a:rPr lang="en-US" dirty="0">
                <a:latin typeface="Arial" panose="020B0604020202020204" pitchFamily="34" charset="0"/>
                <a:cs typeface="Arial" panose="020B0604020202020204" pitchFamily="34" charset="0"/>
              </a:rPr>
              <a:t>To evaluate fake news detection, the system will analyze textual features derived from disinformation indicators, including but not limited to.</a:t>
            </a:r>
            <a:endParaRPr lang="en-US" b="1" dirty="0">
              <a:latin typeface="Arial" panose="020B0604020202020204" pitchFamily="34" charset="0"/>
              <a:cs typeface="Arial" panose="020B0604020202020204" pitchFamily="34" charset="0"/>
            </a:endParaRPr>
          </a:p>
          <a:p>
            <a:pPr>
              <a:buClr>
                <a:schemeClr val="accent1"/>
              </a:buClr>
            </a:pPr>
            <a:r>
              <a:rPr lang="en-US" b="1" dirty="0">
                <a:latin typeface="Arial" panose="020B0604020202020204" pitchFamily="34" charset="0"/>
                <a:cs typeface="Arial" panose="020B0604020202020204" pitchFamily="34" charset="0"/>
              </a:rPr>
              <a:t>Semantic Inconsistency: </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Identifying contradictions or logical errors within the content to flag unreliable posts. </a:t>
            </a:r>
          </a:p>
          <a:p>
            <a:pPr>
              <a:buClr>
                <a:schemeClr val="accent1"/>
              </a:buClr>
            </a:pPr>
            <a:r>
              <a:rPr lang="en-US" b="1" dirty="0">
                <a:latin typeface="Arial" panose="020B0604020202020204" pitchFamily="34" charset="0"/>
                <a:cs typeface="Arial" panose="020B0604020202020204" pitchFamily="34" charset="0"/>
              </a:rPr>
              <a:t>Polarization:</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Detecting friend-foe framing narratives in fake news articles. </a:t>
            </a:r>
          </a:p>
          <a:p>
            <a:pPr>
              <a:buClr>
                <a:schemeClr val="accent1"/>
              </a:buClr>
            </a:pPr>
            <a:r>
              <a:rPr lang="en-US" b="1" dirty="0">
                <a:latin typeface="Arial" panose="020B0604020202020204" pitchFamily="34" charset="0"/>
                <a:cs typeface="Arial" panose="020B0604020202020204" pitchFamily="34" charset="0"/>
              </a:rPr>
              <a:t>Vagueness of Phrasing: </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Analyzing the use of indirect expressions or hedging words. </a:t>
            </a:r>
          </a:p>
          <a:p>
            <a:pPr>
              <a:buClr>
                <a:schemeClr val="accent1"/>
              </a:buClr>
            </a:pPr>
            <a:r>
              <a:rPr lang="en-US" b="1" dirty="0">
                <a:latin typeface="Arial" panose="020B0604020202020204" pitchFamily="34" charset="0"/>
                <a:cs typeface="Arial" panose="020B0604020202020204" pitchFamily="34" charset="0"/>
              </a:rPr>
              <a:t>Authenticity and Referencing of Information: </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Measuring the use of reliable references versus false or absent contextualized sources. These features represent key characteristics for distinguishing fake news content, ensuring that the system can provide good detection capabilities.  </a:t>
            </a:r>
          </a:p>
        </p:txBody>
      </p:sp>
    </p:spTree>
    <p:extLst>
      <p:ext uri="{BB962C8B-B14F-4D97-AF65-F5344CB8AC3E}">
        <p14:creationId xmlns:p14="http://schemas.microsoft.com/office/powerpoint/2010/main" val="1386453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58CA-DF7E-A3A6-C321-70918C574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3559E-C792-A9D5-D2F4-CA49F199D1CA}"/>
              </a:ext>
            </a:extLst>
          </p:cNvPr>
          <p:cNvSpPr>
            <a:spLocks noGrp="1"/>
          </p:cNvSpPr>
          <p:nvPr>
            <p:ph type="title"/>
          </p:nvPr>
        </p:nvSpPr>
        <p:spPr>
          <a:xfrm>
            <a:off x="892366" y="1068636"/>
            <a:ext cx="9024002" cy="611995"/>
          </a:xfrm>
        </p:spPr>
        <p:txBody>
          <a:bodyPr/>
          <a:lstStyle/>
          <a:p>
            <a:r>
              <a:rPr lang="en-US" b="1" dirty="0"/>
              <a:t>Metrics </a:t>
            </a:r>
            <a:r>
              <a:rPr lang="en-US" b="1" dirty="0">
                <a:latin typeface="Arial" panose="020B0604020202020204" pitchFamily="34" charset="0"/>
                <a:cs typeface="Arial" panose="020B0604020202020204" pitchFamily="34" charset="0"/>
              </a:rPr>
              <a:t>for</a:t>
            </a:r>
            <a:r>
              <a:rPr lang="en-US" b="1" dirty="0"/>
              <a:t> Evaluation</a:t>
            </a:r>
            <a:br>
              <a:rPr lang="en-US" b="1" dirty="0"/>
            </a:br>
            <a:endParaRPr lang="en-US" dirty="0"/>
          </a:p>
        </p:txBody>
      </p:sp>
      <p:sp>
        <p:nvSpPr>
          <p:cNvPr id="4" name="TextBox 3">
            <a:extLst>
              <a:ext uri="{FF2B5EF4-FFF2-40B4-BE49-F238E27FC236}">
                <a16:creationId xmlns:a16="http://schemas.microsoft.com/office/drawing/2014/main" id="{6EFEF30F-C9DF-3CCB-772C-216EB556C62B}"/>
              </a:ext>
            </a:extLst>
          </p:cNvPr>
          <p:cNvSpPr txBox="1"/>
          <p:nvPr/>
        </p:nvSpPr>
        <p:spPr>
          <a:xfrm>
            <a:off x="892366" y="2412694"/>
            <a:ext cx="11093986" cy="3693319"/>
          </a:xfrm>
          <a:prstGeom prst="rect">
            <a:avLst/>
          </a:prstGeom>
          <a:noFill/>
        </p:spPr>
        <p:txBody>
          <a:bodyPr wrap="square">
            <a:spAutoFit/>
          </a:bodyPr>
          <a:lstStyle/>
          <a:p>
            <a:pPr>
              <a:buClr>
                <a:schemeClr val="accent1"/>
              </a:buClr>
            </a:pPr>
            <a:r>
              <a:rPr lang="en-US" b="1" dirty="0">
                <a:solidFill>
                  <a:schemeClr val="accent1"/>
                </a:solidFill>
                <a:latin typeface="Arial" panose="020B0604020202020204" pitchFamily="34" charset="0"/>
                <a:cs typeface="Arial" panose="020B0604020202020204" pitchFamily="34" charset="0"/>
              </a:rPr>
              <a:t>2. </a:t>
            </a:r>
            <a:r>
              <a:rPr lang="en-US" b="1" dirty="0">
                <a:latin typeface="Arial" panose="020B0604020202020204" pitchFamily="34" charset="0"/>
                <a:cs typeface="Arial" panose="020B0604020202020204" pitchFamily="34" charset="0"/>
              </a:rPr>
              <a:t>Threat Detection Metrics: </a:t>
            </a:r>
          </a:p>
          <a:p>
            <a:pPr>
              <a:buClr>
                <a:schemeClr val="accent1"/>
              </a:buClr>
            </a:pPr>
            <a:r>
              <a:rPr lang="en-US" dirty="0">
                <a:latin typeface="Arial" panose="020B0604020202020204" pitchFamily="34" charset="0"/>
                <a:cs typeface="Arial" panose="020B0604020202020204" pitchFamily="34" charset="0"/>
              </a:rPr>
              <a:t>The threat detection component focuses on identifying harmful online behaviors and speech. The system will be evaluated based on.</a:t>
            </a:r>
          </a:p>
          <a:p>
            <a:pPr>
              <a:buClr>
                <a:schemeClr val="accent1"/>
              </a:buClr>
            </a:pPr>
            <a:r>
              <a:rPr lang="en-US" b="1" dirty="0">
                <a:latin typeface="Arial" panose="020B0604020202020204" pitchFamily="34" charset="0"/>
                <a:cs typeface="Arial" panose="020B0604020202020204" pitchFamily="34" charset="0"/>
              </a:rPr>
              <a:t>Toxicity:</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Identifying harmful and aggressive language.</a:t>
            </a:r>
          </a:p>
          <a:p>
            <a:pPr>
              <a:buClr>
                <a:schemeClr val="accent1"/>
              </a:buClr>
            </a:pPr>
            <a:r>
              <a:rPr lang="en-US" b="1" dirty="0">
                <a:latin typeface="Arial" panose="020B0604020202020204" pitchFamily="34" charset="0"/>
                <a:cs typeface="Arial" panose="020B0604020202020204" pitchFamily="34" charset="0"/>
              </a:rPr>
              <a:t>Cyberbullying</a:t>
            </a:r>
            <a:r>
              <a:rPr lang="en-US" dirty="0">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Detecting language that explicitly or implicitly poses harm to individuals or groups</a:t>
            </a:r>
          </a:p>
          <a:p>
            <a:pPr>
              <a:buClr>
                <a:schemeClr val="accent1"/>
              </a:buClr>
            </a:pPr>
            <a:r>
              <a:rPr lang="en-US" b="1" dirty="0">
                <a:latin typeface="Arial" panose="020B0604020202020204" pitchFamily="34" charset="0"/>
                <a:cs typeface="Arial" panose="020B0604020202020204" pitchFamily="34" charset="0"/>
              </a:rPr>
              <a:t>Insult:</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Analyzing the use of indirect expressions or hedging words. </a:t>
            </a:r>
          </a:p>
          <a:p>
            <a:pPr>
              <a:buClr>
                <a:schemeClr val="accent1"/>
              </a:buClr>
            </a:pPr>
            <a:r>
              <a:rPr lang="en-US" b="1" dirty="0">
                <a:latin typeface="Arial" panose="020B0604020202020204" pitchFamily="34" charset="0"/>
                <a:cs typeface="Arial" panose="020B0604020202020204" pitchFamily="34" charset="0"/>
              </a:rPr>
              <a:t>Identity Hate:</a:t>
            </a:r>
          </a:p>
          <a:p>
            <a:pPr marL="285750"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Identifying hate speech targeted toward individuals or groups based on identity attributes like race, religion, or gender. These metrics ensure that the model addresses both explicit and implicit threats within the online discourse, enhancing safety. </a:t>
            </a:r>
          </a:p>
        </p:txBody>
      </p:sp>
    </p:spTree>
    <p:extLst>
      <p:ext uri="{BB962C8B-B14F-4D97-AF65-F5344CB8AC3E}">
        <p14:creationId xmlns:p14="http://schemas.microsoft.com/office/powerpoint/2010/main" val="573080894"/>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F1C7-FFA2-7660-6E86-5AC1B9A662A5}"/>
              </a:ext>
            </a:extLst>
          </p:cNvPr>
          <p:cNvSpPr>
            <a:spLocks noGrp="1"/>
          </p:cNvSpPr>
          <p:nvPr>
            <p:ph type="title"/>
          </p:nvPr>
        </p:nvSpPr>
        <p:spPr/>
        <p:txBody>
          <a:bodyPr/>
          <a:lstStyle/>
          <a:p>
            <a:r>
              <a:rPr lang="en-US" b="1" dirty="0"/>
              <a:t>Expected Outcomes</a:t>
            </a:r>
            <a:br>
              <a:rPr lang="en-US" b="1" dirty="0"/>
            </a:br>
            <a:endParaRPr lang="en-US" dirty="0"/>
          </a:p>
        </p:txBody>
      </p:sp>
      <p:sp>
        <p:nvSpPr>
          <p:cNvPr id="3" name="Content Placeholder 2">
            <a:extLst>
              <a:ext uri="{FF2B5EF4-FFF2-40B4-BE49-F238E27FC236}">
                <a16:creationId xmlns:a16="http://schemas.microsoft.com/office/drawing/2014/main" id="{380E7162-285F-569D-3BA4-4F8E456BEB93}"/>
              </a:ext>
            </a:extLst>
          </p:cNvPr>
          <p:cNvSpPr>
            <a:spLocks noGrp="1"/>
          </p:cNvSpPr>
          <p:nvPr>
            <p:ph idx="1"/>
          </p:nvPr>
        </p:nvSpPr>
        <p:spPr/>
        <p:txBody>
          <a:bodyPr>
            <a:normAutofit/>
          </a:bodyPr>
          <a:lstStyle/>
          <a:p>
            <a:pPr marL="0" indent="0">
              <a:buNone/>
            </a:pPr>
            <a:r>
              <a:rPr lang="en-US" b="1" dirty="0">
                <a:solidFill>
                  <a:schemeClr val="tx1"/>
                </a:solidFill>
                <a:latin typeface="Arial" panose="020B0604020202020204" pitchFamily="34" charset="0"/>
                <a:cs typeface="Arial" panose="020B0604020202020204" pitchFamily="34" charset="0"/>
              </a:rPr>
              <a:t>Impact on AI and Society:</a:t>
            </a:r>
            <a:endParaRPr lang="en-US" dirty="0">
              <a:solidFill>
                <a:schemeClr val="tx1"/>
              </a:solidFill>
              <a:latin typeface="Arial" panose="020B0604020202020204" pitchFamily="34" charset="0"/>
              <a:cs typeface="Arial" panose="020B0604020202020204" pitchFamily="34" charset="0"/>
            </a:endParaRPr>
          </a:p>
          <a:p>
            <a:pPr lvl="1">
              <a:buSzPct val="100000"/>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Better models for finding harmful content.</a:t>
            </a:r>
          </a:p>
          <a:p>
            <a:pPr lvl="1">
              <a:buSzPct val="100000"/>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Safer online discussions.</a:t>
            </a:r>
          </a:p>
          <a:p>
            <a:pPr lvl="1">
              <a:buSzPct val="100000"/>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Improved public awareness.</a:t>
            </a:r>
          </a:p>
          <a:p>
            <a:pPr marL="0" indent="0">
              <a:buNone/>
            </a:pPr>
            <a:r>
              <a:rPr lang="en-US" b="1" dirty="0">
                <a:solidFill>
                  <a:schemeClr val="tx1"/>
                </a:solidFill>
                <a:latin typeface="Arial" panose="020B0604020202020204" pitchFamily="34" charset="0"/>
                <a:cs typeface="Arial" panose="020B0604020202020204" pitchFamily="34" charset="0"/>
              </a:rPr>
              <a:t>Insights:</a:t>
            </a:r>
            <a:endParaRPr lang="en-US" dirty="0">
              <a:solidFill>
                <a:schemeClr val="tx1"/>
              </a:solidFill>
              <a:latin typeface="Arial" panose="020B0604020202020204" pitchFamily="34" charset="0"/>
              <a:cs typeface="Arial" panose="020B0604020202020204" pitchFamily="34" charset="0"/>
            </a:endParaRPr>
          </a:p>
          <a:p>
            <a:pPr lvl="1">
              <a:buSzPct val="100000"/>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Trends in advanced transformer models.</a:t>
            </a:r>
          </a:p>
          <a:p>
            <a:pPr lvl="1">
              <a:buSzPct val="100000"/>
              <a:buFont typeface="Wingdings" panose="05000000000000000000" pitchFamily="2" charset="2"/>
              <a:buChar char="Ø"/>
            </a:pPr>
            <a:r>
              <a:rPr lang="en-US" sz="1800" dirty="0">
                <a:solidFill>
                  <a:schemeClr val="tx1"/>
                </a:solidFill>
                <a:latin typeface="Arial" panose="020B0604020202020204" pitchFamily="34" charset="0"/>
                <a:cs typeface="Arial" panose="020B0604020202020204" pitchFamily="34" charset="0"/>
              </a:rPr>
              <a:t>Benefits of combining detection for fake news and threats.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923904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9C478-00B4-7323-124E-E4868033F7DB}"/>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Roadmap to Execution</a:t>
            </a:r>
          </a:p>
        </p:txBody>
      </p:sp>
      <p:sp>
        <p:nvSpPr>
          <p:cNvPr id="3" name="Content Placeholder 2">
            <a:extLst>
              <a:ext uri="{FF2B5EF4-FFF2-40B4-BE49-F238E27FC236}">
                <a16:creationId xmlns:a16="http://schemas.microsoft.com/office/drawing/2014/main" id="{626E8725-D05E-6B48-8391-52F6D3B9023F}"/>
              </a:ext>
            </a:extLst>
          </p:cNvPr>
          <p:cNvSpPr>
            <a:spLocks noGrp="1"/>
          </p:cNvSpPr>
          <p:nvPr>
            <p:ph idx="1"/>
          </p:nvPr>
        </p:nvSpPr>
        <p:spPr/>
        <p:txBody>
          <a:bodyPr/>
          <a:lstStyle/>
          <a:p>
            <a:pPr marL="0" indent="0">
              <a:buNone/>
            </a:pPr>
            <a:r>
              <a:rPr lang="en-US" dirty="0">
                <a:solidFill>
                  <a:schemeClr val="tx1"/>
                </a:solidFill>
              </a:rPr>
              <a:t>Pending………………!</a:t>
            </a:r>
          </a:p>
        </p:txBody>
      </p:sp>
    </p:spTree>
    <p:extLst>
      <p:ext uri="{BB962C8B-B14F-4D97-AF65-F5344CB8AC3E}">
        <p14:creationId xmlns:p14="http://schemas.microsoft.com/office/powerpoint/2010/main" val="385518168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30B1-E90D-B3E7-EF86-5D192B64B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7494A-1280-5D43-0C41-FA35809EB313}"/>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Team Dynamics</a:t>
            </a:r>
          </a:p>
        </p:txBody>
      </p:sp>
      <p:sp>
        <p:nvSpPr>
          <p:cNvPr id="3" name="Content Placeholder 2">
            <a:extLst>
              <a:ext uri="{FF2B5EF4-FFF2-40B4-BE49-F238E27FC236}">
                <a16:creationId xmlns:a16="http://schemas.microsoft.com/office/drawing/2014/main" id="{922D7A88-29CF-134D-703B-08E4CFCFC432}"/>
              </a:ext>
            </a:extLst>
          </p:cNvPr>
          <p:cNvSpPr>
            <a:spLocks noGrp="1"/>
          </p:cNvSpPr>
          <p:nvPr>
            <p:ph idx="1"/>
          </p:nvPr>
        </p:nvSpPr>
        <p:spPr/>
        <p:txBody>
          <a:bodyPr/>
          <a:lstStyle/>
          <a:p>
            <a:pPr marL="0" indent="0">
              <a:buNone/>
            </a:pPr>
            <a:r>
              <a:rPr lang="en-US" dirty="0">
                <a:solidFill>
                  <a:schemeClr val="tx1"/>
                </a:solidFill>
              </a:rPr>
              <a:t>Pending………………!</a:t>
            </a:r>
          </a:p>
        </p:txBody>
      </p:sp>
    </p:spTree>
    <p:extLst>
      <p:ext uri="{BB962C8B-B14F-4D97-AF65-F5344CB8AC3E}">
        <p14:creationId xmlns:p14="http://schemas.microsoft.com/office/powerpoint/2010/main" val="159133679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E758-0740-2572-F735-DFD1EB89EC52}"/>
              </a:ext>
            </a:extLst>
          </p:cNvPr>
          <p:cNvSpPr>
            <a:spLocks noGrp="1"/>
          </p:cNvSpPr>
          <p:nvPr>
            <p:ph type="title"/>
          </p:nvPr>
        </p:nvSpPr>
        <p:spPr>
          <a:xfrm>
            <a:off x="1090708" y="1013552"/>
            <a:ext cx="8825659" cy="667080"/>
          </a:xfrm>
        </p:spPr>
        <p:txBody>
          <a:bodyPr/>
          <a:lstStyle/>
          <a:p>
            <a:r>
              <a:rPr lang="en-US" b="1" dirty="0"/>
              <a:t>Conclusion</a:t>
            </a:r>
            <a:br>
              <a:rPr lang="en-US" b="1" dirty="0"/>
            </a:br>
            <a:endParaRPr lang="en-US" dirty="0"/>
          </a:p>
        </p:txBody>
      </p:sp>
      <p:sp>
        <p:nvSpPr>
          <p:cNvPr id="3" name="Content Placeholder 2">
            <a:extLst>
              <a:ext uri="{FF2B5EF4-FFF2-40B4-BE49-F238E27FC236}">
                <a16:creationId xmlns:a16="http://schemas.microsoft.com/office/drawing/2014/main" id="{719DF6CC-6F42-44CA-3727-9A76448BD4C0}"/>
              </a:ext>
            </a:extLst>
          </p:cNvPr>
          <p:cNvSpPr>
            <a:spLocks noGrp="1"/>
          </p:cNvSpPr>
          <p:nvPr>
            <p:ph idx="1"/>
          </p:nvPr>
        </p:nvSpPr>
        <p:spPr/>
        <p:txBody>
          <a:bodyPr/>
          <a:lstStyle/>
          <a:p>
            <a:pPr marL="0" indent="0">
              <a:buNone/>
            </a:pPr>
            <a:r>
              <a:rPr lang="en-US" dirty="0">
                <a:solidFill>
                  <a:schemeClr val="tx1"/>
                </a:solidFill>
                <a:latin typeface="Arial" panose="020B0604020202020204" pitchFamily="34" charset="0"/>
                <a:cs typeface="Arial" panose="020B0604020202020204" pitchFamily="34" charset="0"/>
              </a:rPr>
              <a:t>This research will help us understand the best way to detect both fake news and online threats at the same time. It will show whether separate or unified models work better and highlight the trends in transformer models for these tasks. The findings will also explore how better detection can make online spaces safer and encourage healthy public discussions.</a:t>
            </a:r>
          </a:p>
        </p:txBody>
      </p:sp>
    </p:spTree>
    <p:extLst>
      <p:ext uri="{BB962C8B-B14F-4D97-AF65-F5344CB8AC3E}">
        <p14:creationId xmlns:p14="http://schemas.microsoft.com/office/powerpoint/2010/main" val="746302140"/>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BD730-04A2-E0C4-AE35-6D1D3C7CDB2F}"/>
              </a:ext>
            </a:extLst>
          </p:cNvPr>
          <p:cNvSpPr>
            <a:spLocks noGrp="1"/>
          </p:cNvSpPr>
          <p:nvPr>
            <p:ph type="title"/>
          </p:nvPr>
        </p:nvSpPr>
        <p:spPr>
          <a:xfrm>
            <a:off x="815248" y="738130"/>
            <a:ext cx="9101120" cy="942502"/>
          </a:xfrm>
        </p:spPr>
        <p:txBody>
          <a:bodyPr/>
          <a:lstStyle/>
          <a:p>
            <a:r>
              <a:rPr lang="en-US" b="1"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C9688F8D-C731-AAE4-FF97-B726FADAE4A9}"/>
              </a:ext>
            </a:extLst>
          </p:cNvPr>
          <p:cNvSpPr>
            <a:spLocks noGrp="1"/>
          </p:cNvSpPr>
          <p:nvPr>
            <p:ph idx="1"/>
          </p:nvPr>
        </p:nvSpPr>
        <p:spPr>
          <a:xfrm>
            <a:off x="506776" y="2379643"/>
            <a:ext cx="10994834" cy="4263527"/>
          </a:xfrm>
        </p:spPr>
        <p:txBody>
          <a:bodyPr>
            <a:noAutofit/>
          </a:bodyPr>
          <a:lstStyle/>
          <a:p>
            <a:pPr>
              <a:buSzPct val="100000"/>
              <a:buFont typeface="+mj-lt"/>
              <a:buAutoNum type="arabicPeriod"/>
            </a:pPr>
            <a:r>
              <a:rPr lang="en-US" dirty="0" err="1">
                <a:latin typeface="Arial" panose="020B0604020202020204" pitchFamily="34" charset="0"/>
                <a:cs typeface="Arial" panose="020B0604020202020204" pitchFamily="34" charset="0"/>
              </a:rPr>
              <a:t>Baly</a:t>
            </a:r>
            <a:r>
              <a:rPr lang="en-US" dirty="0">
                <a:latin typeface="Arial" panose="020B0604020202020204" pitchFamily="34" charset="0"/>
                <a:cs typeface="Arial" panose="020B0604020202020204" pitchFamily="34" charset="0"/>
              </a:rPr>
              <a:t>, R., Horne, B. D., &amp; </a:t>
            </a:r>
            <a:r>
              <a:rPr lang="en-US" dirty="0" err="1">
                <a:latin typeface="Arial" panose="020B0604020202020204" pitchFamily="34" charset="0"/>
                <a:cs typeface="Arial" panose="020B0604020202020204" pitchFamily="34" charset="0"/>
              </a:rPr>
              <a:t>Adali</a:t>
            </a:r>
            <a:r>
              <a:rPr lang="en-US" dirty="0">
                <a:latin typeface="Arial" panose="020B0604020202020204" pitchFamily="34" charset="0"/>
                <a:cs typeface="Arial" panose="020B0604020202020204" pitchFamily="34" charset="0"/>
              </a:rPr>
              <a:t>, S. (2023). </a:t>
            </a:r>
            <a:r>
              <a:rPr lang="en-US" dirty="0" err="1">
                <a:latin typeface="Arial" panose="020B0604020202020204" pitchFamily="34" charset="0"/>
                <a:cs typeface="Arial" panose="020B0604020202020204" pitchFamily="34" charset="0"/>
              </a:rPr>
              <a:t>DeFaktS</a:t>
            </a:r>
            <a:r>
              <a:rPr lang="en-US" dirty="0">
                <a:latin typeface="Arial" panose="020B0604020202020204" pitchFamily="34" charset="0"/>
                <a:cs typeface="Arial" panose="020B0604020202020204" pitchFamily="34" charset="0"/>
              </a:rPr>
              <a:t>: A German Dataset for </a:t>
            </a:r>
            <a:r>
              <a:rPr lang="en-US" dirty="0" err="1">
                <a:latin typeface="Arial" panose="020B0604020202020204" pitchFamily="34" charset="0"/>
                <a:cs typeface="Arial" panose="020B0604020202020204" pitchFamily="34" charset="0"/>
              </a:rPr>
              <a:t>FineGrained</a:t>
            </a:r>
            <a:r>
              <a:rPr lang="en-US" dirty="0">
                <a:latin typeface="Arial" panose="020B0604020202020204" pitchFamily="34" charset="0"/>
                <a:cs typeface="Arial" panose="020B0604020202020204" pitchFamily="34" charset="0"/>
              </a:rPr>
              <a:t> Disinformation Detection through Social Media Framing. In Proceedings of the 2023 International Conference on Data Science and Advanced Analytics (DSAA). IEEE. </a:t>
            </a:r>
            <a:r>
              <a:rPr lang="en-US" dirty="0">
                <a:latin typeface="Arial" panose="020B0604020202020204" pitchFamily="34" charset="0"/>
                <a:cs typeface="Arial" panose="020B0604020202020204" pitchFamily="34" charset="0"/>
                <a:hlinkClick r:id="rId2"/>
              </a:rPr>
              <a:t>Link</a:t>
            </a:r>
            <a:r>
              <a:rPr lang="en-US" dirty="0">
                <a:latin typeface="Arial" panose="020B0604020202020204" pitchFamily="34" charset="0"/>
                <a:cs typeface="Arial" panose="020B0604020202020204" pitchFamily="34" charset="0"/>
              </a:rPr>
              <a:t> </a:t>
            </a:r>
          </a:p>
          <a:p>
            <a:pPr>
              <a:buSzPct val="100000"/>
              <a:buFont typeface="+mj-lt"/>
              <a:buAutoNum type="arabicPeriod"/>
            </a:pPr>
            <a:r>
              <a:rPr lang="en-US" dirty="0">
                <a:latin typeface="Arial" panose="020B0604020202020204" pitchFamily="34" charset="0"/>
                <a:cs typeface="Arial" panose="020B0604020202020204" pitchFamily="34" charset="0"/>
              </a:rPr>
              <a:t>Gupta, S., &amp; Chauhan, V. (2022). Hate Speech, Toxicity Detection in Online Social Media: A Recent Survey of State of the Art and Opportunities. Social Media Studies, 12(3), 45-63. </a:t>
            </a:r>
            <a:r>
              <a:rPr lang="en-US" dirty="0">
                <a:latin typeface="Arial" panose="020B0604020202020204" pitchFamily="34" charset="0"/>
                <a:cs typeface="Arial" panose="020B0604020202020204" pitchFamily="34" charset="0"/>
                <a:hlinkClick r:id="rId3"/>
              </a:rPr>
              <a:t>Link</a:t>
            </a:r>
            <a:r>
              <a:rPr lang="en-US" dirty="0">
                <a:latin typeface="Arial" panose="020B0604020202020204" pitchFamily="34" charset="0"/>
                <a:cs typeface="Arial" panose="020B0604020202020204" pitchFamily="34" charset="0"/>
              </a:rPr>
              <a:t> </a:t>
            </a:r>
          </a:p>
          <a:p>
            <a:pPr>
              <a:buSzPct val="100000"/>
              <a:buFont typeface="+mj-lt"/>
              <a:buAutoNum type="arabicPeriod"/>
            </a:pPr>
            <a:r>
              <a:rPr lang="en-US" dirty="0">
                <a:latin typeface="Arial" panose="020B0604020202020204" pitchFamily="34" charset="0"/>
                <a:cs typeface="Arial" panose="020B0604020202020204" pitchFamily="34" charset="0"/>
              </a:rPr>
              <a:t>Singh, R., &amp; Sharma, K. (2023). Threat Modelling and Detection Using Semantic Network for Improving Social Media Safety. Journal of Cybersecurity Studies, 5(4), 198-210. </a:t>
            </a:r>
            <a:r>
              <a:rPr lang="en-US" dirty="0">
                <a:latin typeface="Arial" panose="020B0604020202020204" pitchFamily="34" charset="0"/>
                <a:cs typeface="Arial" panose="020B0604020202020204" pitchFamily="34" charset="0"/>
                <a:hlinkClick r:id="rId4"/>
              </a:rPr>
              <a:t>Link</a:t>
            </a:r>
            <a:r>
              <a:rPr lang="en-US" dirty="0">
                <a:latin typeface="Arial" panose="020B0604020202020204" pitchFamily="34" charset="0"/>
                <a:cs typeface="Arial" panose="020B0604020202020204" pitchFamily="34" charset="0"/>
              </a:rPr>
              <a:t> </a:t>
            </a:r>
          </a:p>
          <a:p>
            <a:pPr>
              <a:buSzPct val="100000"/>
              <a:buFont typeface="+mj-lt"/>
              <a:buAutoNum type="arabicPeriod"/>
            </a:pPr>
            <a:r>
              <a:rPr lang="en-US" dirty="0" err="1">
                <a:latin typeface="Arial" panose="020B0604020202020204" pitchFamily="34" charset="0"/>
                <a:cs typeface="Arial" panose="020B0604020202020204" pitchFamily="34" charset="0"/>
              </a:rPr>
              <a:t>Sazany</a:t>
            </a:r>
            <a:r>
              <a:rPr lang="en-US" dirty="0">
                <a:latin typeface="Arial" panose="020B0604020202020204" pitchFamily="34" charset="0"/>
                <a:cs typeface="Arial" panose="020B0604020202020204" pitchFamily="34" charset="0"/>
              </a:rPr>
              <a:t>, E.: Deep learning-based implementation of hate speech identification on texts in Indonesian : Preliminary Study. In: 2018 International Conference on Applied Information Technology and Innovation (ICAITI) Deep. IEEE, pp 114–117 (2018) </a:t>
            </a:r>
            <a:r>
              <a:rPr lang="en-US" dirty="0">
                <a:latin typeface="Arial" panose="020B0604020202020204" pitchFamily="34" charset="0"/>
                <a:cs typeface="Arial" panose="020B0604020202020204" pitchFamily="34" charset="0"/>
                <a:hlinkClick r:id="rId5"/>
              </a:rPr>
              <a:t>Link</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27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875002"/>
            <a:ext cx="9144000" cy="1107996"/>
          </a:xfrm>
        </p:spPr>
        <p:txBody>
          <a:bodyPr lIns="0" tIns="0" rIns="0" bIns="0" anchor="ctr">
            <a:spAutoFit/>
          </a:bodyPr>
          <a:lstStyle/>
          <a:p>
            <a:pPr algn="ctr"/>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375</TotalTime>
  <Words>1094</Words>
  <Application>Microsoft Office PowerPoint</Application>
  <PresentationFormat>Widescreen</PresentationFormat>
  <Paragraphs>98</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Wingdings</vt:lpstr>
      <vt:lpstr>Wingdings 3</vt:lpstr>
      <vt:lpstr>Ion Boardroom</vt:lpstr>
      <vt:lpstr>Enhancing the Safety and Authenticity of Online Discussions on Social Media Platforms with AI</vt:lpstr>
      <vt:lpstr> Introduction </vt:lpstr>
      <vt:lpstr>Problem Statement</vt:lpstr>
      <vt:lpstr> Research Questions </vt:lpstr>
      <vt:lpstr> Objectives </vt:lpstr>
      <vt:lpstr>Methodologies</vt:lpstr>
      <vt:lpstr>Methodologies </vt:lpstr>
      <vt:lpstr> Methodologies  </vt:lpstr>
      <vt:lpstr>Metrics for Evaluation </vt:lpstr>
      <vt:lpstr>Metrics for Evaluation </vt:lpstr>
      <vt:lpstr>Expected Outcomes </vt:lpstr>
      <vt:lpstr>Roadmap to Execution</vt:lpstr>
      <vt:lpstr>Team Dynamics</vt:lpstr>
      <vt:lpstr>Conclusion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Arshad, Farhan Ali</dc:creator>
  <cp:lastModifiedBy>Arshad, Farhan Ali</cp:lastModifiedBy>
  <cp:revision>146</cp:revision>
  <dcterms:created xsi:type="dcterms:W3CDTF">2024-12-07T20:59:09Z</dcterms:created>
  <dcterms:modified xsi:type="dcterms:W3CDTF">2024-12-08T22:59:35Z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