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Sora SemiBold"/>
      <p:regular r:id="rId40"/>
      <p:bold r:id="rId41"/>
    </p:embeddedFont>
    <p:embeddedFont>
      <p:font typeface="Lato"/>
      <p:regular r:id="rId42"/>
      <p:bold r:id="rId43"/>
      <p:italic r:id="rId44"/>
      <p:boldItalic r:id="rId45"/>
    </p:embeddedFont>
    <p:embeddedFont>
      <p:font typeface="Sora"/>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E6E5342-C3E9-4B91-923E-AD6574A7CBED}">
  <a:tblStyle styleId="{AE6E5342-C3E9-4B91-923E-AD6574A7CBED}"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BF0F2"/>
          </a:solidFill>
        </a:fill>
      </a:tcStyle>
    </a:wholeTbl>
    <a:band1H>
      <a:tcTxStyle/>
      <a:tcStyle>
        <a:fill>
          <a:solidFill>
            <a:srgbClr val="D5E0E3"/>
          </a:solidFill>
        </a:fill>
      </a:tcStyle>
    </a:band1H>
    <a:band2H>
      <a:tcTxStyle/>
    </a:band2H>
    <a:band1V>
      <a:tcTxStyle/>
      <a:tcStyle>
        <a:fill>
          <a:solidFill>
            <a:srgbClr val="D5E0E3"/>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9BB5A15F-8D2F-480F-BC01-926767B9482E}"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20751483-DDB6-4AFA-8D6E-C8A450A1EF79}"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E302279-3A16-4045-89FD-CC918BF007D4}" styleName="Table_3">
    <a:wholeTbl>
      <a:tcTxStyle b="off" i="off">
        <a:font>
          <a:latin typeface="Calibri"/>
          <a:ea typeface="Calibri"/>
          <a:cs typeface="Calibri"/>
        </a:font>
        <a:schemeClr val="dk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chemeClr val="accent1"/>
              </a:solidFill>
              <a:prstDash val="solid"/>
              <a:round/>
              <a:headEnd len="sm" w="sm" type="none"/>
              <a:tailEnd len="sm" w="sm" type="none"/>
            </a:ln>
          </a:insideV>
        </a:tcBdr>
        <a:fill>
          <a:solidFill>
            <a:srgbClr val="FFFFFF">
              <a:alpha val="0"/>
            </a:srgbClr>
          </a:solidFill>
        </a:fill>
      </a:tcStyle>
    </a:wholeTbl>
    <a:band1H>
      <a:tcTxStyle/>
      <a:tcStyle>
        <a:fill>
          <a:solidFill>
            <a:schemeClr val="accent1">
              <a:alpha val="40000"/>
            </a:schemeClr>
          </a:solidFill>
        </a:fill>
      </a:tcStyle>
    </a:band1H>
    <a:band2H>
      <a:tcTxStyle/>
    </a:band2H>
    <a:band1V>
      <a:tcTxStyle/>
      <a:tcStyle>
        <a:tcBdr>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tcBdr>
        <a:fill>
          <a:solidFill>
            <a:schemeClr val="accent1">
              <a:alpha val="40000"/>
            </a:schemeClr>
          </a:solidFill>
        </a:fill>
      </a:tcStyle>
    </a:band1V>
    <a:band2V>
      <a:tcTxStyle/>
    </a:band2V>
    <a:lastCol>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chemeClr val="accent1"/>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Calibri"/>
          <a:ea typeface="Calibri"/>
          <a:cs typeface="Calibri"/>
        </a:font>
        <a:schemeClr val="lt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oraSemiBold-regular.fntdata"/><Relationship Id="rId20" Type="http://schemas.openxmlformats.org/officeDocument/2006/relationships/slide" Target="slides/slide14.xml"/><Relationship Id="rId42" Type="http://schemas.openxmlformats.org/officeDocument/2006/relationships/font" Target="fonts/Lato-regular.fntdata"/><Relationship Id="rId41" Type="http://schemas.openxmlformats.org/officeDocument/2006/relationships/font" Target="fonts/SoraSemiBold-bold.fntdata"/><Relationship Id="rId22" Type="http://schemas.openxmlformats.org/officeDocument/2006/relationships/slide" Target="slides/slide16.xml"/><Relationship Id="rId44" Type="http://schemas.openxmlformats.org/officeDocument/2006/relationships/font" Target="fonts/Lato-italic.fntdata"/><Relationship Id="rId21" Type="http://schemas.openxmlformats.org/officeDocument/2006/relationships/slide" Target="slides/slide15.xml"/><Relationship Id="rId43" Type="http://schemas.openxmlformats.org/officeDocument/2006/relationships/font" Target="fonts/Lato-bold.fntdata"/><Relationship Id="rId24" Type="http://schemas.openxmlformats.org/officeDocument/2006/relationships/slide" Target="slides/slide18.xml"/><Relationship Id="rId46" Type="http://schemas.openxmlformats.org/officeDocument/2006/relationships/font" Target="fonts/Sora-regular.fntdata"/><Relationship Id="rId23" Type="http://schemas.openxmlformats.org/officeDocument/2006/relationships/slide" Target="slides/slide17.xml"/><Relationship Id="rId45" Type="http://schemas.openxmlformats.org/officeDocument/2006/relationships/font" Target="fonts/La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schemas.openxmlformats.org/officeDocument/2006/relationships/font" Target="fonts/Sora-bold.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2c6caa09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2c6caa09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2c6caa09f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2c6caa09f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2c6caa09f7_7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g32c6caa09f7_7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2c6caa09f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2c6caa09f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2c6caa09f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2c6caa09f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2c6caa09f7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Resampling Minority Class:</a:t>
            </a:r>
            <a:endParaRPr/>
          </a:p>
          <a:p>
            <a:pPr indent="0" lvl="0" marL="0" rtl="0" algn="l">
              <a:spcBef>
                <a:spcPts val="0"/>
              </a:spcBef>
              <a:spcAft>
                <a:spcPts val="0"/>
              </a:spcAft>
              <a:buNone/>
            </a:pPr>
            <a:r>
              <a:rPr lang="en-US"/>
              <a:t>adding additional data to minority class to make the overall dataset equal in size to get better performance.</a:t>
            </a:r>
            <a:endParaRPr/>
          </a:p>
          <a:p>
            <a:pPr indent="0" lvl="0" marL="0" rtl="0" algn="l">
              <a:spcBef>
                <a:spcPts val="0"/>
              </a:spcBef>
              <a:spcAft>
                <a:spcPts val="0"/>
              </a:spcAft>
              <a:buNone/>
            </a:pPr>
            <a:r>
              <a:rPr lang="en-US"/>
              <a:t>DataCollatorWithPadding:</a:t>
            </a:r>
            <a:endParaRPr/>
          </a:p>
          <a:p>
            <a:pPr indent="0" lvl="0" marL="0" rtl="0" algn="l">
              <a:spcBef>
                <a:spcPts val="0"/>
              </a:spcBef>
              <a:spcAft>
                <a:spcPts val="0"/>
              </a:spcAft>
              <a:buNone/>
            </a:pPr>
            <a:r>
              <a:rPr lang="en-US"/>
              <a:t>A data collator's primary job is to take a batch of examples (which might be of different lengths) and prepare them for input into the model. This often involves padding shorter sequences to match the length of the longest sequence in the batch.</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65" name="Google Shape;265;g32c6caa09f7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2c6caa09f7_3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32c6caa09f7_3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2c6caa09f7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US"/>
              <a:t>"Today, I’m introducing our multi-task learning model that simultaneously classifies text as fake news, hate speech, and toxicity."</a:t>
            </a:r>
            <a:endParaRPr/>
          </a:p>
          <a:p>
            <a:pPr indent="-298450" lvl="0" marL="457200" rtl="0" algn="l">
              <a:lnSpc>
                <a:spcPct val="115000"/>
              </a:lnSpc>
              <a:spcBef>
                <a:spcPts val="0"/>
              </a:spcBef>
              <a:spcAft>
                <a:spcPts val="0"/>
              </a:spcAft>
              <a:buClr>
                <a:schemeClr val="dk1"/>
              </a:buClr>
              <a:buSzPts val="1100"/>
              <a:buChar char="●"/>
            </a:pPr>
            <a:r>
              <a:rPr lang="en-US"/>
              <a:t>"We begin by processing our dataset, which contains text samples along with three labels. Note that some samples may have missing labels (represented as -1) for one or two tasks."</a:t>
            </a:r>
            <a:endParaRPr/>
          </a:p>
          <a:p>
            <a:pPr indent="-298450" lvl="0" marL="457200" rtl="0" algn="l">
              <a:lnSpc>
                <a:spcPct val="115000"/>
              </a:lnSpc>
              <a:spcBef>
                <a:spcPts val="0"/>
              </a:spcBef>
              <a:spcAft>
                <a:spcPts val="0"/>
              </a:spcAft>
              <a:buClr>
                <a:schemeClr val="dk1"/>
              </a:buClr>
              <a:buSzPts val="1100"/>
              <a:buChar char="●"/>
            </a:pPr>
            <a:r>
              <a:rPr lang="en-US"/>
              <a:t>"Using the BERT tokenizer, we convert raw text into token IDs with consistent length through padding and truncation, then split the dataset into training and testing sets."</a:t>
            </a:r>
            <a:endParaRPr/>
          </a:p>
          <a:p>
            <a:pPr indent="-298450" lvl="0" marL="457200" rtl="0" algn="l">
              <a:lnSpc>
                <a:spcPct val="115000"/>
              </a:lnSpc>
              <a:spcBef>
                <a:spcPts val="0"/>
              </a:spcBef>
              <a:spcAft>
                <a:spcPts val="0"/>
              </a:spcAft>
              <a:buClr>
                <a:schemeClr val="dk1"/>
              </a:buClr>
              <a:buSzPts val="1100"/>
              <a:buChar char="●"/>
            </a:pPr>
            <a:r>
              <a:rPr lang="en-US"/>
              <a:t>"At the core, our model leverages a pre-trained BERT (bert-base-german-cased) to generate rich, contextual embeddings. These embeddings feed into three independent classification heads (simple feedforward layers), each specializing in one of the tasks."</a:t>
            </a:r>
            <a:endParaRPr/>
          </a:p>
          <a:p>
            <a:pPr indent="-298450" lvl="0" marL="457200" rtl="0" algn="l">
              <a:lnSpc>
                <a:spcPct val="115000"/>
              </a:lnSpc>
              <a:spcBef>
                <a:spcPts val="0"/>
              </a:spcBef>
              <a:spcAft>
                <a:spcPts val="0"/>
              </a:spcAft>
              <a:buClr>
                <a:schemeClr val="dk1"/>
              </a:buClr>
              <a:buSzPts val="1100"/>
              <a:buChar char="●"/>
            </a:pPr>
            <a:r>
              <a:rPr lang="en-US"/>
              <a:t>"During training, we optimize three separate Binary Cross-Entropy losses—one per task—with masking to ignore missing (-1) labels, ensuring that only valid data contributes to learning. The Adam optimizer and dropout regularization help improve the model’s performance and prevent overfitting."</a:t>
            </a:r>
            <a:endParaRPr/>
          </a:p>
          <a:p>
            <a:pPr indent="-298450" lvl="0" marL="457200" rtl="0" algn="l">
              <a:lnSpc>
                <a:spcPct val="115000"/>
              </a:lnSpc>
              <a:spcBef>
                <a:spcPts val="0"/>
              </a:spcBef>
              <a:spcAft>
                <a:spcPts val="0"/>
              </a:spcAft>
              <a:buClr>
                <a:schemeClr val="dk1"/>
              </a:buClr>
              <a:buSzPts val="1100"/>
              <a:buChar char="●"/>
            </a:pPr>
            <a:r>
              <a:rPr lang="en-US"/>
              <a:t>"We evaluate our model on accuracy and F1-score, ensuring it effectively identifies fake news, hate speech, and toxicity."</a:t>
            </a:r>
            <a:endParaRPr/>
          </a:p>
          <a:p>
            <a:pPr indent="0" lvl="0" marL="0" rtl="0" algn="l">
              <a:spcBef>
                <a:spcPts val="1200"/>
              </a:spcBef>
              <a:spcAft>
                <a:spcPts val="0"/>
              </a:spcAft>
              <a:buNone/>
            </a:pPr>
            <a:r>
              <a:t/>
            </a:r>
            <a:endParaRPr/>
          </a:p>
        </p:txBody>
      </p:sp>
      <p:sp>
        <p:nvSpPr>
          <p:cNvPr id="284" name="Google Shape;284;g32c6caa09f7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US">
                <a:solidFill>
                  <a:schemeClr val="dk1"/>
                </a:solidFill>
              </a:rPr>
              <a:t>"Let’s discuss why we chose a multi-task approach. Instead of training three separate models, using one shared BERT model means that all tasks benefit from a common understanding of language and context."</a:t>
            </a:r>
            <a:endParaRPr i="1">
              <a:solidFill>
                <a:schemeClr val="dk1"/>
              </a:solidFill>
            </a:endParaRPr>
          </a:p>
          <a:p>
            <a:pPr indent="0" lvl="0" marL="0" rtl="0" algn="l">
              <a:spcBef>
                <a:spcPts val="0"/>
              </a:spcBef>
              <a:spcAft>
                <a:spcPts val="0"/>
              </a:spcAft>
              <a:buClr>
                <a:schemeClr val="dk1"/>
              </a:buClr>
              <a:buSzPts val="1100"/>
              <a:buFont typeface="Arial"/>
              <a:buNone/>
            </a:pPr>
            <a:r>
              <a:rPr i="1" lang="en-US">
                <a:solidFill>
                  <a:schemeClr val="dk1"/>
                </a:solidFill>
              </a:rPr>
              <a:t>"This shared feature extraction allows for knowledge transfer between tasks—patterns learned from detecting hate speech or toxicity can help flag fake news, and vice versa."</a:t>
            </a:r>
            <a:endParaRPr i="1">
              <a:solidFill>
                <a:schemeClr val="dk1"/>
              </a:solidFill>
            </a:endParaRPr>
          </a:p>
          <a:p>
            <a:pPr indent="0" lvl="0" marL="0" rtl="0" algn="l">
              <a:spcBef>
                <a:spcPts val="0"/>
              </a:spcBef>
              <a:spcAft>
                <a:spcPts val="0"/>
              </a:spcAft>
              <a:buClr>
                <a:schemeClr val="dk1"/>
              </a:buClr>
              <a:buSzPts val="1100"/>
              <a:buFont typeface="Arial"/>
              <a:buNone/>
            </a:pPr>
            <a:r>
              <a:rPr i="1" lang="en-US">
                <a:solidFill>
                  <a:schemeClr val="dk1"/>
                </a:solidFill>
              </a:rPr>
              <a:t>"It also improves efficiency by reducing computational costs, as only one model is fine-tuned rather than three. Think of it as hiring a single chef who can prepare multiple dishes, saving both time and resources."</a:t>
            </a:r>
            <a:endParaRPr i="1">
              <a:solidFill>
                <a:schemeClr val="dk1"/>
              </a:solidFill>
            </a:endParaRPr>
          </a:p>
          <a:p>
            <a:pPr indent="0" lvl="0" marL="0" rtl="0" algn="l">
              <a:spcBef>
                <a:spcPts val="0"/>
              </a:spcBef>
              <a:spcAft>
                <a:spcPts val="0"/>
              </a:spcAft>
              <a:buClr>
                <a:schemeClr val="dk1"/>
              </a:buClr>
              <a:buSzPts val="1100"/>
              <a:buFont typeface="Arial"/>
              <a:buNone/>
            </a:pPr>
            <a:r>
              <a:rPr i="1" lang="en-US">
                <a:solidFill>
                  <a:schemeClr val="dk1"/>
                </a:solidFill>
              </a:rPr>
              <a:t>"In summary, our model efficiently handles multiple related tasks, leveraging BERT’s powerful language understanding and task-specific heads to deliver accurate classifications. This integrated approach not only streamlines the training process but also enhances overall prediction quality."</a:t>
            </a:r>
            <a:endParaRPr i="1">
              <a:solidFill>
                <a:schemeClr val="dk1"/>
              </a:solidFill>
            </a:endParaRPr>
          </a:p>
          <a:p>
            <a:pPr indent="0" lvl="0" marL="0" rtl="0" algn="l">
              <a:spcBef>
                <a:spcPts val="0"/>
              </a:spcBef>
              <a:spcAft>
                <a:spcPts val="0"/>
              </a:spcAft>
              <a:buClr>
                <a:schemeClr val="dk1"/>
              </a:buClr>
              <a:buSzPts val="1100"/>
              <a:buFont typeface="Arial"/>
              <a:buNone/>
            </a:pPr>
            <a:r>
              <a:rPr i="1" lang="en-US">
                <a:solidFill>
                  <a:schemeClr val="dk1"/>
                </a:solidFill>
              </a:rPr>
              <a:t>"The results of our experiments confirm that multi-task learning is an effective strategy for tackling the complex, interrelated challenges of fake news, hate speech, and toxicity detection."</a:t>
            </a:r>
            <a:endParaRPr i="1">
              <a:solidFill>
                <a:schemeClr val="dk1"/>
              </a:solidFill>
            </a:endParaRPr>
          </a:p>
          <a:p>
            <a:pPr indent="0" lvl="0" marL="0" rtl="0" algn="l">
              <a:spcBef>
                <a:spcPts val="0"/>
              </a:spcBef>
              <a:spcAft>
                <a:spcPts val="0"/>
              </a:spcAft>
              <a:buNone/>
            </a:pPr>
            <a:r>
              <a:t/>
            </a:r>
            <a:endParaRPr i="1">
              <a:solidFill>
                <a:schemeClr val="dk1"/>
              </a:solidFill>
            </a:endParaRPr>
          </a:p>
        </p:txBody>
      </p:sp>
      <p:sp>
        <p:nvSpPr>
          <p:cNvPr id="291" name="Google Shape;291;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2c6caa09f7_6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2c6caa09f7_6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Font typeface="Arial"/>
              <a:buNone/>
            </a:pPr>
            <a:r>
              <a:rPr b="1" lang="en-US" sz="1200">
                <a:solidFill>
                  <a:schemeClr val="dk1"/>
                </a:solidFill>
                <a:latin typeface="Calibri"/>
                <a:ea typeface="Calibri"/>
                <a:cs typeface="Calibri"/>
                <a:sym typeface="Calibri"/>
              </a:rPr>
              <a:t>Important Guidelines:</a:t>
            </a:r>
            <a:endParaRPr sz="1400">
              <a:solidFill>
                <a:schemeClr val="dk1"/>
              </a:solidFill>
            </a:endParaRPr>
          </a:p>
          <a:p>
            <a:pPr indent="0" lvl="0" marL="0" rtl="0" algn="just">
              <a:lnSpc>
                <a:spcPct val="150000"/>
              </a:lnSpc>
              <a:spcBef>
                <a:spcPts val="0"/>
              </a:spcBef>
              <a:spcAft>
                <a:spcPts val="0"/>
              </a:spcAft>
              <a:buClr>
                <a:schemeClr val="dk1"/>
              </a:buClr>
              <a:buFont typeface="Arial"/>
              <a:buNone/>
            </a:pPr>
            <a:r>
              <a:rPr lang="en-US" sz="1200">
                <a:solidFill>
                  <a:schemeClr val="dk1"/>
                </a:solidFill>
                <a:latin typeface="Calibri"/>
                <a:ea typeface="Calibri"/>
                <a:cs typeface="Calibri"/>
                <a:sym typeface="Calibri"/>
              </a:rPr>
              <a:t>1. Focus on the Text Content: Make predictions based solely on the content and context of the text.</a:t>
            </a:r>
            <a:endParaRPr sz="1400">
              <a:solidFill>
                <a:schemeClr val="dk1"/>
              </a:solidFill>
            </a:endParaRPr>
          </a:p>
          <a:p>
            <a:pPr indent="0" lvl="0" marL="0" rtl="0" algn="just">
              <a:lnSpc>
                <a:spcPct val="150000"/>
              </a:lnSpc>
              <a:spcBef>
                <a:spcPts val="0"/>
              </a:spcBef>
              <a:spcAft>
                <a:spcPts val="0"/>
              </a:spcAft>
              <a:buClr>
                <a:schemeClr val="dk1"/>
              </a:buClr>
              <a:buFont typeface="Arial"/>
              <a:buNone/>
            </a:pPr>
            <a:r>
              <a:rPr lang="en-US" sz="1200">
                <a:solidFill>
                  <a:schemeClr val="dk1"/>
                </a:solidFill>
                <a:latin typeface="Calibri"/>
                <a:ea typeface="Calibri"/>
                <a:cs typeface="Calibri"/>
                <a:sym typeface="Calibri"/>
              </a:rPr>
              <a:t>2. Output Restrictions: Always provide responses for all three categories strictly formatted as 0,1,0 (without spaces, extra text, or newlines). Example Output: 1,0,1</a:t>
            </a:r>
            <a:endParaRPr sz="1400">
              <a:solidFill>
                <a:schemeClr val="dk1"/>
              </a:solidFill>
            </a:endParaRPr>
          </a:p>
          <a:p>
            <a:pPr indent="0" lvl="0" marL="0" rtl="0" algn="just">
              <a:lnSpc>
                <a:spcPct val="150000"/>
              </a:lnSpc>
              <a:spcBef>
                <a:spcPts val="0"/>
              </a:spcBef>
              <a:spcAft>
                <a:spcPts val="0"/>
              </a:spcAft>
              <a:buClr>
                <a:schemeClr val="dk1"/>
              </a:buClr>
              <a:buFont typeface="Arial"/>
              <a:buNone/>
            </a:pPr>
            <a:r>
              <a:rPr lang="en-US" sz="1200">
                <a:solidFill>
                  <a:schemeClr val="dk1"/>
                </a:solidFill>
                <a:latin typeface="Calibri"/>
                <a:ea typeface="Calibri"/>
                <a:cs typeface="Calibri"/>
                <a:sym typeface="Calibri"/>
              </a:rPr>
              <a:t>3. Overlap Between Hate Speech and Toxicity:</a:t>
            </a:r>
            <a:endParaRPr sz="1400">
              <a:solidFill>
                <a:schemeClr val="dk1"/>
              </a:solidFill>
            </a:endParaRPr>
          </a:p>
          <a:p>
            <a:pPr indent="0" lvl="0" marL="0" rtl="0" algn="just">
              <a:lnSpc>
                <a:spcPct val="150000"/>
              </a:lnSpc>
              <a:spcBef>
                <a:spcPts val="0"/>
              </a:spcBef>
              <a:spcAft>
                <a:spcPts val="0"/>
              </a:spcAft>
              <a:buClr>
                <a:schemeClr val="dk1"/>
              </a:buClr>
              <a:buFont typeface="Arial"/>
              <a:buNone/>
            </a:pPr>
            <a:r>
              <a:rPr lang="en-US" sz="1200">
                <a:solidFill>
                  <a:schemeClr val="dk1"/>
                </a:solidFill>
                <a:latin typeface="Calibri"/>
                <a:ea typeface="Calibri"/>
                <a:cs typeface="Calibri"/>
                <a:sym typeface="Calibri"/>
              </a:rPr>
              <a:t>   - If a post contains both hateful targeting of a group and general offensive language, classify it as both (1,1,1).</a:t>
            </a:r>
            <a:endParaRPr sz="1400">
              <a:solidFill>
                <a:schemeClr val="dk1"/>
              </a:solidFill>
            </a:endParaRPr>
          </a:p>
          <a:p>
            <a:pPr indent="0" lvl="0" marL="0" rtl="0" algn="just">
              <a:lnSpc>
                <a:spcPct val="150000"/>
              </a:lnSpc>
              <a:spcBef>
                <a:spcPts val="0"/>
              </a:spcBef>
              <a:spcAft>
                <a:spcPts val="0"/>
              </a:spcAft>
              <a:buClr>
                <a:schemeClr val="dk1"/>
              </a:buClr>
              <a:buFont typeface="Arial"/>
              <a:buNone/>
            </a:pPr>
            <a:r>
              <a:rPr lang="en-US" sz="1200">
                <a:solidFill>
                  <a:schemeClr val="dk1"/>
                </a:solidFill>
                <a:latin typeface="Calibri"/>
                <a:ea typeface="Calibri"/>
                <a:cs typeface="Calibri"/>
                <a:sym typeface="Calibri"/>
              </a:rPr>
              <a:t>   - If a post is only toxic (e.g., personal insults) but not group-targeted, classify it as 0,0,1.</a:t>
            </a:r>
            <a:endParaRPr sz="1400">
              <a:solidFill>
                <a:schemeClr val="dk1"/>
              </a:solidFill>
            </a:endParaRPr>
          </a:p>
          <a:p>
            <a:pPr indent="0" lvl="0" marL="0" rtl="0" algn="just">
              <a:lnSpc>
                <a:spcPct val="150000"/>
              </a:lnSpc>
              <a:spcBef>
                <a:spcPts val="0"/>
              </a:spcBef>
              <a:spcAft>
                <a:spcPts val="0"/>
              </a:spcAft>
              <a:buClr>
                <a:schemeClr val="dk1"/>
              </a:buClr>
              <a:buFont typeface="Arial"/>
              <a:buNone/>
            </a:pPr>
            <a:r>
              <a:rPr lang="en-US" sz="1200">
                <a:solidFill>
                  <a:schemeClr val="dk1"/>
                </a:solidFill>
                <a:latin typeface="Calibri"/>
                <a:ea typeface="Calibri"/>
                <a:cs typeface="Calibri"/>
                <a:sym typeface="Calibri"/>
              </a:rPr>
              <a:t>   - If a post is hateful but not generally toxic, classify it as 0,1,0.</a:t>
            </a:r>
            <a:endParaRPr/>
          </a:p>
        </p:txBody>
      </p:sp>
      <p:sp>
        <p:nvSpPr>
          <p:cNvPr id="311" name="Google Shape;311;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2c6caa09f7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2c6caa09f7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2c6caa09f7_9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2c6caa09f7_9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This slide presents the  testing results of our </a:t>
            </a:r>
            <a:r>
              <a:rPr b="1" lang="en-US">
                <a:solidFill>
                  <a:schemeClr val="dk1"/>
                </a:solidFill>
              </a:rPr>
              <a:t>Unified Model</a:t>
            </a:r>
            <a:r>
              <a:rPr lang="en-US">
                <a:solidFill>
                  <a:schemeClr val="dk1"/>
                </a:solidFill>
              </a:rPr>
              <a:t>, which was evaluated using over </a:t>
            </a:r>
            <a:r>
              <a:rPr b="1" lang="en-US">
                <a:solidFill>
                  <a:schemeClr val="dk1"/>
                </a:solidFill>
              </a:rPr>
              <a:t>70 new datasets</a:t>
            </a:r>
            <a:r>
              <a:rPr lang="en-US">
                <a:solidFill>
                  <a:schemeClr val="dk1"/>
                </a:solidFill>
              </a:rPr>
              <a:t>. The goal was to classify tweets into three categories: </a:t>
            </a:r>
            <a:r>
              <a:rPr b="1" lang="en-US">
                <a:solidFill>
                  <a:schemeClr val="dk1"/>
                </a:solidFill>
              </a:rPr>
              <a:t>Fake News, Hate Speech, and Toxicity</a:t>
            </a:r>
            <a:r>
              <a:rPr lang="en-US">
                <a:solidFill>
                  <a:schemeClr val="dk1"/>
                </a:solidFill>
              </a:rPr>
              <a:t>. Here, I highlight some cases where the model made incorrect predictions.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Dataset Preparation: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I compiled a diverse dataset consisting of </a:t>
            </a:r>
            <a:r>
              <a:rPr b="1" lang="en-US">
                <a:solidFill>
                  <a:schemeClr val="dk1"/>
                </a:solidFill>
              </a:rPr>
              <a:t>fake news, hate speech, toxicity, and neutral tweets</a:t>
            </a:r>
            <a:r>
              <a:rPr lang="en-US">
                <a:solidFill>
                  <a:schemeClr val="dk1"/>
                </a:solidFill>
              </a:rPr>
              <a:t> to challenge the model.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The dataset included </a:t>
            </a:r>
            <a:r>
              <a:rPr b="1" lang="en-US">
                <a:solidFill>
                  <a:schemeClr val="dk1"/>
                </a:solidFill>
              </a:rPr>
              <a:t>misinformation, discriminatory statements, offensive language, and neutral content</a:t>
            </a:r>
            <a:r>
              <a:rPr lang="en-US">
                <a:solidFill>
                  <a:schemeClr val="dk1"/>
                </a:solidFill>
              </a:rPr>
              <a:t> for balanced evaluation.</a:t>
            </a:r>
            <a:endParaRPr>
              <a:solidFill>
                <a:schemeClr val="dk1"/>
              </a:solidFill>
            </a:endParaRPr>
          </a:p>
          <a:p>
            <a:pPr indent="0" lvl="0" marL="0" rtl="0" algn="l">
              <a:lnSpc>
                <a:spcPct val="115000"/>
              </a:lnSpc>
              <a:spcBef>
                <a:spcPts val="1200"/>
              </a:spcBef>
              <a:spcAft>
                <a:spcPts val="0"/>
              </a:spcAft>
              <a:buNone/>
            </a:pPr>
            <a:r>
              <a:rPr b="1" lang="en-US">
                <a:solidFill>
                  <a:schemeClr val="dk1"/>
                </a:solidFill>
              </a:rPr>
              <a:t>Testing Method:</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Each tweet was manually analyzed to determine its </a:t>
            </a:r>
            <a:r>
              <a:rPr b="1" lang="en-US">
                <a:solidFill>
                  <a:schemeClr val="dk1"/>
                </a:solidFill>
              </a:rPr>
              <a:t>ground truth label</a:t>
            </a:r>
            <a:r>
              <a:rPr lang="en-US">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The model’s predictions were then compared against the expected results.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Incorrect classifications were </a:t>
            </a:r>
            <a:r>
              <a:rPr b="1" lang="en-US">
                <a:solidFill>
                  <a:schemeClr val="dk1"/>
                </a:solidFill>
              </a:rPr>
              <a:t>highlighted for further analysis</a:t>
            </a:r>
            <a:r>
              <a:rPr lang="en-US">
                <a:solidFill>
                  <a:schemeClr val="dk1"/>
                </a:solidFill>
              </a:rPr>
              <a:t>.</a:t>
            </a:r>
            <a:endParaRPr>
              <a:solidFill>
                <a:schemeClr val="dk1"/>
              </a:solidFill>
            </a:endParaRPr>
          </a:p>
          <a:p>
            <a:pPr indent="0" lvl="0" marL="0" rtl="0" algn="l">
              <a:lnSpc>
                <a:spcPct val="115000"/>
              </a:lnSpc>
              <a:spcBef>
                <a:spcPts val="1200"/>
              </a:spcBef>
              <a:spcAft>
                <a:spcPts val="0"/>
              </a:spcAft>
              <a:buNone/>
            </a:pPr>
            <a:r>
              <a:rPr b="1" lang="en-US">
                <a:solidFill>
                  <a:schemeClr val="dk1"/>
                </a:solidFill>
              </a:rPr>
              <a:t>Observations:</a:t>
            </a:r>
            <a:endParaRPr b="1">
              <a:solidFill>
                <a:schemeClr val="dk1"/>
              </a:solidFill>
            </a:endParaRPr>
          </a:p>
          <a:p>
            <a:pPr indent="-228600" lvl="0" marL="457200" rtl="0" algn="l">
              <a:lnSpc>
                <a:spcPct val="115000"/>
              </a:lnSpc>
              <a:spcBef>
                <a:spcPts val="1200"/>
              </a:spcBef>
              <a:spcAft>
                <a:spcPts val="0"/>
              </a:spcAft>
              <a:buNone/>
            </a:pPr>
            <a:r>
              <a:rPr b="1" lang="en-US">
                <a:solidFill>
                  <a:schemeClr val="dk1"/>
                </a:solidFill>
              </a:rPr>
              <a:t>Incorrect Prediction:</a:t>
            </a:r>
            <a:r>
              <a:rPr lang="en-US">
                <a:solidFill>
                  <a:schemeClr val="dk1"/>
                </a:solidFill>
              </a:rPr>
              <a:t> Not classified as toxic.</a:t>
            </a:r>
            <a:endParaRPr>
              <a:solidFill>
                <a:schemeClr val="dk1"/>
              </a:solidFill>
            </a:endParaRPr>
          </a:p>
          <a:p>
            <a:pPr indent="-228600" lvl="0" marL="457200" rtl="0" algn="l">
              <a:lnSpc>
                <a:spcPct val="115000"/>
              </a:lnSpc>
              <a:spcBef>
                <a:spcPts val="1200"/>
              </a:spcBef>
              <a:spcAft>
                <a:spcPts val="0"/>
              </a:spcAft>
              <a:buNone/>
            </a:pPr>
            <a:r>
              <a:rPr b="1" lang="en-US">
                <a:solidFill>
                  <a:schemeClr val="dk1"/>
                </a:solidFill>
              </a:rPr>
              <a:t>Expected Classification:</a:t>
            </a:r>
            <a:r>
              <a:rPr lang="en-US">
                <a:solidFill>
                  <a:schemeClr val="dk1"/>
                </a:solidFill>
              </a:rPr>
              <a:t> Toxic.</a:t>
            </a:r>
            <a:endParaRPr>
              <a:solidFill>
                <a:schemeClr val="dk1"/>
              </a:solidFill>
            </a:endParaRPr>
          </a:p>
          <a:p>
            <a:pPr indent="-228600" lvl="0" marL="457200" rtl="0" algn="l">
              <a:lnSpc>
                <a:spcPct val="115000"/>
              </a:lnSpc>
              <a:spcBef>
                <a:spcPts val="1200"/>
              </a:spcBef>
              <a:spcAft>
                <a:spcPts val="0"/>
              </a:spcAft>
              <a:buNone/>
            </a:pPr>
            <a:r>
              <a:rPr b="1" lang="en-US">
                <a:solidFill>
                  <a:schemeClr val="dk1"/>
                </a:solidFill>
              </a:rPr>
              <a:t>Issue: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This tweet contains </a:t>
            </a:r>
            <a:r>
              <a:rPr b="1" lang="en-US">
                <a:solidFill>
                  <a:schemeClr val="dk1"/>
                </a:solidFill>
              </a:rPr>
              <a:t>a negative and blaming statement</a:t>
            </a:r>
            <a:r>
              <a:rPr lang="en-US">
                <a:solidFill>
                  <a:schemeClr val="dk1"/>
                </a:solidFill>
              </a:rPr>
              <a:t>, which can be </a:t>
            </a:r>
            <a:r>
              <a:rPr b="1" lang="en-US">
                <a:solidFill>
                  <a:schemeClr val="dk1"/>
                </a:solidFill>
              </a:rPr>
              <a:t>discouraging or harmful</a:t>
            </a:r>
            <a:r>
              <a:rPr lang="en-US">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It </a:t>
            </a:r>
            <a:r>
              <a:rPr b="1" lang="en-US">
                <a:solidFill>
                  <a:schemeClr val="dk1"/>
                </a:solidFill>
              </a:rPr>
              <a:t>directly criticizes</a:t>
            </a:r>
            <a:r>
              <a:rPr lang="en-US">
                <a:solidFill>
                  <a:schemeClr val="dk1"/>
                </a:solidFill>
              </a:rPr>
              <a:t> someone’s ideas in a </a:t>
            </a:r>
            <a:r>
              <a:rPr b="1" lang="en-US">
                <a:solidFill>
                  <a:schemeClr val="dk1"/>
                </a:solidFill>
              </a:rPr>
              <a:t>demeaning</a:t>
            </a:r>
            <a:r>
              <a:rPr lang="en-US">
                <a:solidFill>
                  <a:schemeClr val="dk1"/>
                </a:solidFill>
              </a:rPr>
              <a:t> way.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The model failed to detect this </a:t>
            </a:r>
            <a:r>
              <a:rPr b="1" lang="en-US">
                <a:solidFill>
                  <a:schemeClr val="dk1"/>
                </a:solidFill>
              </a:rPr>
              <a:t>subtle but harmful</a:t>
            </a:r>
            <a:r>
              <a:rPr lang="en-US">
                <a:solidFill>
                  <a:schemeClr val="dk1"/>
                </a:solidFill>
              </a:rPr>
              <a:t> form of toxicity.</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2. </a:t>
            </a:r>
            <a:r>
              <a:rPr b="1" lang="en-US">
                <a:solidFill>
                  <a:schemeClr val="dk1"/>
                </a:solidFill>
              </a:rPr>
              <a:t>Incorrect Prediction:</a:t>
            </a:r>
            <a:r>
              <a:rPr lang="en-US">
                <a:solidFill>
                  <a:schemeClr val="dk1"/>
                </a:solidFill>
              </a:rPr>
              <a:t> Fake News.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Expected Classification:</a:t>
            </a:r>
            <a:r>
              <a:rPr lang="en-US">
                <a:solidFill>
                  <a:schemeClr val="dk1"/>
                </a:solidFill>
              </a:rPr>
              <a:t> Hate Speech &amp; Toxicity.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Issue: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This tweet does </a:t>
            </a:r>
            <a:r>
              <a:rPr b="1" lang="en-US">
                <a:solidFill>
                  <a:schemeClr val="dk1"/>
                </a:solidFill>
              </a:rPr>
              <a:t>not contain false information</a:t>
            </a:r>
            <a:r>
              <a:rPr lang="en-US">
                <a:solidFill>
                  <a:schemeClr val="dk1"/>
                </a:solidFill>
              </a:rPr>
              <a:t>, so it should </a:t>
            </a:r>
            <a:r>
              <a:rPr b="1" lang="en-US">
                <a:solidFill>
                  <a:schemeClr val="dk1"/>
                </a:solidFill>
              </a:rPr>
              <a:t>not</a:t>
            </a:r>
            <a:r>
              <a:rPr lang="en-US">
                <a:solidFill>
                  <a:schemeClr val="dk1"/>
                </a:solidFill>
              </a:rPr>
              <a:t> be classified as Fake News.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Instead, it </a:t>
            </a:r>
            <a:r>
              <a:rPr b="1" lang="en-US">
                <a:solidFill>
                  <a:schemeClr val="dk1"/>
                </a:solidFill>
              </a:rPr>
              <a:t>uses toxic and hateful language</a:t>
            </a:r>
            <a:r>
              <a:rPr lang="en-US">
                <a:solidFill>
                  <a:schemeClr val="dk1"/>
                </a:solidFill>
              </a:rPr>
              <a:t>, calling a </a:t>
            </a:r>
            <a:r>
              <a:rPr b="1" lang="en-US">
                <a:solidFill>
                  <a:schemeClr val="dk1"/>
                </a:solidFill>
              </a:rPr>
              <a:t>political group "idiots"</a:t>
            </a:r>
            <a:r>
              <a:rPr lang="en-US">
                <a:solidFill>
                  <a:schemeClr val="dk1"/>
                </a:solidFill>
              </a:rPr>
              <a:t> and suggesting they should be </a:t>
            </a:r>
            <a:r>
              <a:rPr b="1" lang="en-US">
                <a:solidFill>
                  <a:schemeClr val="dk1"/>
                </a:solidFill>
              </a:rPr>
              <a:t>jailed</a:t>
            </a:r>
            <a:r>
              <a:rPr lang="en-US">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This constitutes </a:t>
            </a:r>
            <a:r>
              <a:rPr b="1" lang="en-US">
                <a:solidFill>
                  <a:schemeClr val="dk1"/>
                </a:solidFill>
              </a:rPr>
              <a:t>Hate Speech</a:t>
            </a:r>
            <a:r>
              <a:rPr lang="en-US">
                <a:solidFill>
                  <a:schemeClr val="dk1"/>
                </a:solidFill>
              </a:rPr>
              <a:t> rather than misinformation.</a:t>
            </a:r>
            <a:endParaRPr>
              <a:solidFill>
                <a:schemeClr val="dk1"/>
              </a:solidFill>
            </a:endParaRPr>
          </a:p>
          <a:p>
            <a:pPr indent="0" lvl="0" marL="0" rtl="0" algn="l">
              <a:lnSpc>
                <a:spcPct val="115000"/>
              </a:lnSpc>
              <a:spcBef>
                <a:spcPts val="1200"/>
              </a:spcBef>
              <a:spcAft>
                <a:spcPts val="0"/>
              </a:spcAft>
              <a:buNone/>
            </a:pPr>
            <a:r>
              <a:rPr b="1" lang="en-US">
                <a:solidFill>
                  <a:schemeClr val="dk1"/>
                </a:solidFill>
              </a:rPr>
              <a:t>The Unified Model performs well overall, but some misclassifications highlight the need for improvement.</a:t>
            </a:r>
            <a:endParaRPr b="1">
              <a:solidFill>
                <a:schemeClr val="dk1"/>
              </a:solidFill>
            </a:endParaRPr>
          </a:p>
          <a:p>
            <a:pPr indent="0" lvl="0" marL="0" rtl="0" algn="l">
              <a:lnSpc>
                <a:spcPct val="115000"/>
              </a:lnSpc>
              <a:spcBef>
                <a:spcPts val="1200"/>
              </a:spcBef>
              <a:spcAft>
                <a:spcPts val="0"/>
              </a:spcAft>
              <a:buNone/>
            </a:pPr>
            <a:r>
              <a:rPr b="1" lang="en-US">
                <a:solidFill>
                  <a:schemeClr val="dk1"/>
                </a:solidFill>
              </a:rPr>
              <a:t>The model failed to detect toxicity in subtle criticism and incorrectly labeled hate speech as fake news.</a:t>
            </a:r>
            <a:endParaRPr b="1">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2c6caa09f7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2c6caa09f7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This slide presents the evaluation results of different models  for </a:t>
            </a:r>
            <a:r>
              <a:rPr b="1" lang="en-US">
                <a:solidFill>
                  <a:schemeClr val="dk1"/>
                </a:solidFill>
              </a:rPr>
              <a:t>Fake News, Hate Speech, and Toxicity detection</a:t>
            </a:r>
            <a:r>
              <a:rPr lang="en-US">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Single-Task Models</a:t>
            </a:r>
            <a:r>
              <a:rPr lang="en-US">
                <a:solidFill>
                  <a:schemeClr val="dk1"/>
                </a:solidFill>
              </a:rPr>
              <a:t> – Specialized for one task at a time. </a:t>
            </a:r>
            <a:r>
              <a:rPr b="1" lang="en-US">
                <a:solidFill>
                  <a:schemeClr val="dk1"/>
                </a:solidFill>
              </a:rPr>
              <a:t>Single-Task Models</a:t>
            </a:r>
            <a:r>
              <a:rPr lang="en-US">
                <a:solidFill>
                  <a:schemeClr val="dk1"/>
                </a:solidFill>
              </a:rPr>
              <a:t> achieve the highest accuracy in </a:t>
            </a:r>
            <a:r>
              <a:rPr b="1" lang="en-US">
                <a:solidFill>
                  <a:schemeClr val="dk1"/>
                </a:solidFill>
              </a:rPr>
              <a:t>Fake News detection (91.1%)</a:t>
            </a:r>
            <a:r>
              <a:rPr lang="en-US">
                <a:solidFill>
                  <a:schemeClr val="dk1"/>
                </a:solidFill>
              </a:rPr>
              <a:t>, making them the best choice for precision-focused applications.This model perform best when focusing on </a:t>
            </a:r>
            <a:r>
              <a:rPr b="1" lang="en-US">
                <a:solidFill>
                  <a:schemeClr val="dk1"/>
                </a:solidFill>
              </a:rPr>
              <a:t>one task at a time</a:t>
            </a:r>
            <a:r>
              <a:rPr lang="en-US">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Multi-Task Models</a:t>
            </a:r>
            <a:r>
              <a:rPr lang="en-US">
                <a:solidFill>
                  <a:schemeClr val="dk1"/>
                </a:solidFill>
              </a:rPr>
              <a:t> – Handle multiple tasks simultaneously. </a:t>
            </a:r>
            <a:r>
              <a:rPr b="1" lang="en-US">
                <a:solidFill>
                  <a:schemeClr val="dk1"/>
                </a:solidFill>
              </a:rPr>
              <a:t>Multi-Task Models</a:t>
            </a:r>
            <a:r>
              <a:rPr lang="en-US">
                <a:solidFill>
                  <a:schemeClr val="dk1"/>
                </a:solidFill>
              </a:rPr>
              <a:t> provide a balanced trade-off, reaching </a:t>
            </a:r>
            <a:r>
              <a:rPr b="1" lang="en-US">
                <a:solidFill>
                  <a:schemeClr val="dk1"/>
                </a:solidFill>
              </a:rPr>
              <a:t>85% Fake News accuracy</a:t>
            </a:r>
            <a:r>
              <a:rPr lang="en-US">
                <a:solidFill>
                  <a:schemeClr val="dk1"/>
                </a:solidFill>
              </a:rPr>
              <a:t>, while excelling in </a:t>
            </a:r>
            <a:r>
              <a:rPr b="1" lang="en-US">
                <a:solidFill>
                  <a:schemeClr val="dk1"/>
                </a:solidFill>
              </a:rPr>
              <a:t>Toxicity detection (91%)</a:t>
            </a:r>
            <a:r>
              <a:rPr lang="en-US">
                <a:solidFill>
                  <a:schemeClr val="dk1"/>
                </a:solidFill>
              </a:rPr>
              <a:t>, making them more efficient for broader classification tasks.The performance of the model is </a:t>
            </a:r>
            <a:r>
              <a:rPr b="1" lang="en-US">
                <a:solidFill>
                  <a:schemeClr val="dk1"/>
                </a:solidFill>
              </a:rPr>
              <a:t>well across all tasks</a:t>
            </a:r>
            <a:r>
              <a:rPr lang="en-US">
                <a:solidFill>
                  <a:schemeClr val="dk1"/>
                </a:solidFill>
              </a:rPr>
              <a:t>, especially </a:t>
            </a:r>
            <a:r>
              <a:rPr b="1" lang="en-US">
                <a:solidFill>
                  <a:schemeClr val="dk1"/>
                </a:solidFill>
              </a:rPr>
              <a:t>Toxicity detection (91%)</a:t>
            </a:r>
            <a:r>
              <a:rPr lang="en-US">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Prompting-Based Models</a:t>
            </a:r>
            <a:r>
              <a:rPr lang="en-US">
                <a:solidFill>
                  <a:schemeClr val="dk1"/>
                </a:solidFill>
              </a:rPr>
              <a:t> underperform in Fake News detection </a:t>
            </a:r>
            <a:r>
              <a:rPr b="1" lang="en-US">
                <a:solidFill>
                  <a:schemeClr val="dk1"/>
                </a:solidFill>
              </a:rPr>
              <a:t>(59%)</a:t>
            </a:r>
            <a:r>
              <a:rPr lang="en-US">
                <a:solidFill>
                  <a:schemeClr val="dk1"/>
                </a:solidFill>
              </a:rPr>
              <a:t>, though they remain competitive in </a:t>
            </a:r>
            <a:r>
              <a:rPr b="1" lang="en-US">
                <a:solidFill>
                  <a:schemeClr val="dk1"/>
                </a:solidFill>
              </a:rPr>
              <a:t>Hate Speech (79%)</a:t>
            </a:r>
            <a:r>
              <a:rPr lang="en-US">
                <a:solidFill>
                  <a:schemeClr val="dk1"/>
                </a:solidFill>
              </a:rPr>
              <a:t> and </a:t>
            </a:r>
            <a:r>
              <a:rPr b="1" lang="en-US">
                <a:solidFill>
                  <a:schemeClr val="dk1"/>
                </a:solidFill>
              </a:rPr>
              <a:t>Toxicity (78%)</a:t>
            </a:r>
            <a:r>
              <a:rPr lang="en-US">
                <a:solidFill>
                  <a:schemeClr val="dk1"/>
                </a:solidFill>
              </a:rPr>
              <a:t>, highlighting the need for fine-tuning. Performs better in </a:t>
            </a:r>
            <a:r>
              <a:rPr b="1" lang="en-US">
                <a:solidFill>
                  <a:schemeClr val="dk1"/>
                </a:solidFill>
              </a:rPr>
              <a:t>Hate Speech detection (79%)</a:t>
            </a:r>
            <a:r>
              <a:rPr lang="en-US">
                <a:solidFill>
                  <a:schemeClr val="dk1"/>
                </a:solidFill>
              </a:rPr>
              <a:t> but still needs fine-tuning.</a:t>
            </a:r>
            <a:endParaRPr/>
          </a:p>
        </p:txBody>
      </p:sp>
      <p:sp>
        <p:nvSpPr>
          <p:cNvPr id="345" name="Google Shape;34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slide compares the performance of three different models across three tasks: </a:t>
            </a:r>
            <a:r>
              <a:rPr b="1" lang="en-US">
                <a:solidFill>
                  <a:schemeClr val="dk1"/>
                </a:solidFill>
              </a:rPr>
              <a:t>Fake News detection, Hate Speech detection, and Toxicity detection</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models being compared are: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Best Single-Task Model</a:t>
            </a:r>
            <a:r>
              <a:rPr lang="en-US">
                <a:solidFill>
                  <a:schemeClr val="dk1"/>
                </a:solidFill>
              </a:rPr>
              <a:t> (Blue) – Trained for one task at a time.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Best Multi-Task Model (Unified BERT)</a:t>
            </a:r>
            <a:r>
              <a:rPr lang="en-US">
                <a:solidFill>
                  <a:schemeClr val="dk1"/>
                </a:solidFill>
              </a:rPr>
              <a:t> (Orange) – Trained for multiple tasks together.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Best Prompting-Based Model (GPT-4o mini)</a:t>
            </a:r>
            <a:r>
              <a:rPr lang="en-US">
                <a:solidFill>
                  <a:schemeClr val="dk1"/>
                </a:solidFill>
              </a:rPr>
              <a:t> (Green) – Uses AI prompting instead of task-specific training.</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Now, let's analyze their performance.</a:t>
            </a:r>
            <a:endParaRPr>
              <a:solidFill>
                <a:schemeClr val="dk1"/>
              </a:solidFill>
            </a:endParaRPr>
          </a:p>
          <a:p>
            <a:pPr indent="0" lvl="0" marL="0" rtl="0" algn="l">
              <a:lnSpc>
                <a:spcPct val="115000"/>
              </a:lnSpc>
              <a:spcBef>
                <a:spcPts val="1800"/>
              </a:spcBef>
              <a:spcAft>
                <a:spcPts val="0"/>
              </a:spcAft>
              <a:buNone/>
            </a:pPr>
            <a:r>
              <a:rPr b="1" lang="en-US" sz="1700">
                <a:solidFill>
                  <a:schemeClr val="dk1"/>
                </a:solidFill>
              </a:rPr>
              <a:t>1. Fake News Detection:</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The </a:t>
            </a:r>
            <a:r>
              <a:rPr b="1" lang="en-US">
                <a:solidFill>
                  <a:schemeClr val="dk1"/>
                </a:solidFill>
              </a:rPr>
              <a:t>Single-Task Model performs the best</a:t>
            </a:r>
            <a:r>
              <a:rPr lang="en-US">
                <a:solidFill>
                  <a:schemeClr val="dk1"/>
                </a:solidFill>
              </a:rPr>
              <a:t> with </a:t>
            </a:r>
            <a:r>
              <a:rPr b="1" lang="en-US">
                <a:solidFill>
                  <a:schemeClr val="dk1"/>
                </a:solidFill>
              </a:rPr>
              <a:t>91.1% accuracy</a:t>
            </a:r>
            <a:r>
              <a:rPr lang="en-US">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The </a:t>
            </a:r>
            <a:r>
              <a:rPr b="1" lang="en-US">
                <a:solidFill>
                  <a:schemeClr val="dk1"/>
                </a:solidFill>
              </a:rPr>
              <a:t>Multi-Task Model follows</a:t>
            </a:r>
            <a:r>
              <a:rPr lang="en-US">
                <a:solidFill>
                  <a:schemeClr val="dk1"/>
                </a:solidFill>
              </a:rPr>
              <a:t> closely at </a:t>
            </a:r>
            <a:r>
              <a:rPr b="1" lang="en-US">
                <a:solidFill>
                  <a:schemeClr val="dk1"/>
                </a:solidFill>
              </a:rPr>
              <a:t>85%</a:t>
            </a:r>
            <a:r>
              <a:rPr lang="en-US">
                <a:solidFill>
                  <a:schemeClr val="dk1"/>
                </a:solidFill>
              </a:rPr>
              <a:t>, still performing well.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The </a:t>
            </a:r>
            <a:r>
              <a:rPr b="1" lang="en-US">
                <a:solidFill>
                  <a:schemeClr val="dk1"/>
                </a:solidFill>
              </a:rPr>
              <a:t>Prompting-Based Model struggles</a:t>
            </a:r>
            <a:r>
              <a:rPr lang="en-US">
                <a:solidFill>
                  <a:schemeClr val="dk1"/>
                </a:solidFill>
              </a:rPr>
              <a:t>, achieving only </a:t>
            </a:r>
            <a:r>
              <a:rPr b="1" lang="en-US">
                <a:solidFill>
                  <a:schemeClr val="dk1"/>
                </a:solidFill>
              </a:rPr>
              <a:t>59% accuracy</a:t>
            </a:r>
            <a:r>
              <a:rPr lang="en-US">
                <a:solidFill>
                  <a:schemeClr val="dk1"/>
                </a:solidFill>
              </a:rPr>
              <a:t>, showing that it needs more training for Fake News detection.</a:t>
            </a:r>
            <a:endParaRPr>
              <a:solidFill>
                <a:schemeClr val="dk1"/>
              </a:solidFill>
            </a:endParaRPr>
          </a:p>
          <a:p>
            <a:pPr indent="0" lvl="0" marL="0" rtl="0" algn="l">
              <a:lnSpc>
                <a:spcPct val="115000"/>
              </a:lnSpc>
              <a:spcBef>
                <a:spcPts val="1800"/>
              </a:spcBef>
              <a:spcAft>
                <a:spcPts val="0"/>
              </a:spcAft>
              <a:buNone/>
            </a:pPr>
            <a:r>
              <a:rPr b="1" lang="en-US" sz="1700">
                <a:solidFill>
                  <a:schemeClr val="dk1"/>
                </a:solidFill>
              </a:rPr>
              <a:t>2. Hate Speech Detection:</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The </a:t>
            </a:r>
            <a:r>
              <a:rPr b="1" lang="en-US">
                <a:solidFill>
                  <a:schemeClr val="dk1"/>
                </a:solidFill>
              </a:rPr>
              <a:t>Single-Task Model achieves 78.1% accuracy</a:t>
            </a:r>
            <a:r>
              <a:rPr lang="en-US">
                <a:solidFill>
                  <a:schemeClr val="dk1"/>
                </a:solidFill>
              </a:rPr>
              <a:t>, which is good.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The </a:t>
            </a:r>
            <a:r>
              <a:rPr b="1" lang="en-US">
                <a:solidFill>
                  <a:schemeClr val="dk1"/>
                </a:solidFill>
              </a:rPr>
              <a:t>Multi-Task Model is slightly lower at 76%</a:t>
            </a:r>
            <a:r>
              <a:rPr lang="en-US">
                <a:solidFill>
                  <a:schemeClr val="dk1"/>
                </a:solidFill>
              </a:rPr>
              <a:t>, meaning it's close in performance.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Interestingly, the </a:t>
            </a:r>
            <a:r>
              <a:rPr b="1" lang="en-US">
                <a:solidFill>
                  <a:schemeClr val="dk1"/>
                </a:solidFill>
              </a:rPr>
              <a:t>Prompting-Based Model does slightly better at 79%</a:t>
            </a:r>
            <a:r>
              <a:rPr lang="en-US">
                <a:solidFill>
                  <a:schemeClr val="dk1"/>
                </a:solidFill>
              </a:rPr>
              <a:t>.</a:t>
            </a:r>
            <a:endParaRPr>
              <a:solidFill>
                <a:schemeClr val="dk1"/>
              </a:solidFill>
            </a:endParaRPr>
          </a:p>
          <a:p>
            <a:pPr indent="0" lvl="0" marL="0" rtl="0" algn="l">
              <a:lnSpc>
                <a:spcPct val="115000"/>
              </a:lnSpc>
              <a:spcBef>
                <a:spcPts val="1800"/>
              </a:spcBef>
              <a:spcAft>
                <a:spcPts val="0"/>
              </a:spcAft>
              <a:buNone/>
            </a:pPr>
            <a:r>
              <a:rPr b="1" lang="en-US" sz="1700">
                <a:solidFill>
                  <a:schemeClr val="dk1"/>
                </a:solidFill>
              </a:rPr>
              <a:t>3. Toxicity Detection:</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The </a:t>
            </a:r>
            <a:r>
              <a:rPr b="1" lang="en-US">
                <a:solidFill>
                  <a:schemeClr val="dk1"/>
                </a:solidFill>
              </a:rPr>
              <a:t>Multi-Task Model performs the best</a:t>
            </a:r>
            <a:r>
              <a:rPr lang="en-US">
                <a:solidFill>
                  <a:schemeClr val="dk1"/>
                </a:solidFill>
              </a:rPr>
              <a:t> at </a:t>
            </a:r>
            <a:r>
              <a:rPr b="1" lang="en-US">
                <a:solidFill>
                  <a:schemeClr val="dk1"/>
                </a:solidFill>
              </a:rPr>
              <a:t>91% accuracy</a:t>
            </a:r>
            <a:r>
              <a:rPr lang="en-US">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The </a:t>
            </a:r>
            <a:r>
              <a:rPr b="1" lang="en-US">
                <a:solidFill>
                  <a:schemeClr val="dk1"/>
                </a:solidFill>
              </a:rPr>
              <a:t>Single-Task Model is close behind at 88%</a:t>
            </a:r>
            <a:r>
              <a:rPr lang="en-US">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The </a:t>
            </a:r>
            <a:r>
              <a:rPr b="1" lang="en-US">
                <a:solidFill>
                  <a:schemeClr val="dk1"/>
                </a:solidFill>
              </a:rPr>
              <a:t>Prompting-Based Model is the weakest in this category, with 78% accuracy</a:t>
            </a:r>
            <a:r>
              <a:rPr lang="en-US">
                <a:solidFill>
                  <a:schemeClr val="dk1"/>
                </a:solidFill>
              </a:rPr>
              <a: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
        <p:nvSpPr>
          <p:cNvPr id="353" name="Google Shape;353;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This slide shows a </a:t>
            </a:r>
            <a:r>
              <a:rPr b="1" lang="en-US">
                <a:solidFill>
                  <a:schemeClr val="dk1"/>
                </a:solidFill>
              </a:rPr>
              <a:t>heatmap comparing the accuracy</a:t>
            </a:r>
            <a:r>
              <a:rPr lang="en-US">
                <a:solidFill>
                  <a:schemeClr val="dk1"/>
                </a:solidFill>
              </a:rPr>
              <a:t> of three different models across three tasks: </a:t>
            </a:r>
            <a:r>
              <a:rPr b="1" lang="en-US">
                <a:solidFill>
                  <a:schemeClr val="dk1"/>
                </a:solidFill>
              </a:rPr>
              <a:t>Fake News Detection, Hate Speech Detection, and Toxicity Detection</a:t>
            </a:r>
            <a:r>
              <a:rPr lang="en-US">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US" sz="1700">
                <a:solidFill>
                  <a:schemeClr val="dk1"/>
                </a:solidFill>
              </a:rPr>
              <a:t> Fake News Detection:</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The </a:t>
            </a:r>
            <a:r>
              <a:rPr b="1" lang="en-US">
                <a:solidFill>
                  <a:schemeClr val="dk1"/>
                </a:solidFill>
              </a:rPr>
              <a:t>Single-Task Model performs the best</a:t>
            </a:r>
            <a:r>
              <a:rPr lang="en-US">
                <a:solidFill>
                  <a:schemeClr val="dk1"/>
                </a:solidFill>
              </a:rPr>
              <a:t> with </a:t>
            </a:r>
            <a:r>
              <a:rPr b="1" lang="en-US">
                <a:solidFill>
                  <a:schemeClr val="dk1"/>
                </a:solidFill>
              </a:rPr>
              <a:t>91.1% accuracy</a:t>
            </a:r>
            <a:r>
              <a:rPr lang="en-US">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The </a:t>
            </a:r>
            <a:r>
              <a:rPr b="1" lang="en-US">
                <a:solidFill>
                  <a:schemeClr val="dk1"/>
                </a:solidFill>
              </a:rPr>
              <a:t>Multi-Task Model is slightly lower</a:t>
            </a:r>
            <a:r>
              <a:rPr lang="en-US">
                <a:solidFill>
                  <a:schemeClr val="dk1"/>
                </a:solidFill>
              </a:rPr>
              <a:t> at </a:t>
            </a:r>
            <a:r>
              <a:rPr b="1" lang="en-US">
                <a:solidFill>
                  <a:schemeClr val="dk1"/>
                </a:solidFill>
              </a:rPr>
              <a:t>85%</a:t>
            </a:r>
            <a:r>
              <a:rPr lang="en-US">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The </a:t>
            </a:r>
            <a:r>
              <a:rPr b="1" lang="en-US">
                <a:solidFill>
                  <a:schemeClr val="dk1"/>
                </a:solidFill>
              </a:rPr>
              <a:t>Prompting-Based Model struggles</a:t>
            </a:r>
            <a:r>
              <a:rPr lang="en-US">
                <a:solidFill>
                  <a:schemeClr val="dk1"/>
                </a:solidFill>
              </a:rPr>
              <a:t>, achieving only </a:t>
            </a:r>
            <a:r>
              <a:rPr b="1" lang="en-US">
                <a:solidFill>
                  <a:schemeClr val="dk1"/>
                </a:solidFill>
              </a:rPr>
              <a:t>59% accuracy</a:t>
            </a:r>
            <a:r>
              <a:rPr lang="en-US">
                <a:solidFill>
                  <a:schemeClr val="dk1"/>
                </a:solidFill>
              </a:rPr>
              <a:t>.</a:t>
            </a:r>
            <a:endParaRPr>
              <a:solidFill>
                <a:schemeClr val="dk1"/>
              </a:solidFill>
            </a:endParaRPr>
          </a:p>
          <a:p>
            <a:pPr indent="0" lvl="0" marL="0" rtl="0" algn="l">
              <a:lnSpc>
                <a:spcPct val="115000"/>
              </a:lnSpc>
              <a:spcBef>
                <a:spcPts val="1800"/>
              </a:spcBef>
              <a:spcAft>
                <a:spcPts val="0"/>
              </a:spcAft>
              <a:buNone/>
            </a:pPr>
            <a:r>
              <a:rPr b="1" lang="en-US" sz="1700">
                <a:solidFill>
                  <a:schemeClr val="dk1"/>
                </a:solidFill>
              </a:rPr>
              <a:t>2. Hate Speech Detection:</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The </a:t>
            </a:r>
            <a:r>
              <a:rPr b="1" lang="en-US">
                <a:solidFill>
                  <a:schemeClr val="dk1"/>
                </a:solidFill>
              </a:rPr>
              <a:t>Single-Task Model achieves 78.1% accuracy</a:t>
            </a:r>
            <a:r>
              <a:rPr lang="en-US">
                <a:solidFill>
                  <a:schemeClr val="dk1"/>
                </a:solidFill>
              </a:rPr>
              <a:t>, making it a strong performer.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The </a:t>
            </a:r>
            <a:r>
              <a:rPr b="1" lang="en-US">
                <a:solidFill>
                  <a:schemeClr val="dk1"/>
                </a:solidFill>
              </a:rPr>
              <a:t>Multi-Task Model is slightly lower at 76%</a:t>
            </a:r>
            <a:r>
              <a:rPr lang="en-US">
                <a:solidFill>
                  <a:schemeClr val="dk1"/>
                </a:solidFill>
              </a:rPr>
              <a:t>, but still close.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The </a:t>
            </a:r>
            <a:r>
              <a:rPr b="1" lang="en-US">
                <a:solidFill>
                  <a:schemeClr val="dk1"/>
                </a:solidFill>
              </a:rPr>
              <a:t>Prompting-Based Model performs the best</a:t>
            </a:r>
            <a:r>
              <a:rPr lang="en-US">
                <a:solidFill>
                  <a:schemeClr val="dk1"/>
                </a:solidFill>
              </a:rPr>
              <a:t> in this task with </a:t>
            </a:r>
            <a:r>
              <a:rPr b="1" lang="en-US">
                <a:solidFill>
                  <a:schemeClr val="dk1"/>
                </a:solidFill>
              </a:rPr>
              <a:t>79% accuracy</a:t>
            </a:r>
            <a:r>
              <a:rPr lang="en-US">
                <a:solidFill>
                  <a:schemeClr val="dk1"/>
                </a:solidFill>
              </a:rPr>
              <a:t>.</a:t>
            </a:r>
            <a:endParaRPr>
              <a:solidFill>
                <a:schemeClr val="dk1"/>
              </a:solidFill>
            </a:endParaRPr>
          </a:p>
          <a:p>
            <a:pPr indent="0" lvl="0" marL="0" rtl="0" algn="l">
              <a:lnSpc>
                <a:spcPct val="115000"/>
              </a:lnSpc>
              <a:spcBef>
                <a:spcPts val="1800"/>
              </a:spcBef>
              <a:spcAft>
                <a:spcPts val="0"/>
              </a:spcAft>
              <a:buNone/>
            </a:pPr>
            <a:r>
              <a:rPr b="1" lang="en-US" sz="1700">
                <a:solidFill>
                  <a:schemeClr val="dk1"/>
                </a:solidFill>
              </a:rPr>
              <a:t> 3. Toxicity Detection:</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The </a:t>
            </a:r>
            <a:r>
              <a:rPr b="1" lang="en-US">
                <a:solidFill>
                  <a:schemeClr val="dk1"/>
                </a:solidFill>
              </a:rPr>
              <a:t>Multi-Task Model is the best</a:t>
            </a:r>
            <a:r>
              <a:rPr lang="en-US">
                <a:solidFill>
                  <a:schemeClr val="dk1"/>
                </a:solidFill>
              </a:rPr>
              <a:t>, with </a:t>
            </a:r>
            <a:r>
              <a:rPr b="1" lang="en-US">
                <a:solidFill>
                  <a:schemeClr val="dk1"/>
                </a:solidFill>
              </a:rPr>
              <a:t>91% accuracy</a:t>
            </a:r>
            <a:r>
              <a:rPr lang="en-US">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The </a:t>
            </a:r>
            <a:r>
              <a:rPr b="1" lang="en-US">
                <a:solidFill>
                  <a:schemeClr val="dk1"/>
                </a:solidFill>
              </a:rPr>
              <a:t>Single-Task Model is slightly behind at 88%</a:t>
            </a:r>
            <a:r>
              <a:rPr lang="en-US">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The </a:t>
            </a:r>
            <a:r>
              <a:rPr b="1" lang="en-US">
                <a:solidFill>
                  <a:schemeClr val="dk1"/>
                </a:solidFill>
              </a:rPr>
              <a:t>Prompting-Based Model is the lowest in this category, with 78% accuracy</a:t>
            </a:r>
            <a:r>
              <a:rPr lang="en-US">
                <a:solidFill>
                  <a:schemeClr val="dk1"/>
                </a:solidFill>
              </a:rPr>
              <a:t>.</a:t>
            </a:r>
            <a:endParaRPr>
              <a:solidFill>
                <a:schemeClr val="dk1"/>
              </a:solidFill>
            </a:endParaRPr>
          </a:p>
          <a:p>
            <a:pPr indent="0" lvl="0" marL="45720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p:txBody>
      </p:sp>
      <p:sp>
        <p:nvSpPr>
          <p:cNvPr id="360" name="Google Shape;360;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Single-Task Models</a:t>
            </a:r>
            <a:r>
              <a:rPr lang="en-US">
                <a:solidFill>
                  <a:schemeClr val="dk1"/>
                </a:solidFill>
              </a:rPr>
              <a:t> are the most precise, achieving </a:t>
            </a:r>
            <a:r>
              <a:rPr b="1" lang="en-US">
                <a:solidFill>
                  <a:schemeClr val="dk1"/>
                </a:solidFill>
              </a:rPr>
              <a:t>91% accuracy in Fake News detection</a:t>
            </a:r>
            <a:r>
              <a:rPr lang="en-US">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b="1" lang="en-US">
                <a:solidFill>
                  <a:schemeClr val="dk1"/>
                </a:solidFill>
              </a:rPr>
              <a:t>Multi-Task Models</a:t>
            </a:r>
            <a:r>
              <a:rPr lang="en-US">
                <a:solidFill>
                  <a:schemeClr val="dk1"/>
                </a:solidFill>
              </a:rPr>
              <a:t> perform well overall, excelling in </a:t>
            </a:r>
            <a:r>
              <a:rPr b="1" lang="en-US">
                <a:solidFill>
                  <a:schemeClr val="dk1"/>
                </a:solidFill>
              </a:rPr>
              <a:t>Toxicity detection (91%)</a:t>
            </a:r>
            <a:r>
              <a:rPr lang="en-US">
                <a:solidFill>
                  <a:schemeClr val="dk1"/>
                </a:solidFill>
              </a:rPr>
              <a:t> while maintaining balanced accuracy across tasks.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Prompting-Based Models</a:t>
            </a:r>
            <a:r>
              <a:rPr lang="en-US">
                <a:solidFill>
                  <a:schemeClr val="dk1"/>
                </a:solidFill>
              </a:rPr>
              <a:t> perform best in </a:t>
            </a:r>
            <a:r>
              <a:rPr b="1" lang="en-US">
                <a:solidFill>
                  <a:schemeClr val="dk1"/>
                </a:solidFill>
              </a:rPr>
              <a:t>Hate Speech detection (79%)</a:t>
            </a:r>
            <a:r>
              <a:rPr lang="en-US">
                <a:solidFill>
                  <a:schemeClr val="dk1"/>
                </a:solidFill>
              </a:rPr>
              <a:t> when using </a:t>
            </a:r>
            <a:r>
              <a:rPr b="1" lang="en-US">
                <a:solidFill>
                  <a:schemeClr val="dk1"/>
                </a:solidFill>
              </a:rPr>
              <a:t>few-shot prompting</a:t>
            </a:r>
            <a:r>
              <a:rPr lang="en-US">
                <a:solidFill>
                  <a:schemeClr val="dk1"/>
                </a:solidFill>
              </a:rPr>
              <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However, </a:t>
            </a:r>
            <a:r>
              <a:rPr b="1" lang="en-US">
                <a:solidFill>
                  <a:schemeClr val="dk1"/>
                </a:solidFill>
              </a:rPr>
              <a:t>zero-shot prompting</a:t>
            </a:r>
            <a:r>
              <a:rPr lang="en-US">
                <a:solidFill>
                  <a:schemeClr val="dk1"/>
                </a:solidFill>
              </a:rPr>
              <a:t> produced the </a:t>
            </a:r>
            <a:r>
              <a:rPr b="1" lang="en-US">
                <a:solidFill>
                  <a:schemeClr val="dk1"/>
                </a:solidFill>
              </a:rPr>
              <a:t>worst results</a:t>
            </a:r>
            <a:r>
              <a:rPr lang="en-US">
                <a:solidFill>
                  <a:schemeClr val="dk1"/>
                </a:solidFill>
              </a:rPr>
              <a:t>, with accuracy dropping to </a:t>
            </a:r>
            <a:r>
              <a:rPr b="1" lang="en-US">
                <a:solidFill>
                  <a:schemeClr val="dk1"/>
                </a:solidFill>
              </a:rPr>
              <a:t>46% for Hate Speech &amp; Toxicity</a:t>
            </a:r>
            <a:r>
              <a:rPr lang="en-US">
                <a:solidFill>
                  <a:schemeClr val="dk1"/>
                </a:solidFill>
              </a:rPr>
              <a:t> and </a:t>
            </a:r>
            <a:r>
              <a:rPr b="1" lang="en-US">
                <a:solidFill>
                  <a:schemeClr val="dk1"/>
                </a:solidFill>
              </a:rPr>
              <a:t>40% for Fake News</a:t>
            </a:r>
            <a:r>
              <a:rPr lang="en-US">
                <a:solidFill>
                  <a:schemeClr val="dk1"/>
                </a:solidFill>
              </a:rPr>
              <a:t>.</a:t>
            </a:r>
            <a:endParaRPr>
              <a:solidFill>
                <a:schemeClr val="dk1"/>
              </a:solidFill>
            </a:endParaRPr>
          </a:p>
          <a:p>
            <a:pPr indent="0" lvl="0" marL="0" rtl="0" algn="l">
              <a:spcBef>
                <a:spcPts val="1200"/>
              </a:spcBef>
              <a:spcAft>
                <a:spcPts val="0"/>
              </a:spcAft>
              <a:buNone/>
            </a:pPr>
            <a:r>
              <a:t/>
            </a:r>
            <a:endParaRPr/>
          </a:p>
        </p:txBody>
      </p:sp>
      <p:sp>
        <p:nvSpPr>
          <p:cNvPr id="367" name="Google Shape;367;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2c6caa09f7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2c6caa09f7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5" name="Google Shape;41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4157700" y="1061225"/>
            <a:ext cx="4260000" cy="1750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48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4157700" y="2997200"/>
            <a:ext cx="4260000" cy="365700"/>
          </a:xfrm>
          <a:prstGeom prst="rect">
            <a:avLst/>
          </a:prstGeom>
          <a:solidFill>
            <a:schemeClr val="lt2"/>
          </a:solidFill>
          <a:ln>
            <a:noFill/>
          </a:ln>
        </p:spPr>
        <p:txBody>
          <a:bodyPr anchorCtr="0" anchor="ctr" bIns="91425" lIns="91425" spcFirstLastPara="1" rIns="91425" wrap="square" tIns="91425">
            <a:noAutofit/>
          </a:bodyPr>
          <a:lstStyle>
            <a:lvl1pPr lvl="0" algn="l">
              <a:lnSpc>
                <a:spcPct val="115000"/>
              </a:lnSpc>
              <a:spcBef>
                <a:spcPts val="0"/>
              </a:spcBef>
              <a:spcAft>
                <a:spcPts val="0"/>
              </a:spcAft>
              <a:buSzPts val="1400"/>
              <a:buNone/>
              <a:defRPr sz="1600">
                <a:solidFill>
                  <a:schemeClr val="accent5"/>
                </a:solidFill>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grpSp>
        <p:nvGrpSpPr>
          <p:cNvPr id="12" name="Google Shape;12;p2"/>
          <p:cNvGrpSpPr/>
          <p:nvPr/>
        </p:nvGrpSpPr>
        <p:grpSpPr>
          <a:xfrm>
            <a:off x="-709225" y="2020450"/>
            <a:ext cx="10403925" cy="4250875"/>
            <a:chOff x="-709225" y="2020450"/>
            <a:chExt cx="10403925" cy="4250875"/>
          </a:xfrm>
        </p:grpSpPr>
        <p:grpSp>
          <p:nvGrpSpPr>
            <p:cNvPr id="13" name="Google Shape;13;p2"/>
            <p:cNvGrpSpPr/>
            <p:nvPr/>
          </p:nvGrpSpPr>
          <p:grpSpPr>
            <a:xfrm>
              <a:off x="176175" y="2459300"/>
              <a:ext cx="418425" cy="3812025"/>
              <a:chOff x="176175" y="2459300"/>
              <a:chExt cx="418425" cy="3812025"/>
            </a:xfrm>
          </p:grpSpPr>
          <p:cxnSp>
            <p:nvCxnSpPr>
              <p:cNvPr id="14" name="Google Shape;14;p2"/>
              <p:cNvCxnSpPr/>
              <p:nvPr/>
            </p:nvCxnSpPr>
            <p:spPr>
              <a:xfrm flipH="1" rot="5400000">
                <a:off x="-1093800" y="3815900"/>
                <a:ext cx="3045000" cy="331800"/>
              </a:xfrm>
              <a:prstGeom prst="bentConnector3">
                <a:avLst>
                  <a:gd fmla="val 50000" name="adj1"/>
                </a:avLst>
              </a:prstGeom>
              <a:noFill/>
              <a:ln cap="flat" cmpd="sng" w="19050">
                <a:solidFill>
                  <a:schemeClr val="lt2"/>
                </a:solidFill>
                <a:prstDash val="solid"/>
                <a:round/>
                <a:headEnd len="sm" w="sm" type="none"/>
                <a:tailEnd len="med" w="med" type="oval"/>
              </a:ln>
            </p:spPr>
          </p:cxnSp>
          <p:cxnSp>
            <p:nvCxnSpPr>
              <p:cNvPr id="15" name="Google Shape;15;p2"/>
              <p:cNvCxnSpPr/>
              <p:nvPr/>
            </p:nvCxnSpPr>
            <p:spPr>
              <a:xfrm flipH="1" rot="5400000">
                <a:off x="-1327875" y="4449875"/>
                <a:ext cx="3325500" cy="317400"/>
              </a:xfrm>
              <a:prstGeom prst="bentConnector3">
                <a:avLst>
                  <a:gd fmla="val 64575" name="adj1"/>
                </a:avLst>
              </a:prstGeom>
              <a:noFill/>
              <a:ln cap="flat" cmpd="sng" w="19050">
                <a:solidFill>
                  <a:schemeClr val="lt2"/>
                </a:solidFill>
                <a:prstDash val="solid"/>
                <a:round/>
                <a:headEnd len="sm" w="sm" type="none"/>
                <a:tailEnd len="med" w="med" type="oval"/>
              </a:ln>
            </p:spPr>
          </p:cxnSp>
        </p:grpSp>
        <p:grpSp>
          <p:nvGrpSpPr>
            <p:cNvPr id="16" name="Google Shape;16;p2"/>
            <p:cNvGrpSpPr/>
            <p:nvPr/>
          </p:nvGrpSpPr>
          <p:grpSpPr>
            <a:xfrm>
              <a:off x="-709225" y="4185350"/>
              <a:ext cx="7895400" cy="1976375"/>
              <a:chOff x="-709225" y="4185350"/>
              <a:chExt cx="7895400" cy="1976375"/>
            </a:xfrm>
          </p:grpSpPr>
          <p:cxnSp>
            <p:nvCxnSpPr>
              <p:cNvPr id="17" name="Google Shape;17;p2"/>
              <p:cNvCxnSpPr/>
              <p:nvPr/>
            </p:nvCxnSpPr>
            <p:spPr>
              <a:xfrm flipH="1" rot="10800000">
                <a:off x="-709225" y="4185350"/>
                <a:ext cx="7895400" cy="1147500"/>
              </a:xfrm>
              <a:prstGeom prst="bentConnector3">
                <a:avLst>
                  <a:gd fmla="val 71221" name="adj1"/>
                </a:avLst>
              </a:prstGeom>
              <a:noFill/>
              <a:ln cap="flat" cmpd="sng" w="19050">
                <a:solidFill>
                  <a:schemeClr val="lt2"/>
                </a:solidFill>
                <a:prstDash val="solid"/>
                <a:round/>
                <a:headEnd len="sm" w="sm" type="none"/>
                <a:tailEnd len="med" w="med" type="oval"/>
              </a:ln>
            </p:spPr>
          </p:cxnSp>
          <p:cxnSp>
            <p:nvCxnSpPr>
              <p:cNvPr id="18" name="Google Shape;18;p2"/>
              <p:cNvCxnSpPr/>
              <p:nvPr/>
            </p:nvCxnSpPr>
            <p:spPr>
              <a:xfrm flipH="1" rot="10800000">
                <a:off x="2953025" y="4367125"/>
                <a:ext cx="3567000" cy="1794600"/>
              </a:xfrm>
              <a:prstGeom prst="bentConnector3">
                <a:avLst>
                  <a:gd fmla="val 50000" name="adj1"/>
                </a:avLst>
              </a:prstGeom>
              <a:noFill/>
              <a:ln cap="flat" cmpd="sng" w="19050">
                <a:solidFill>
                  <a:schemeClr val="lt2"/>
                </a:solidFill>
                <a:prstDash val="solid"/>
                <a:round/>
                <a:headEnd len="sm" w="sm" type="none"/>
                <a:tailEnd len="med" w="med" type="oval"/>
              </a:ln>
            </p:spPr>
          </p:cxnSp>
        </p:grpSp>
        <p:grpSp>
          <p:nvGrpSpPr>
            <p:cNvPr id="19" name="Google Shape;19;p2"/>
            <p:cNvGrpSpPr/>
            <p:nvPr/>
          </p:nvGrpSpPr>
          <p:grpSpPr>
            <a:xfrm>
              <a:off x="8417700" y="2020450"/>
              <a:ext cx="1277000" cy="2568900"/>
              <a:chOff x="8417700" y="2020450"/>
              <a:chExt cx="1277000" cy="2568900"/>
            </a:xfrm>
          </p:grpSpPr>
          <p:cxnSp>
            <p:nvCxnSpPr>
              <p:cNvPr id="20" name="Google Shape;20;p2"/>
              <p:cNvCxnSpPr/>
              <p:nvPr/>
            </p:nvCxnSpPr>
            <p:spPr>
              <a:xfrm rot="5400000">
                <a:off x="7933150" y="2965750"/>
                <a:ext cx="2568900" cy="678300"/>
              </a:xfrm>
              <a:prstGeom prst="bentConnector3">
                <a:avLst>
                  <a:gd fmla="val 4494" name="adj1"/>
                </a:avLst>
              </a:prstGeom>
              <a:noFill/>
              <a:ln cap="flat" cmpd="sng" w="19050">
                <a:solidFill>
                  <a:schemeClr val="lt2"/>
                </a:solidFill>
                <a:prstDash val="solid"/>
                <a:round/>
                <a:headEnd len="sm" w="sm" type="none"/>
                <a:tailEnd len="med" w="med" type="oval"/>
              </a:ln>
            </p:spPr>
          </p:cxnSp>
          <p:cxnSp>
            <p:nvCxnSpPr>
              <p:cNvPr id="21" name="Google Shape;21;p2"/>
              <p:cNvCxnSpPr/>
              <p:nvPr/>
            </p:nvCxnSpPr>
            <p:spPr>
              <a:xfrm>
                <a:off x="8417700" y="3180050"/>
                <a:ext cx="359700" cy="1051800"/>
              </a:xfrm>
              <a:prstGeom prst="bentConnector2">
                <a:avLst/>
              </a:prstGeom>
              <a:noFill/>
              <a:ln cap="flat" cmpd="sng" w="19050">
                <a:solidFill>
                  <a:schemeClr val="lt2"/>
                </a:solidFill>
                <a:prstDash val="solid"/>
                <a:round/>
                <a:headEnd len="sm" w="sm" type="none"/>
                <a:tailEnd len="med" w="med" type="oval"/>
              </a:ln>
            </p:spPr>
          </p:cxnSp>
          <p:cxnSp>
            <p:nvCxnSpPr>
              <p:cNvPr id="22" name="Google Shape;22;p2"/>
              <p:cNvCxnSpPr/>
              <p:nvPr/>
            </p:nvCxnSpPr>
            <p:spPr>
              <a:xfrm rot="5400000">
                <a:off x="8288750" y="2779400"/>
                <a:ext cx="2082300" cy="729600"/>
              </a:xfrm>
              <a:prstGeom prst="bentConnector3">
                <a:avLst>
                  <a:gd fmla="val 50000" name="adj1"/>
                </a:avLst>
              </a:prstGeom>
              <a:noFill/>
              <a:ln cap="flat" cmpd="sng" w="19050">
                <a:solidFill>
                  <a:schemeClr val="lt2"/>
                </a:solidFill>
                <a:prstDash val="solid"/>
                <a:round/>
                <a:headEnd len="sm" w="sm" type="none"/>
                <a:tailEnd len="med" w="med" type="oval"/>
              </a:ln>
            </p:spPr>
          </p:cxnSp>
        </p:grpSp>
      </p:grpSp>
      <p:grpSp>
        <p:nvGrpSpPr>
          <p:cNvPr id="23" name="Google Shape;23;p2"/>
          <p:cNvGrpSpPr/>
          <p:nvPr/>
        </p:nvGrpSpPr>
        <p:grpSpPr>
          <a:xfrm>
            <a:off x="84278" y="2240873"/>
            <a:ext cx="8837445" cy="2718104"/>
            <a:chOff x="84278" y="2240873"/>
            <a:chExt cx="8837445" cy="2718104"/>
          </a:xfrm>
        </p:grpSpPr>
        <p:sp>
          <p:nvSpPr>
            <p:cNvPr id="24" name="Google Shape;24;p2"/>
            <p:cNvSpPr/>
            <p:nvPr/>
          </p:nvSpPr>
          <p:spPr>
            <a:xfrm>
              <a:off x="84278" y="2240873"/>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
            <p:cNvSpPr/>
            <p:nvPr/>
          </p:nvSpPr>
          <p:spPr>
            <a:xfrm>
              <a:off x="8777403" y="4814673"/>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 name="Google Shape;26;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27" name="Shape 27"/>
        <p:cNvGrpSpPr/>
        <p:nvPr/>
      </p:nvGrpSpPr>
      <p:grpSpPr>
        <a:xfrm>
          <a:off x="0" y="0"/>
          <a:ext cx="0" cy="0"/>
          <a:chOff x="0" y="0"/>
          <a:chExt cx="0" cy="0"/>
        </a:xfrm>
      </p:grpSpPr>
      <p:sp>
        <p:nvSpPr>
          <p:cNvPr id="28" name="Google Shape;28;p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29" name="Google Shape;29;p3"/>
          <p:cNvSpPr txBox="1"/>
          <p:nvPr>
            <p:ph idx="1" type="subTitle"/>
          </p:nvPr>
        </p:nvSpPr>
        <p:spPr>
          <a:xfrm>
            <a:off x="4827974" y="1602925"/>
            <a:ext cx="3318600" cy="1921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30" name="Google Shape;30;p3"/>
          <p:cNvSpPr txBox="1"/>
          <p:nvPr>
            <p:ph idx="2" type="subTitle"/>
          </p:nvPr>
        </p:nvSpPr>
        <p:spPr>
          <a:xfrm>
            <a:off x="997425" y="1602925"/>
            <a:ext cx="3318600" cy="1921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grpSp>
        <p:nvGrpSpPr>
          <p:cNvPr id="31" name="Google Shape;31;p3"/>
          <p:cNvGrpSpPr/>
          <p:nvPr/>
        </p:nvGrpSpPr>
        <p:grpSpPr>
          <a:xfrm>
            <a:off x="-320650" y="-762725"/>
            <a:ext cx="9327075" cy="7125850"/>
            <a:chOff x="-320650" y="-762725"/>
            <a:chExt cx="9327075" cy="7125850"/>
          </a:xfrm>
        </p:grpSpPr>
        <p:cxnSp>
          <p:nvCxnSpPr>
            <p:cNvPr id="32" name="Google Shape;32;p3"/>
            <p:cNvCxnSpPr/>
            <p:nvPr/>
          </p:nvCxnSpPr>
          <p:spPr>
            <a:xfrm flipH="1" rot="-5400000">
              <a:off x="6857075" y="1775500"/>
              <a:ext cx="4097100" cy="187800"/>
            </a:xfrm>
            <a:prstGeom prst="bentConnector3">
              <a:avLst>
                <a:gd fmla="val 50000" name="adj1"/>
              </a:avLst>
            </a:prstGeom>
            <a:noFill/>
            <a:ln cap="flat" cmpd="sng" w="19050">
              <a:solidFill>
                <a:schemeClr val="lt2"/>
              </a:solidFill>
              <a:prstDash val="solid"/>
              <a:round/>
              <a:headEnd len="sm" w="sm" type="none"/>
              <a:tailEnd len="med" w="med" type="oval"/>
            </a:ln>
          </p:spPr>
        </p:cxnSp>
        <p:cxnSp>
          <p:nvCxnSpPr>
            <p:cNvPr id="33" name="Google Shape;33;p3"/>
            <p:cNvCxnSpPr/>
            <p:nvPr/>
          </p:nvCxnSpPr>
          <p:spPr>
            <a:xfrm flipH="1" rot="10800000">
              <a:off x="667900" y="4271400"/>
              <a:ext cx="2765700" cy="963900"/>
            </a:xfrm>
            <a:prstGeom prst="bentConnector3">
              <a:avLst>
                <a:gd fmla="val 50000" name="adj1"/>
              </a:avLst>
            </a:prstGeom>
            <a:noFill/>
            <a:ln cap="flat" cmpd="sng" w="19050">
              <a:solidFill>
                <a:schemeClr val="lt2"/>
              </a:solidFill>
              <a:prstDash val="solid"/>
              <a:round/>
              <a:headEnd len="sm" w="sm" type="none"/>
              <a:tailEnd len="med" w="med" type="oval"/>
            </a:ln>
          </p:spPr>
        </p:cxnSp>
        <p:cxnSp>
          <p:nvCxnSpPr>
            <p:cNvPr id="34" name="Google Shape;34;p3"/>
            <p:cNvCxnSpPr/>
            <p:nvPr/>
          </p:nvCxnSpPr>
          <p:spPr>
            <a:xfrm flipH="1" rot="5400000">
              <a:off x="7318025" y="3907700"/>
              <a:ext cx="3045000" cy="331800"/>
            </a:xfrm>
            <a:prstGeom prst="bentConnector3">
              <a:avLst>
                <a:gd fmla="val 50000" name="adj1"/>
              </a:avLst>
            </a:prstGeom>
            <a:noFill/>
            <a:ln cap="flat" cmpd="sng" w="19050">
              <a:solidFill>
                <a:schemeClr val="lt2"/>
              </a:solidFill>
              <a:prstDash val="solid"/>
              <a:round/>
              <a:headEnd len="sm" w="sm" type="none"/>
              <a:tailEnd len="med" w="med" type="oval"/>
            </a:ln>
          </p:spPr>
        </p:cxnSp>
        <p:cxnSp>
          <p:nvCxnSpPr>
            <p:cNvPr id="35" name="Google Shape;35;p3"/>
            <p:cNvCxnSpPr/>
            <p:nvPr/>
          </p:nvCxnSpPr>
          <p:spPr>
            <a:xfrm flipH="1" rot="5400000">
              <a:off x="7083950" y="4541675"/>
              <a:ext cx="3325500" cy="317400"/>
            </a:xfrm>
            <a:prstGeom prst="bentConnector3">
              <a:avLst>
                <a:gd fmla="val 64575" name="adj1"/>
              </a:avLst>
            </a:prstGeom>
            <a:noFill/>
            <a:ln cap="flat" cmpd="sng" w="19050">
              <a:solidFill>
                <a:schemeClr val="lt2"/>
              </a:solidFill>
              <a:prstDash val="solid"/>
              <a:round/>
              <a:headEnd len="sm" w="sm" type="none"/>
              <a:tailEnd len="med" w="med" type="oval"/>
            </a:ln>
          </p:spPr>
        </p:cxnSp>
        <p:cxnSp>
          <p:nvCxnSpPr>
            <p:cNvPr id="36" name="Google Shape;36;p3"/>
            <p:cNvCxnSpPr/>
            <p:nvPr/>
          </p:nvCxnSpPr>
          <p:spPr>
            <a:xfrm flipH="1" rot="10800000">
              <a:off x="-320650" y="4087825"/>
              <a:ext cx="5808300" cy="878700"/>
            </a:xfrm>
            <a:prstGeom prst="bentConnector3">
              <a:avLst>
                <a:gd fmla="val 50000" name="adj1"/>
              </a:avLst>
            </a:prstGeom>
            <a:noFill/>
            <a:ln cap="flat" cmpd="sng" w="19050">
              <a:solidFill>
                <a:schemeClr val="lt2"/>
              </a:solidFill>
              <a:prstDash val="solid"/>
              <a:round/>
              <a:headEnd len="sm" w="sm" type="none"/>
              <a:tailEnd len="med" w="med" type="oval"/>
            </a:ln>
          </p:spPr>
        </p:cxnSp>
        <p:cxnSp>
          <p:nvCxnSpPr>
            <p:cNvPr id="37" name="Google Shape;37;p3"/>
            <p:cNvCxnSpPr/>
            <p:nvPr/>
          </p:nvCxnSpPr>
          <p:spPr>
            <a:xfrm rot="5400000">
              <a:off x="-237850" y="2225"/>
              <a:ext cx="2082300" cy="729600"/>
            </a:xfrm>
            <a:prstGeom prst="bentConnector3">
              <a:avLst>
                <a:gd fmla="val 43507" name="adj1"/>
              </a:avLst>
            </a:prstGeom>
            <a:noFill/>
            <a:ln cap="flat" cmpd="sng" w="19050">
              <a:solidFill>
                <a:schemeClr val="lt2"/>
              </a:solidFill>
              <a:prstDash val="solid"/>
              <a:round/>
              <a:headEnd len="sm" w="sm" type="none"/>
              <a:tailEnd len="med" w="med" type="oval"/>
            </a:ln>
          </p:spPr>
        </p:cxnSp>
        <p:cxnSp>
          <p:nvCxnSpPr>
            <p:cNvPr id="38" name="Google Shape;38;p3"/>
            <p:cNvCxnSpPr/>
            <p:nvPr/>
          </p:nvCxnSpPr>
          <p:spPr>
            <a:xfrm rot="5400000">
              <a:off x="-317750" y="-132725"/>
              <a:ext cx="1866600" cy="606600"/>
            </a:xfrm>
            <a:prstGeom prst="bentConnector3">
              <a:avLst>
                <a:gd fmla="val 50000" name="adj1"/>
              </a:avLst>
            </a:prstGeom>
            <a:noFill/>
            <a:ln cap="flat" cmpd="sng" w="19050">
              <a:solidFill>
                <a:schemeClr val="lt2"/>
              </a:solidFill>
              <a:prstDash val="solid"/>
              <a:round/>
              <a:headEnd len="sm" w="sm" type="none"/>
              <a:tailEnd len="med" w="med" type="oval"/>
            </a:ln>
          </p:spPr>
        </p:cxnSp>
      </p:grpSp>
      <p:grpSp>
        <p:nvGrpSpPr>
          <p:cNvPr id="39" name="Google Shape;39;p3"/>
          <p:cNvGrpSpPr/>
          <p:nvPr/>
        </p:nvGrpSpPr>
        <p:grpSpPr>
          <a:xfrm>
            <a:off x="179243" y="1771891"/>
            <a:ext cx="400449" cy="2933145"/>
            <a:chOff x="7553711" y="-2334286"/>
            <a:chExt cx="455625" cy="3337291"/>
          </a:xfrm>
        </p:grpSpPr>
        <p:sp>
          <p:nvSpPr>
            <p:cNvPr id="40" name="Google Shape;40;p3"/>
            <p:cNvSpPr/>
            <p:nvPr/>
          </p:nvSpPr>
          <p:spPr>
            <a:xfrm>
              <a:off x="7728940" y="-1977361"/>
              <a:ext cx="280396" cy="2803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
            <p:cNvSpPr/>
            <p:nvPr/>
          </p:nvSpPr>
          <p:spPr>
            <a:xfrm>
              <a:off x="7766124" y="796950"/>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3"/>
            <p:cNvSpPr/>
            <p:nvPr/>
          </p:nvSpPr>
          <p:spPr>
            <a:xfrm>
              <a:off x="7553711" y="-2334286"/>
              <a:ext cx="151325" cy="15132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3" name="Google Shape;43;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44" name="Shape 44"/>
        <p:cNvGrpSpPr/>
        <p:nvPr/>
      </p:nvGrpSpPr>
      <p:grpSpPr>
        <a:xfrm>
          <a:off x="0" y="0"/>
          <a:ext cx="0" cy="0"/>
          <a:chOff x="0" y="0"/>
          <a:chExt cx="0" cy="0"/>
        </a:xfrm>
      </p:grpSpPr>
      <p:sp>
        <p:nvSpPr>
          <p:cNvPr id="45" name="Google Shape;45;p4"/>
          <p:cNvSpPr txBox="1"/>
          <p:nvPr>
            <p:ph type="title"/>
          </p:nvPr>
        </p:nvSpPr>
        <p:spPr>
          <a:xfrm>
            <a:off x="1851163" y="3797875"/>
            <a:ext cx="3233100" cy="365700"/>
          </a:xfrm>
          <a:prstGeom prst="rect">
            <a:avLst/>
          </a:prstGeom>
          <a:solidFill>
            <a:schemeClr val="lt2"/>
          </a:solid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2000"/>
              <a:buNone/>
              <a:defRPr sz="2000">
                <a:solidFill>
                  <a:schemeClr val="accent5"/>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46" name="Google Shape;46;p4"/>
          <p:cNvSpPr txBox="1"/>
          <p:nvPr>
            <p:ph idx="1" type="subTitle"/>
          </p:nvPr>
        </p:nvSpPr>
        <p:spPr>
          <a:xfrm>
            <a:off x="713225" y="945625"/>
            <a:ext cx="4371300" cy="2741700"/>
          </a:xfrm>
          <a:prstGeom prst="rect">
            <a:avLst/>
          </a:prstGeom>
          <a:noFill/>
          <a:ln>
            <a:noFill/>
          </a:ln>
        </p:spPr>
        <p:txBody>
          <a:bodyPr anchorCtr="0" anchor="b" bIns="91425" lIns="91425" spcFirstLastPara="1" rIns="91425" wrap="square" tIns="91425">
            <a:noAutofit/>
          </a:bodyPr>
          <a:lstStyle>
            <a:lvl1pPr lvl="0" algn="r">
              <a:lnSpc>
                <a:spcPct val="115000"/>
              </a:lnSpc>
              <a:spcBef>
                <a:spcPts val="0"/>
              </a:spcBef>
              <a:spcAft>
                <a:spcPts val="0"/>
              </a:spcAft>
              <a:buSzPts val="3000"/>
              <a:buNone/>
              <a:defRPr sz="3000"/>
            </a:lvl1pPr>
            <a:lvl2pPr lvl="1" algn="ctr">
              <a:lnSpc>
                <a:spcPct val="115000"/>
              </a:lnSpc>
              <a:spcBef>
                <a:spcPts val="0"/>
              </a:spcBef>
              <a:spcAft>
                <a:spcPts val="0"/>
              </a:spcAft>
              <a:buSzPts val="3000"/>
              <a:buNone/>
              <a:defRPr sz="3000"/>
            </a:lvl2pPr>
            <a:lvl3pPr lvl="2" algn="ctr">
              <a:lnSpc>
                <a:spcPct val="115000"/>
              </a:lnSpc>
              <a:spcBef>
                <a:spcPts val="0"/>
              </a:spcBef>
              <a:spcAft>
                <a:spcPts val="0"/>
              </a:spcAft>
              <a:buSzPts val="3000"/>
              <a:buNone/>
              <a:defRPr sz="3000"/>
            </a:lvl3pPr>
            <a:lvl4pPr lvl="3" algn="ctr">
              <a:lnSpc>
                <a:spcPct val="115000"/>
              </a:lnSpc>
              <a:spcBef>
                <a:spcPts val="0"/>
              </a:spcBef>
              <a:spcAft>
                <a:spcPts val="0"/>
              </a:spcAft>
              <a:buSzPts val="3000"/>
              <a:buNone/>
              <a:defRPr sz="3000"/>
            </a:lvl4pPr>
            <a:lvl5pPr lvl="4" algn="ctr">
              <a:lnSpc>
                <a:spcPct val="115000"/>
              </a:lnSpc>
              <a:spcBef>
                <a:spcPts val="0"/>
              </a:spcBef>
              <a:spcAft>
                <a:spcPts val="0"/>
              </a:spcAft>
              <a:buSzPts val="3000"/>
              <a:buNone/>
              <a:defRPr sz="3000"/>
            </a:lvl5pPr>
            <a:lvl6pPr lvl="5" algn="ctr">
              <a:lnSpc>
                <a:spcPct val="115000"/>
              </a:lnSpc>
              <a:spcBef>
                <a:spcPts val="0"/>
              </a:spcBef>
              <a:spcAft>
                <a:spcPts val="0"/>
              </a:spcAft>
              <a:buSzPts val="3000"/>
              <a:buNone/>
              <a:defRPr sz="3000"/>
            </a:lvl6pPr>
            <a:lvl7pPr lvl="6" algn="ctr">
              <a:lnSpc>
                <a:spcPct val="115000"/>
              </a:lnSpc>
              <a:spcBef>
                <a:spcPts val="0"/>
              </a:spcBef>
              <a:spcAft>
                <a:spcPts val="0"/>
              </a:spcAft>
              <a:buSzPts val="3000"/>
              <a:buNone/>
              <a:defRPr sz="3000"/>
            </a:lvl7pPr>
            <a:lvl8pPr lvl="7" algn="ctr">
              <a:lnSpc>
                <a:spcPct val="115000"/>
              </a:lnSpc>
              <a:spcBef>
                <a:spcPts val="0"/>
              </a:spcBef>
              <a:spcAft>
                <a:spcPts val="0"/>
              </a:spcAft>
              <a:buSzPts val="3000"/>
              <a:buNone/>
              <a:defRPr sz="3000"/>
            </a:lvl8pPr>
            <a:lvl9pPr lvl="8" algn="ctr">
              <a:lnSpc>
                <a:spcPct val="115000"/>
              </a:lnSpc>
              <a:spcBef>
                <a:spcPts val="0"/>
              </a:spcBef>
              <a:spcAft>
                <a:spcPts val="0"/>
              </a:spcAft>
              <a:buSzPts val="3000"/>
              <a:buNone/>
              <a:defRPr sz="3000"/>
            </a:lvl9pPr>
          </a:lstStyle>
          <a:p/>
        </p:txBody>
      </p:sp>
      <p:grpSp>
        <p:nvGrpSpPr>
          <p:cNvPr id="47" name="Google Shape;47;p4"/>
          <p:cNvGrpSpPr/>
          <p:nvPr/>
        </p:nvGrpSpPr>
        <p:grpSpPr>
          <a:xfrm>
            <a:off x="259568" y="1973966"/>
            <a:ext cx="6622142" cy="3013471"/>
            <a:chOff x="7553711" y="-2334286"/>
            <a:chExt cx="7534579" cy="3428684"/>
          </a:xfrm>
        </p:grpSpPr>
        <p:sp>
          <p:nvSpPr>
            <p:cNvPr id="48" name="Google Shape;48;p4"/>
            <p:cNvSpPr/>
            <p:nvPr/>
          </p:nvSpPr>
          <p:spPr>
            <a:xfrm>
              <a:off x="7728940" y="-1977361"/>
              <a:ext cx="280396" cy="2803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4"/>
            <p:cNvSpPr/>
            <p:nvPr/>
          </p:nvSpPr>
          <p:spPr>
            <a:xfrm>
              <a:off x="14882235" y="888343"/>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4"/>
            <p:cNvSpPr/>
            <p:nvPr/>
          </p:nvSpPr>
          <p:spPr>
            <a:xfrm>
              <a:off x="7553711" y="-2334286"/>
              <a:ext cx="151325" cy="15132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 name="Google Shape;51;p4"/>
          <p:cNvGrpSpPr/>
          <p:nvPr/>
        </p:nvGrpSpPr>
        <p:grpSpPr>
          <a:xfrm>
            <a:off x="458900" y="-674125"/>
            <a:ext cx="10001150" cy="5624875"/>
            <a:chOff x="458900" y="-674125"/>
            <a:chExt cx="10001150" cy="5624875"/>
          </a:xfrm>
        </p:grpSpPr>
        <p:cxnSp>
          <p:nvCxnSpPr>
            <p:cNvPr id="52" name="Google Shape;52;p4"/>
            <p:cNvCxnSpPr/>
            <p:nvPr/>
          </p:nvCxnSpPr>
          <p:spPr>
            <a:xfrm rot="5400000">
              <a:off x="-510550" y="295325"/>
              <a:ext cx="2648100" cy="709200"/>
            </a:xfrm>
            <a:prstGeom prst="bentConnector3">
              <a:avLst>
                <a:gd fmla="val 40711" name="adj1"/>
              </a:avLst>
            </a:prstGeom>
            <a:noFill/>
            <a:ln cap="flat" cmpd="sng" w="19050">
              <a:solidFill>
                <a:schemeClr val="lt2"/>
              </a:solidFill>
              <a:prstDash val="solid"/>
              <a:round/>
              <a:headEnd len="sm" w="sm" type="none"/>
              <a:tailEnd len="med" w="med" type="oval"/>
            </a:ln>
          </p:spPr>
        </p:cxnSp>
        <p:cxnSp>
          <p:nvCxnSpPr>
            <p:cNvPr id="53" name="Google Shape;53;p4"/>
            <p:cNvCxnSpPr/>
            <p:nvPr/>
          </p:nvCxnSpPr>
          <p:spPr>
            <a:xfrm rot="5400000">
              <a:off x="-358150" y="447725"/>
              <a:ext cx="2648100" cy="709200"/>
            </a:xfrm>
            <a:prstGeom prst="bentConnector3">
              <a:avLst>
                <a:gd fmla="val 40711" name="adj1"/>
              </a:avLst>
            </a:prstGeom>
            <a:noFill/>
            <a:ln cap="flat" cmpd="sng" w="19050">
              <a:solidFill>
                <a:schemeClr val="lt2"/>
              </a:solidFill>
              <a:prstDash val="solid"/>
              <a:round/>
              <a:headEnd len="sm" w="sm" type="none"/>
              <a:tailEnd len="med" w="med" type="oval"/>
            </a:ln>
          </p:spPr>
        </p:cxnSp>
        <p:cxnSp>
          <p:nvCxnSpPr>
            <p:cNvPr id="54" name="Google Shape;54;p4"/>
            <p:cNvCxnSpPr/>
            <p:nvPr/>
          </p:nvCxnSpPr>
          <p:spPr>
            <a:xfrm flipH="1">
              <a:off x="6956600" y="3734250"/>
              <a:ext cx="3431400" cy="987000"/>
            </a:xfrm>
            <a:prstGeom prst="bentConnector3">
              <a:avLst>
                <a:gd fmla="val 45484" name="adj1"/>
              </a:avLst>
            </a:prstGeom>
            <a:noFill/>
            <a:ln cap="flat" cmpd="sng" w="19050">
              <a:solidFill>
                <a:schemeClr val="lt2"/>
              </a:solidFill>
              <a:prstDash val="solid"/>
              <a:round/>
              <a:headEnd len="sm" w="sm" type="none"/>
              <a:tailEnd len="med" w="med" type="oval"/>
            </a:ln>
          </p:spPr>
        </p:cxnSp>
        <p:cxnSp>
          <p:nvCxnSpPr>
            <p:cNvPr id="55" name="Google Shape;55;p4"/>
            <p:cNvCxnSpPr/>
            <p:nvPr/>
          </p:nvCxnSpPr>
          <p:spPr>
            <a:xfrm flipH="1">
              <a:off x="7656850" y="3932550"/>
              <a:ext cx="2803200" cy="1018200"/>
            </a:xfrm>
            <a:prstGeom prst="bentConnector3">
              <a:avLst>
                <a:gd fmla="val 50000" name="adj1"/>
              </a:avLst>
            </a:prstGeom>
            <a:noFill/>
            <a:ln cap="flat" cmpd="sng" w="19050">
              <a:solidFill>
                <a:schemeClr val="lt2"/>
              </a:solidFill>
              <a:prstDash val="solid"/>
              <a:round/>
              <a:headEnd len="sm" w="sm" type="none"/>
              <a:tailEnd len="med" w="med" type="oval"/>
            </a:ln>
          </p:spPr>
        </p:cxnSp>
      </p:grpSp>
      <p:sp>
        <p:nvSpPr>
          <p:cNvPr id="56" name="Google Shape;56;p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57" name="Shape 57"/>
        <p:cNvGrpSpPr/>
        <p:nvPr/>
      </p:nvGrpSpPr>
      <p:grpSpPr>
        <a:xfrm>
          <a:off x="0" y="0"/>
          <a:ext cx="0" cy="0"/>
          <a:chOff x="0" y="0"/>
          <a:chExt cx="0" cy="0"/>
        </a:xfrm>
      </p:grpSpPr>
      <p:grpSp>
        <p:nvGrpSpPr>
          <p:cNvPr id="58" name="Google Shape;58;p5"/>
          <p:cNvGrpSpPr/>
          <p:nvPr/>
        </p:nvGrpSpPr>
        <p:grpSpPr>
          <a:xfrm>
            <a:off x="140000" y="188300"/>
            <a:ext cx="580000" cy="6094500"/>
            <a:chOff x="140000" y="188300"/>
            <a:chExt cx="580000" cy="6094500"/>
          </a:xfrm>
        </p:grpSpPr>
        <p:cxnSp>
          <p:nvCxnSpPr>
            <p:cNvPr id="59" name="Google Shape;59;p5"/>
            <p:cNvCxnSpPr/>
            <p:nvPr/>
          </p:nvCxnSpPr>
          <p:spPr>
            <a:xfrm rot="-5400000">
              <a:off x="-522000" y="4271050"/>
              <a:ext cx="2018700" cy="465300"/>
            </a:xfrm>
            <a:prstGeom prst="bentConnector2">
              <a:avLst/>
            </a:prstGeom>
            <a:noFill/>
            <a:ln cap="flat" cmpd="sng" w="19050">
              <a:solidFill>
                <a:schemeClr val="lt2"/>
              </a:solidFill>
              <a:prstDash val="solid"/>
              <a:round/>
              <a:headEnd len="sm" w="sm" type="none"/>
              <a:tailEnd len="med" w="med" type="oval"/>
            </a:ln>
          </p:spPr>
        </p:cxnSp>
        <p:cxnSp>
          <p:nvCxnSpPr>
            <p:cNvPr id="60" name="Google Shape;60;p5"/>
            <p:cNvCxnSpPr/>
            <p:nvPr/>
          </p:nvCxnSpPr>
          <p:spPr>
            <a:xfrm rot="-5400000">
              <a:off x="-2575525" y="3200000"/>
              <a:ext cx="6094500" cy="71100"/>
            </a:xfrm>
            <a:prstGeom prst="bentConnector3">
              <a:avLst>
                <a:gd fmla="val 50000" name="adj1"/>
              </a:avLst>
            </a:prstGeom>
            <a:noFill/>
            <a:ln cap="flat" cmpd="sng" w="19050">
              <a:solidFill>
                <a:schemeClr val="lt2"/>
              </a:solidFill>
              <a:prstDash val="solid"/>
              <a:round/>
              <a:headEnd len="sm" w="sm" type="none"/>
              <a:tailEnd len="med" w="med" type="oval"/>
            </a:ln>
          </p:spPr>
        </p:cxnSp>
        <p:cxnSp>
          <p:nvCxnSpPr>
            <p:cNvPr id="61" name="Google Shape;61;p5"/>
            <p:cNvCxnSpPr/>
            <p:nvPr/>
          </p:nvCxnSpPr>
          <p:spPr>
            <a:xfrm rot="-5400000">
              <a:off x="-1584400" y="3258800"/>
              <a:ext cx="3657300" cy="208500"/>
            </a:xfrm>
            <a:prstGeom prst="bentConnector3">
              <a:avLst>
                <a:gd fmla="val 50000" name="adj1"/>
              </a:avLst>
            </a:prstGeom>
            <a:noFill/>
            <a:ln cap="flat" cmpd="sng" w="19050">
              <a:solidFill>
                <a:schemeClr val="lt2"/>
              </a:solidFill>
              <a:prstDash val="solid"/>
              <a:round/>
              <a:headEnd len="sm" w="sm" type="none"/>
              <a:tailEnd len="med" w="med" type="oval"/>
            </a:ln>
          </p:spPr>
        </p:cxnSp>
      </p:grpSp>
      <p:grpSp>
        <p:nvGrpSpPr>
          <p:cNvPr id="62" name="Google Shape;62;p5"/>
          <p:cNvGrpSpPr/>
          <p:nvPr/>
        </p:nvGrpSpPr>
        <p:grpSpPr>
          <a:xfrm>
            <a:off x="64493" y="394791"/>
            <a:ext cx="400449" cy="2933145"/>
            <a:chOff x="7553711" y="-2334286"/>
            <a:chExt cx="455625" cy="3337291"/>
          </a:xfrm>
        </p:grpSpPr>
        <p:sp>
          <p:nvSpPr>
            <p:cNvPr id="63" name="Google Shape;63;p5"/>
            <p:cNvSpPr/>
            <p:nvPr/>
          </p:nvSpPr>
          <p:spPr>
            <a:xfrm>
              <a:off x="7728940" y="-1977361"/>
              <a:ext cx="280396" cy="2803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5"/>
            <p:cNvSpPr/>
            <p:nvPr/>
          </p:nvSpPr>
          <p:spPr>
            <a:xfrm>
              <a:off x="7766124" y="796950"/>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5"/>
            <p:cNvSpPr/>
            <p:nvPr/>
          </p:nvSpPr>
          <p:spPr>
            <a:xfrm>
              <a:off x="7553711" y="-2334286"/>
              <a:ext cx="151325" cy="15132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7" name="Shape 67"/>
        <p:cNvGrpSpPr/>
        <p:nvPr/>
      </p:nvGrpSpPr>
      <p:grpSpPr>
        <a:xfrm>
          <a:off x="0" y="0"/>
          <a:ext cx="0" cy="0"/>
          <a:chOff x="0" y="0"/>
          <a:chExt cx="0" cy="0"/>
        </a:xfrm>
      </p:grpSpPr>
      <p:sp>
        <p:nvSpPr>
          <p:cNvPr id="68" name="Google Shape;68;p6"/>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9" name="Google Shape;69;p6"/>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70" name="Google Shape;70;p6"/>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71" name="Google Shape;71;p6"/>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72" name="Google Shape;72;p6"/>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73" name="Shape 73"/>
        <p:cNvGrpSpPr/>
        <p:nvPr/>
      </p:nvGrpSpPr>
      <p:grpSpPr>
        <a:xfrm>
          <a:off x="0" y="0"/>
          <a:ext cx="0" cy="0"/>
          <a:chOff x="0" y="0"/>
          <a:chExt cx="0" cy="0"/>
        </a:xfrm>
      </p:grpSpPr>
      <p:sp>
        <p:nvSpPr>
          <p:cNvPr id="74" name="Google Shape;74;p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75" name="Google Shape;75;p7"/>
          <p:cNvSpPr txBox="1"/>
          <p:nvPr>
            <p:ph idx="1" type="subTitle"/>
          </p:nvPr>
        </p:nvSpPr>
        <p:spPr>
          <a:xfrm>
            <a:off x="2917223" y="1661100"/>
            <a:ext cx="4240500" cy="363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76" name="Google Shape;76;p7"/>
          <p:cNvSpPr txBox="1"/>
          <p:nvPr>
            <p:ph idx="2" type="subTitle"/>
          </p:nvPr>
        </p:nvSpPr>
        <p:spPr>
          <a:xfrm>
            <a:off x="2917223" y="2479450"/>
            <a:ext cx="4240500" cy="363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77" name="Google Shape;77;p7"/>
          <p:cNvSpPr txBox="1"/>
          <p:nvPr>
            <p:ph idx="3" type="subTitle"/>
          </p:nvPr>
        </p:nvSpPr>
        <p:spPr>
          <a:xfrm>
            <a:off x="2917223" y="3297775"/>
            <a:ext cx="4240500" cy="363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78" name="Google Shape;78;p7"/>
          <p:cNvSpPr txBox="1"/>
          <p:nvPr>
            <p:ph idx="4" type="subTitle"/>
          </p:nvPr>
        </p:nvSpPr>
        <p:spPr>
          <a:xfrm>
            <a:off x="2917223" y="4116100"/>
            <a:ext cx="4240500" cy="363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79" name="Google Shape;79;p7"/>
          <p:cNvSpPr txBox="1"/>
          <p:nvPr>
            <p:ph idx="5" type="title"/>
          </p:nvPr>
        </p:nvSpPr>
        <p:spPr>
          <a:xfrm>
            <a:off x="1986273" y="1401350"/>
            <a:ext cx="590400" cy="363600"/>
          </a:xfrm>
          <a:prstGeom prst="rect">
            <a:avLst/>
          </a:prstGeom>
          <a:solidFill>
            <a:schemeClr val="l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2000">
                <a:solidFill>
                  <a:schemeClr val="accen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0" name="Google Shape;80;p7"/>
          <p:cNvSpPr txBox="1"/>
          <p:nvPr>
            <p:ph idx="6" type="title"/>
          </p:nvPr>
        </p:nvSpPr>
        <p:spPr>
          <a:xfrm>
            <a:off x="1986273" y="3037983"/>
            <a:ext cx="590400" cy="363600"/>
          </a:xfrm>
          <a:prstGeom prst="rect">
            <a:avLst/>
          </a:prstGeom>
          <a:solidFill>
            <a:schemeClr val="l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2000">
                <a:solidFill>
                  <a:schemeClr val="accen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1" name="Google Shape;81;p7"/>
          <p:cNvSpPr txBox="1"/>
          <p:nvPr>
            <p:ph idx="7" type="title"/>
          </p:nvPr>
        </p:nvSpPr>
        <p:spPr>
          <a:xfrm>
            <a:off x="1986273" y="2219667"/>
            <a:ext cx="590400" cy="363600"/>
          </a:xfrm>
          <a:prstGeom prst="rect">
            <a:avLst/>
          </a:prstGeom>
          <a:solidFill>
            <a:schemeClr val="l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2000">
                <a:solidFill>
                  <a:schemeClr val="accen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2" name="Google Shape;82;p7"/>
          <p:cNvSpPr txBox="1"/>
          <p:nvPr>
            <p:ph idx="8" type="title"/>
          </p:nvPr>
        </p:nvSpPr>
        <p:spPr>
          <a:xfrm>
            <a:off x="1986273" y="3856300"/>
            <a:ext cx="590400" cy="363600"/>
          </a:xfrm>
          <a:prstGeom prst="rect">
            <a:avLst/>
          </a:prstGeom>
          <a:solidFill>
            <a:schemeClr val="l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2000">
                <a:solidFill>
                  <a:schemeClr val="accen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3" name="Google Shape;83;p7"/>
          <p:cNvSpPr txBox="1"/>
          <p:nvPr>
            <p:ph idx="9" type="subTitle"/>
          </p:nvPr>
        </p:nvSpPr>
        <p:spPr>
          <a:xfrm>
            <a:off x="2917223" y="1401350"/>
            <a:ext cx="4240500" cy="3636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Sora"/>
              <a:buNone/>
              <a:defRPr b="1" sz="2000">
                <a:latin typeface="Sora"/>
                <a:ea typeface="Sora"/>
                <a:cs typeface="Sora"/>
                <a:sym typeface="Sora"/>
              </a:defRPr>
            </a:lvl1pPr>
            <a:lvl2pPr lvl="1" algn="ctr">
              <a:lnSpc>
                <a:spcPct val="115000"/>
              </a:lnSpc>
              <a:spcBef>
                <a:spcPts val="0"/>
              </a:spcBef>
              <a:spcAft>
                <a:spcPts val="0"/>
              </a:spcAft>
              <a:buSzPts val="2400"/>
              <a:buFont typeface="Sora"/>
              <a:buNone/>
              <a:defRPr b="1" sz="2400">
                <a:latin typeface="Sora"/>
                <a:ea typeface="Sora"/>
                <a:cs typeface="Sora"/>
                <a:sym typeface="Sora"/>
              </a:defRPr>
            </a:lvl2pPr>
            <a:lvl3pPr lvl="2" algn="ctr">
              <a:lnSpc>
                <a:spcPct val="115000"/>
              </a:lnSpc>
              <a:spcBef>
                <a:spcPts val="0"/>
              </a:spcBef>
              <a:spcAft>
                <a:spcPts val="0"/>
              </a:spcAft>
              <a:buSzPts val="2400"/>
              <a:buFont typeface="Sora"/>
              <a:buNone/>
              <a:defRPr b="1" sz="2400">
                <a:latin typeface="Sora"/>
                <a:ea typeface="Sora"/>
                <a:cs typeface="Sora"/>
                <a:sym typeface="Sora"/>
              </a:defRPr>
            </a:lvl3pPr>
            <a:lvl4pPr lvl="3" algn="ctr">
              <a:lnSpc>
                <a:spcPct val="115000"/>
              </a:lnSpc>
              <a:spcBef>
                <a:spcPts val="0"/>
              </a:spcBef>
              <a:spcAft>
                <a:spcPts val="0"/>
              </a:spcAft>
              <a:buSzPts val="2400"/>
              <a:buFont typeface="Sora"/>
              <a:buNone/>
              <a:defRPr b="1" sz="2400">
                <a:latin typeface="Sora"/>
                <a:ea typeface="Sora"/>
                <a:cs typeface="Sora"/>
                <a:sym typeface="Sora"/>
              </a:defRPr>
            </a:lvl4pPr>
            <a:lvl5pPr lvl="4" algn="ctr">
              <a:lnSpc>
                <a:spcPct val="115000"/>
              </a:lnSpc>
              <a:spcBef>
                <a:spcPts val="0"/>
              </a:spcBef>
              <a:spcAft>
                <a:spcPts val="0"/>
              </a:spcAft>
              <a:buSzPts val="2400"/>
              <a:buFont typeface="Sora"/>
              <a:buNone/>
              <a:defRPr b="1" sz="2400">
                <a:latin typeface="Sora"/>
                <a:ea typeface="Sora"/>
                <a:cs typeface="Sora"/>
                <a:sym typeface="Sora"/>
              </a:defRPr>
            </a:lvl5pPr>
            <a:lvl6pPr lvl="5" algn="ctr">
              <a:lnSpc>
                <a:spcPct val="115000"/>
              </a:lnSpc>
              <a:spcBef>
                <a:spcPts val="0"/>
              </a:spcBef>
              <a:spcAft>
                <a:spcPts val="0"/>
              </a:spcAft>
              <a:buSzPts val="2400"/>
              <a:buFont typeface="Sora"/>
              <a:buNone/>
              <a:defRPr b="1" sz="2400">
                <a:latin typeface="Sora"/>
                <a:ea typeface="Sora"/>
                <a:cs typeface="Sora"/>
                <a:sym typeface="Sora"/>
              </a:defRPr>
            </a:lvl6pPr>
            <a:lvl7pPr lvl="6" algn="ctr">
              <a:lnSpc>
                <a:spcPct val="115000"/>
              </a:lnSpc>
              <a:spcBef>
                <a:spcPts val="0"/>
              </a:spcBef>
              <a:spcAft>
                <a:spcPts val="0"/>
              </a:spcAft>
              <a:buSzPts val="2400"/>
              <a:buFont typeface="Sora"/>
              <a:buNone/>
              <a:defRPr b="1" sz="2400">
                <a:latin typeface="Sora"/>
                <a:ea typeface="Sora"/>
                <a:cs typeface="Sora"/>
                <a:sym typeface="Sora"/>
              </a:defRPr>
            </a:lvl7pPr>
            <a:lvl8pPr lvl="7" algn="ctr">
              <a:lnSpc>
                <a:spcPct val="115000"/>
              </a:lnSpc>
              <a:spcBef>
                <a:spcPts val="0"/>
              </a:spcBef>
              <a:spcAft>
                <a:spcPts val="0"/>
              </a:spcAft>
              <a:buSzPts val="2400"/>
              <a:buFont typeface="Sora"/>
              <a:buNone/>
              <a:defRPr b="1" sz="2400">
                <a:latin typeface="Sora"/>
                <a:ea typeface="Sora"/>
                <a:cs typeface="Sora"/>
                <a:sym typeface="Sora"/>
              </a:defRPr>
            </a:lvl8pPr>
            <a:lvl9pPr lvl="8" algn="ctr">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84" name="Google Shape;84;p7"/>
          <p:cNvSpPr txBox="1"/>
          <p:nvPr>
            <p:ph idx="13" type="subTitle"/>
          </p:nvPr>
        </p:nvSpPr>
        <p:spPr>
          <a:xfrm>
            <a:off x="2917227" y="2219700"/>
            <a:ext cx="4240500" cy="3636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Sora"/>
              <a:buNone/>
              <a:defRPr b="1" sz="2000">
                <a:latin typeface="Sora"/>
                <a:ea typeface="Sora"/>
                <a:cs typeface="Sora"/>
                <a:sym typeface="Sora"/>
              </a:defRPr>
            </a:lvl1pPr>
            <a:lvl2pPr lvl="1" algn="ctr">
              <a:lnSpc>
                <a:spcPct val="115000"/>
              </a:lnSpc>
              <a:spcBef>
                <a:spcPts val="0"/>
              </a:spcBef>
              <a:spcAft>
                <a:spcPts val="0"/>
              </a:spcAft>
              <a:buSzPts val="2400"/>
              <a:buFont typeface="Sora"/>
              <a:buNone/>
              <a:defRPr b="1" sz="2400">
                <a:latin typeface="Sora"/>
                <a:ea typeface="Sora"/>
                <a:cs typeface="Sora"/>
                <a:sym typeface="Sora"/>
              </a:defRPr>
            </a:lvl2pPr>
            <a:lvl3pPr lvl="2" algn="ctr">
              <a:lnSpc>
                <a:spcPct val="115000"/>
              </a:lnSpc>
              <a:spcBef>
                <a:spcPts val="0"/>
              </a:spcBef>
              <a:spcAft>
                <a:spcPts val="0"/>
              </a:spcAft>
              <a:buSzPts val="2400"/>
              <a:buFont typeface="Sora"/>
              <a:buNone/>
              <a:defRPr b="1" sz="2400">
                <a:latin typeface="Sora"/>
                <a:ea typeface="Sora"/>
                <a:cs typeface="Sora"/>
                <a:sym typeface="Sora"/>
              </a:defRPr>
            </a:lvl3pPr>
            <a:lvl4pPr lvl="3" algn="ctr">
              <a:lnSpc>
                <a:spcPct val="115000"/>
              </a:lnSpc>
              <a:spcBef>
                <a:spcPts val="0"/>
              </a:spcBef>
              <a:spcAft>
                <a:spcPts val="0"/>
              </a:spcAft>
              <a:buSzPts val="2400"/>
              <a:buFont typeface="Sora"/>
              <a:buNone/>
              <a:defRPr b="1" sz="2400">
                <a:latin typeface="Sora"/>
                <a:ea typeface="Sora"/>
                <a:cs typeface="Sora"/>
                <a:sym typeface="Sora"/>
              </a:defRPr>
            </a:lvl4pPr>
            <a:lvl5pPr lvl="4" algn="ctr">
              <a:lnSpc>
                <a:spcPct val="115000"/>
              </a:lnSpc>
              <a:spcBef>
                <a:spcPts val="0"/>
              </a:spcBef>
              <a:spcAft>
                <a:spcPts val="0"/>
              </a:spcAft>
              <a:buSzPts val="2400"/>
              <a:buFont typeface="Sora"/>
              <a:buNone/>
              <a:defRPr b="1" sz="2400">
                <a:latin typeface="Sora"/>
                <a:ea typeface="Sora"/>
                <a:cs typeface="Sora"/>
                <a:sym typeface="Sora"/>
              </a:defRPr>
            </a:lvl5pPr>
            <a:lvl6pPr lvl="5" algn="ctr">
              <a:lnSpc>
                <a:spcPct val="115000"/>
              </a:lnSpc>
              <a:spcBef>
                <a:spcPts val="0"/>
              </a:spcBef>
              <a:spcAft>
                <a:spcPts val="0"/>
              </a:spcAft>
              <a:buSzPts val="2400"/>
              <a:buFont typeface="Sora"/>
              <a:buNone/>
              <a:defRPr b="1" sz="2400">
                <a:latin typeface="Sora"/>
                <a:ea typeface="Sora"/>
                <a:cs typeface="Sora"/>
                <a:sym typeface="Sora"/>
              </a:defRPr>
            </a:lvl6pPr>
            <a:lvl7pPr lvl="6" algn="ctr">
              <a:lnSpc>
                <a:spcPct val="115000"/>
              </a:lnSpc>
              <a:spcBef>
                <a:spcPts val="0"/>
              </a:spcBef>
              <a:spcAft>
                <a:spcPts val="0"/>
              </a:spcAft>
              <a:buSzPts val="2400"/>
              <a:buFont typeface="Sora"/>
              <a:buNone/>
              <a:defRPr b="1" sz="2400">
                <a:latin typeface="Sora"/>
                <a:ea typeface="Sora"/>
                <a:cs typeface="Sora"/>
                <a:sym typeface="Sora"/>
              </a:defRPr>
            </a:lvl7pPr>
            <a:lvl8pPr lvl="7" algn="ctr">
              <a:lnSpc>
                <a:spcPct val="115000"/>
              </a:lnSpc>
              <a:spcBef>
                <a:spcPts val="0"/>
              </a:spcBef>
              <a:spcAft>
                <a:spcPts val="0"/>
              </a:spcAft>
              <a:buSzPts val="2400"/>
              <a:buFont typeface="Sora"/>
              <a:buNone/>
              <a:defRPr b="1" sz="2400">
                <a:latin typeface="Sora"/>
                <a:ea typeface="Sora"/>
                <a:cs typeface="Sora"/>
                <a:sym typeface="Sora"/>
              </a:defRPr>
            </a:lvl8pPr>
            <a:lvl9pPr lvl="8" algn="ctr">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85" name="Google Shape;85;p7"/>
          <p:cNvSpPr txBox="1"/>
          <p:nvPr>
            <p:ph idx="14" type="subTitle"/>
          </p:nvPr>
        </p:nvSpPr>
        <p:spPr>
          <a:xfrm>
            <a:off x="2917223" y="3037976"/>
            <a:ext cx="4240500" cy="3636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Sora"/>
              <a:buNone/>
              <a:defRPr b="1" sz="2000">
                <a:latin typeface="Sora"/>
                <a:ea typeface="Sora"/>
                <a:cs typeface="Sora"/>
                <a:sym typeface="Sora"/>
              </a:defRPr>
            </a:lvl1pPr>
            <a:lvl2pPr lvl="1" algn="ctr">
              <a:lnSpc>
                <a:spcPct val="115000"/>
              </a:lnSpc>
              <a:spcBef>
                <a:spcPts val="0"/>
              </a:spcBef>
              <a:spcAft>
                <a:spcPts val="0"/>
              </a:spcAft>
              <a:buSzPts val="2400"/>
              <a:buFont typeface="Sora"/>
              <a:buNone/>
              <a:defRPr b="1" sz="2400">
                <a:latin typeface="Sora"/>
                <a:ea typeface="Sora"/>
                <a:cs typeface="Sora"/>
                <a:sym typeface="Sora"/>
              </a:defRPr>
            </a:lvl2pPr>
            <a:lvl3pPr lvl="2" algn="ctr">
              <a:lnSpc>
                <a:spcPct val="115000"/>
              </a:lnSpc>
              <a:spcBef>
                <a:spcPts val="0"/>
              </a:spcBef>
              <a:spcAft>
                <a:spcPts val="0"/>
              </a:spcAft>
              <a:buSzPts val="2400"/>
              <a:buFont typeface="Sora"/>
              <a:buNone/>
              <a:defRPr b="1" sz="2400">
                <a:latin typeface="Sora"/>
                <a:ea typeface="Sora"/>
                <a:cs typeface="Sora"/>
                <a:sym typeface="Sora"/>
              </a:defRPr>
            </a:lvl3pPr>
            <a:lvl4pPr lvl="3" algn="ctr">
              <a:lnSpc>
                <a:spcPct val="115000"/>
              </a:lnSpc>
              <a:spcBef>
                <a:spcPts val="0"/>
              </a:spcBef>
              <a:spcAft>
                <a:spcPts val="0"/>
              </a:spcAft>
              <a:buSzPts val="2400"/>
              <a:buFont typeface="Sora"/>
              <a:buNone/>
              <a:defRPr b="1" sz="2400">
                <a:latin typeface="Sora"/>
                <a:ea typeface="Sora"/>
                <a:cs typeface="Sora"/>
                <a:sym typeface="Sora"/>
              </a:defRPr>
            </a:lvl4pPr>
            <a:lvl5pPr lvl="4" algn="ctr">
              <a:lnSpc>
                <a:spcPct val="115000"/>
              </a:lnSpc>
              <a:spcBef>
                <a:spcPts val="0"/>
              </a:spcBef>
              <a:spcAft>
                <a:spcPts val="0"/>
              </a:spcAft>
              <a:buSzPts val="2400"/>
              <a:buFont typeface="Sora"/>
              <a:buNone/>
              <a:defRPr b="1" sz="2400">
                <a:latin typeface="Sora"/>
                <a:ea typeface="Sora"/>
                <a:cs typeface="Sora"/>
                <a:sym typeface="Sora"/>
              </a:defRPr>
            </a:lvl5pPr>
            <a:lvl6pPr lvl="5" algn="ctr">
              <a:lnSpc>
                <a:spcPct val="115000"/>
              </a:lnSpc>
              <a:spcBef>
                <a:spcPts val="0"/>
              </a:spcBef>
              <a:spcAft>
                <a:spcPts val="0"/>
              </a:spcAft>
              <a:buSzPts val="2400"/>
              <a:buFont typeface="Sora"/>
              <a:buNone/>
              <a:defRPr b="1" sz="2400">
                <a:latin typeface="Sora"/>
                <a:ea typeface="Sora"/>
                <a:cs typeface="Sora"/>
                <a:sym typeface="Sora"/>
              </a:defRPr>
            </a:lvl6pPr>
            <a:lvl7pPr lvl="6" algn="ctr">
              <a:lnSpc>
                <a:spcPct val="115000"/>
              </a:lnSpc>
              <a:spcBef>
                <a:spcPts val="0"/>
              </a:spcBef>
              <a:spcAft>
                <a:spcPts val="0"/>
              </a:spcAft>
              <a:buSzPts val="2400"/>
              <a:buFont typeface="Sora"/>
              <a:buNone/>
              <a:defRPr b="1" sz="2400">
                <a:latin typeface="Sora"/>
                <a:ea typeface="Sora"/>
                <a:cs typeface="Sora"/>
                <a:sym typeface="Sora"/>
              </a:defRPr>
            </a:lvl7pPr>
            <a:lvl8pPr lvl="7" algn="ctr">
              <a:lnSpc>
                <a:spcPct val="115000"/>
              </a:lnSpc>
              <a:spcBef>
                <a:spcPts val="0"/>
              </a:spcBef>
              <a:spcAft>
                <a:spcPts val="0"/>
              </a:spcAft>
              <a:buSzPts val="2400"/>
              <a:buFont typeface="Sora"/>
              <a:buNone/>
              <a:defRPr b="1" sz="2400">
                <a:latin typeface="Sora"/>
                <a:ea typeface="Sora"/>
                <a:cs typeface="Sora"/>
                <a:sym typeface="Sora"/>
              </a:defRPr>
            </a:lvl8pPr>
            <a:lvl9pPr lvl="8" algn="ctr">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86" name="Google Shape;86;p7"/>
          <p:cNvSpPr txBox="1"/>
          <p:nvPr>
            <p:ph idx="15" type="subTitle"/>
          </p:nvPr>
        </p:nvSpPr>
        <p:spPr>
          <a:xfrm>
            <a:off x="2917227" y="3856301"/>
            <a:ext cx="4240500" cy="3636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Sora"/>
              <a:buNone/>
              <a:defRPr b="1" sz="2000">
                <a:latin typeface="Sora"/>
                <a:ea typeface="Sora"/>
                <a:cs typeface="Sora"/>
                <a:sym typeface="Sora"/>
              </a:defRPr>
            </a:lvl1pPr>
            <a:lvl2pPr lvl="1" algn="ctr">
              <a:lnSpc>
                <a:spcPct val="115000"/>
              </a:lnSpc>
              <a:spcBef>
                <a:spcPts val="0"/>
              </a:spcBef>
              <a:spcAft>
                <a:spcPts val="0"/>
              </a:spcAft>
              <a:buSzPts val="2400"/>
              <a:buFont typeface="Sora"/>
              <a:buNone/>
              <a:defRPr b="1" sz="2400">
                <a:latin typeface="Sora"/>
                <a:ea typeface="Sora"/>
                <a:cs typeface="Sora"/>
                <a:sym typeface="Sora"/>
              </a:defRPr>
            </a:lvl2pPr>
            <a:lvl3pPr lvl="2" algn="ctr">
              <a:lnSpc>
                <a:spcPct val="115000"/>
              </a:lnSpc>
              <a:spcBef>
                <a:spcPts val="0"/>
              </a:spcBef>
              <a:spcAft>
                <a:spcPts val="0"/>
              </a:spcAft>
              <a:buSzPts val="2400"/>
              <a:buFont typeface="Sora"/>
              <a:buNone/>
              <a:defRPr b="1" sz="2400">
                <a:latin typeface="Sora"/>
                <a:ea typeface="Sora"/>
                <a:cs typeface="Sora"/>
                <a:sym typeface="Sora"/>
              </a:defRPr>
            </a:lvl3pPr>
            <a:lvl4pPr lvl="3" algn="ctr">
              <a:lnSpc>
                <a:spcPct val="115000"/>
              </a:lnSpc>
              <a:spcBef>
                <a:spcPts val="0"/>
              </a:spcBef>
              <a:spcAft>
                <a:spcPts val="0"/>
              </a:spcAft>
              <a:buSzPts val="2400"/>
              <a:buFont typeface="Sora"/>
              <a:buNone/>
              <a:defRPr b="1" sz="2400">
                <a:latin typeface="Sora"/>
                <a:ea typeface="Sora"/>
                <a:cs typeface="Sora"/>
                <a:sym typeface="Sora"/>
              </a:defRPr>
            </a:lvl4pPr>
            <a:lvl5pPr lvl="4" algn="ctr">
              <a:lnSpc>
                <a:spcPct val="115000"/>
              </a:lnSpc>
              <a:spcBef>
                <a:spcPts val="0"/>
              </a:spcBef>
              <a:spcAft>
                <a:spcPts val="0"/>
              </a:spcAft>
              <a:buSzPts val="2400"/>
              <a:buFont typeface="Sora"/>
              <a:buNone/>
              <a:defRPr b="1" sz="2400">
                <a:latin typeface="Sora"/>
                <a:ea typeface="Sora"/>
                <a:cs typeface="Sora"/>
                <a:sym typeface="Sora"/>
              </a:defRPr>
            </a:lvl5pPr>
            <a:lvl6pPr lvl="5" algn="ctr">
              <a:lnSpc>
                <a:spcPct val="115000"/>
              </a:lnSpc>
              <a:spcBef>
                <a:spcPts val="0"/>
              </a:spcBef>
              <a:spcAft>
                <a:spcPts val="0"/>
              </a:spcAft>
              <a:buSzPts val="2400"/>
              <a:buFont typeface="Sora"/>
              <a:buNone/>
              <a:defRPr b="1" sz="2400">
                <a:latin typeface="Sora"/>
                <a:ea typeface="Sora"/>
                <a:cs typeface="Sora"/>
                <a:sym typeface="Sora"/>
              </a:defRPr>
            </a:lvl6pPr>
            <a:lvl7pPr lvl="6" algn="ctr">
              <a:lnSpc>
                <a:spcPct val="115000"/>
              </a:lnSpc>
              <a:spcBef>
                <a:spcPts val="0"/>
              </a:spcBef>
              <a:spcAft>
                <a:spcPts val="0"/>
              </a:spcAft>
              <a:buSzPts val="2400"/>
              <a:buFont typeface="Sora"/>
              <a:buNone/>
              <a:defRPr b="1" sz="2400">
                <a:latin typeface="Sora"/>
                <a:ea typeface="Sora"/>
                <a:cs typeface="Sora"/>
                <a:sym typeface="Sora"/>
              </a:defRPr>
            </a:lvl7pPr>
            <a:lvl8pPr lvl="7" algn="ctr">
              <a:lnSpc>
                <a:spcPct val="115000"/>
              </a:lnSpc>
              <a:spcBef>
                <a:spcPts val="0"/>
              </a:spcBef>
              <a:spcAft>
                <a:spcPts val="0"/>
              </a:spcAft>
              <a:buSzPts val="2400"/>
              <a:buFont typeface="Sora"/>
              <a:buNone/>
              <a:defRPr b="1" sz="2400">
                <a:latin typeface="Sora"/>
                <a:ea typeface="Sora"/>
                <a:cs typeface="Sora"/>
                <a:sym typeface="Sora"/>
              </a:defRPr>
            </a:lvl8pPr>
            <a:lvl9pPr lvl="8" algn="ctr">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87" name="Google Shape;87;p7"/>
          <p:cNvGrpSpPr/>
          <p:nvPr/>
        </p:nvGrpSpPr>
        <p:grpSpPr>
          <a:xfrm>
            <a:off x="8113600" y="227500"/>
            <a:ext cx="882599" cy="403555"/>
            <a:chOff x="7884075" y="238975"/>
            <a:chExt cx="882599" cy="403555"/>
          </a:xfrm>
        </p:grpSpPr>
        <p:sp>
          <p:nvSpPr>
            <p:cNvPr id="88" name="Google Shape;88;p7"/>
            <p:cNvSpPr/>
            <p:nvPr/>
          </p:nvSpPr>
          <p:spPr>
            <a:xfrm>
              <a:off x="8255437" y="436475"/>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7"/>
            <p:cNvSpPr/>
            <p:nvPr/>
          </p:nvSpPr>
          <p:spPr>
            <a:xfrm>
              <a:off x="7884075" y="238975"/>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7"/>
            <p:cNvSpPr/>
            <p:nvPr/>
          </p:nvSpPr>
          <p:spPr>
            <a:xfrm>
              <a:off x="8626800" y="378850"/>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 name="Google Shape;91;p7"/>
          <p:cNvGrpSpPr/>
          <p:nvPr/>
        </p:nvGrpSpPr>
        <p:grpSpPr>
          <a:xfrm>
            <a:off x="378100" y="-216500"/>
            <a:ext cx="8131200" cy="5239200"/>
            <a:chOff x="378100" y="-216500"/>
            <a:chExt cx="8131200" cy="5239200"/>
          </a:xfrm>
        </p:grpSpPr>
        <p:cxnSp>
          <p:nvCxnSpPr>
            <p:cNvPr id="92" name="Google Shape;92;p7"/>
            <p:cNvCxnSpPr/>
            <p:nvPr/>
          </p:nvCxnSpPr>
          <p:spPr>
            <a:xfrm>
              <a:off x="378100" y="-216500"/>
              <a:ext cx="7978800" cy="5086800"/>
            </a:xfrm>
            <a:prstGeom prst="bentConnector3">
              <a:avLst>
                <a:gd fmla="val -970" name="adj1"/>
              </a:avLst>
            </a:prstGeom>
            <a:noFill/>
            <a:ln cap="flat" cmpd="sng" w="19050">
              <a:solidFill>
                <a:schemeClr val="lt2"/>
              </a:solidFill>
              <a:prstDash val="solid"/>
              <a:round/>
              <a:headEnd len="sm" w="sm" type="none"/>
              <a:tailEnd len="med" w="med" type="oval"/>
            </a:ln>
          </p:spPr>
        </p:cxnSp>
        <p:cxnSp>
          <p:nvCxnSpPr>
            <p:cNvPr id="93" name="Google Shape;93;p7"/>
            <p:cNvCxnSpPr/>
            <p:nvPr/>
          </p:nvCxnSpPr>
          <p:spPr>
            <a:xfrm>
              <a:off x="530500" y="-64100"/>
              <a:ext cx="7978800" cy="5086800"/>
            </a:xfrm>
            <a:prstGeom prst="bentConnector3">
              <a:avLst>
                <a:gd fmla="val -970" name="adj1"/>
              </a:avLst>
            </a:prstGeom>
            <a:noFill/>
            <a:ln cap="flat" cmpd="sng" w="19050">
              <a:solidFill>
                <a:schemeClr val="lt2"/>
              </a:solidFill>
              <a:prstDash val="solid"/>
              <a:round/>
              <a:headEnd len="sm" w="sm" type="none"/>
              <a:tailEnd len="med" w="med" type="oval"/>
            </a:ln>
          </p:spPr>
        </p:cxnSp>
      </p:grpSp>
      <p:sp>
        <p:nvSpPr>
          <p:cNvPr id="94" name="Google Shape;94;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95" name="Shape 95"/>
        <p:cNvGrpSpPr/>
        <p:nvPr/>
      </p:nvGrpSpPr>
      <p:grpSpPr>
        <a:xfrm>
          <a:off x="0" y="0"/>
          <a:ext cx="0" cy="0"/>
          <a:chOff x="0" y="0"/>
          <a:chExt cx="0" cy="0"/>
        </a:xfrm>
      </p:grpSpPr>
      <p:grpSp>
        <p:nvGrpSpPr>
          <p:cNvPr id="96" name="Google Shape;96;p8"/>
          <p:cNvGrpSpPr/>
          <p:nvPr/>
        </p:nvGrpSpPr>
        <p:grpSpPr>
          <a:xfrm>
            <a:off x="-709225" y="2020450"/>
            <a:ext cx="10403925" cy="4250875"/>
            <a:chOff x="-709225" y="2020450"/>
            <a:chExt cx="10403925" cy="4250875"/>
          </a:xfrm>
        </p:grpSpPr>
        <p:grpSp>
          <p:nvGrpSpPr>
            <p:cNvPr id="97" name="Google Shape;97;p8"/>
            <p:cNvGrpSpPr/>
            <p:nvPr/>
          </p:nvGrpSpPr>
          <p:grpSpPr>
            <a:xfrm>
              <a:off x="176175" y="2459300"/>
              <a:ext cx="418425" cy="3812025"/>
              <a:chOff x="176175" y="2459300"/>
              <a:chExt cx="418425" cy="3812025"/>
            </a:xfrm>
          </p:grpSpPr>
          <p:cxnSp>
            <p:nvCxnSpPr>
              <p:cNvPr id="98" name="Google Shape;98;p8"/>
              <p:cNvCxnSpPr/>
              <p:nvPr/>
            </p:nvCxnSpPr>
            <p:spPr>
              <a:xfrm flipH="1" rot="5400000">
                <a:off x="-1093800" y="3815900"/>
                <a:ext cx="3045000" cy="331800"/>
              </a:xfrm>
              <a:prstGeom prst="bentConnector3">
                <a:avLst>
                  <a:gd fmla="val 50000" name="adj1"/>
                </a:avLst>
              </a:prstGeom>
              <a:noFill/>
              <a:ln cap="flat" cmpd="sng" w="19050">
                <a:solidFill>
                  <a:schemeClr val="lt2"/>
                </a:solidFill>
                <a:prstDash val="solid"/>
                <a:round/>
                <a:headEnd len="sm" w="sm" type="none"/>
                <a:tailEnd len="med" w="med" type="oval"/>
              </a:ln>
            </p:spPr>
          </p:cxnSp>
          <p:cxnSp>
            <p:nvCxnSpPr>
              <p:cNvPr id="99" name="Google Shape;99;p8"/>
              <p:cNvCxnSpPr/>
              <p:nvPr/>
            </p:nvCxnSpPr>
            <p:spPr>
              <a:xfrm flipH="1" rot="5400000">
                <a:off x="-1327875" y="4449875"/>
                <a:ext cx="3325500" cy="317400"/>
              </a:xfrm>
              <a:prstGeom prst="bentConnector3">
                <a:avLst>
                  <a:gd fmla="val 64575" name="adj1"/>
                </a:avLst>
              </a:prstGeom>
              <a:noFill/>
              <a:ln cap="flat" cmpd="sng" w="19050">
                <a:solidFill>
                  <a:schemeClr val="lt2"/>
                </a:solidFill>
                <a:prstDash val="solid"/>
                <a:round/>
                <a:headEnd len="sm" w="sm" type="none"/>
                <a:tailEnd len="med" w="med" type="oval"/>
              </a:ln>
            </p:spPr>
          </p:cxnSp>
        </p:grpSp>
        <p:grpSp>
          <p:nvGrpSpPr>
            <p:cNvPr id="100" name="Google Shape;100;p8"/>
            <p:cNvGrpSpPr/>
            <p:nvPr/>
          </p:nvGrpSpPr>
          <p:grpSpPr>
            <a:xfrm>
              <a:off x="-709225" y="4185350"/>
              <a:ext cx="7895400" cy="1976375"/>
              <a:chOff x="-709225" y="4185350"/>
              <a:chExt cx="7895400" cy="1976375"/>
            </a:xfrm>
          </p:grpSpPr>
          <p:cxnSp>
            <p:nvCxnSpPr>
              <p:cNvPr id="101" name="Google Shape;101;p8"/>
              <p:cNvCxnSpPr/>
              <p:nvPr/>
            </p:nvCxnSpPr>
            <p:spPr>
              <a:xfrm flipH="1" rot="10800000">
                <a:off x="-709225" y="4185350"/>
                <a:ext cx="7895400" cy="1147500"/>
              </a:xfrm>
              <a:prstGeom prst="bentConnector3">
                <a:avLst>
                  <a:gd fmla="val 71221" name="adj1"/>
                </a:avLst>
              </a:prstGeom>
              <a:noFill/>
              <a:ln cap="flat" cmpd="sng" w="19050">
                <a:solidFill>
                  <a:schemeClr val="lt2"/>
                </a:solidFill>
                <a:prstDash val="solid"/>
                <a:round/>
                <a:headEnd len="sm" w="sm" type="none"/>
                <a:tailEnd len="med" w="med" type="oval"/>
              </a:ln>
            </p:spPr>
          </p:cxnSp>
          <p:cxnSp>
            <p:nvCxnSpPr>
              <p:cNvPr id="102" name="Google Shape;102;p8"/>
              <p:cNvCxnSpPr/>
              <p:nvPr/>
            </p:nvCxnSpPr>
            <p:spPr>
              <a:xfrm flipH="1" rot="10800000">
                <a:off x="2953025" y="4367125"/>
                <a:ext cx="3567000" cy="1794600"/>
              </a:xfrm>
              <a:prstGeom prst="bentConnector3">
                <a:avLst>
                  <a:gd fmla="val 50000" name="adj1"/>
                </a:avLst>
              </a:prstGeom>
              <a:noFill/>
              <a:ln cap="flat" cmpd="sng" w="19050">
                <a:solidFill>
                  <a:schemeClr val="lt2"/>
                </a:solidFill>
                <a:prstDash val="solid"/>
                <a:round/>
                <a:headEnd len="sm" w="sm" type="none"/>
                <a:tailEnd len="med" w="med" type="oval"/>
              </a:ln>
            </p:spPr>
          </p:cxnSp>
        </p:grpSp>
        <p:grpSp>
          <p:nvGrpSpPr>
            <p:cNvPr id="103" name="Google Shape;103;p8"/>
            <p:cNvGrpSpPr/>
            <p:nvPr/>
          </p:nvGrpSpPr>
          <p:grpSpPr>
            <a:xfrm>
              <a:off x="8878450" y="2020450"/>
              <a:ext cx="816250" cy="2568900"/>
              <a:chOff x="8878450" y="2020450"/>
              <a:chExt cx="816250" cy="2568900"/>
            </a:xfrm>
          </p:grpSpPr>
          <p:cxnSp>
            <p:nvCxnSpPr>
              <p:cNvPr id="104" name="Google Shape;104;p8"/>
              <p:cNvCxnSpPr/>
              <p:nvPr/>
            </p:nvCxnSpPr>
            <p:spPr>
              <a:xfrm rot="5400000">
                <a:off x="7933150" y="2965750"/>
                <a:ext cx="2568900" cy="678300"/>
              </a:xfrm>
              <a:prstGeom prst="bentConnector3">
                <a:avLst>
                  <a:gd fmla="val 4494" name="adj1"/>
                </a:avLst>
              </a:prstGeom>
              <a:noFill/>
              <a:ln cap="flat" cmpd="sng" w="19050">
                <a:solidFill>
                  <a:schemeClr val="lt2"/>
                </a:solidFill>
                <a:prstDash val="solid"/>
                <a:round/>
                <a:headEnd len="sm" w="sm" type="none"/>
                <a:tailEnd len="med" w="med" type="oval"/>
              </a:ln>
            </p:spPr>
          </p:cxnSp>
          <p:cxnSp>
            <p:nvCxnSpPr>
              <p:cNvPr id="105" name="Google Shape;105;p8"/>
              <p:cNvCxnSpPr/>
              <p:nvPr/>
            </p:nvCxnSpPr>
            <p:spPr>
              <a:xfrm rot="5400000">
                <a:off x="8288750" y="2779400"/>
                <a:ext cx="2082300" cy="729600"/>
              </a:xfrm>
              <a:prstGeom prst="bentConnector3">
                <a:avLst>
                  <a:gd fmla="val 50000" name="adj1"/>
                </a:avLst>
              </a:prstGeom>
              <a:noFill/>
              <a:ln cap="flat" cmpd="sng" w="19050">
                <a:solidFill>
                  <a:schemeClr val="lt2"/>
                </a:solidFill>
                <a:prstDash val="solid"/>
                <a:round/>
                <a:headEnd len="sm" w="sm" type="none"/>
                <a:tailEnd len="med" w="med" type="oval"/>
              </a:ln>
            </p:spPr>
          </p:cxnSp>
        </p:grpSp>
      </p:grpSp>
      <p:grpSp>
        <p:nvGrpSpPr>
          <p:cNvPr id="106" name="Google Shape;106;p8"/>
          <p:cNvGrpSpPr/>
          <p:nvPr/>
        </p:nvGrpSpPr>
        <p:grpSpPr>
          <a:xfrm>
            <a:off x="84278" y="2240873"/>
            <a:ext cx="8837445" cy="2718104"/>
            <a:chOff x="84278" y="2240873"/>
            <a:chExt cx="8837445" cy="2718104"/>
          </a:xfrm>
        </p:grpSpPr>
        <p:sp>
          <p:nvSpPr>
            <p:cNvPr id="107" name="Google Shape;107;p8"/>
            <p:cNvSpPr/>
            <p:nvPr/>
          </p:nvSpPr>
          <p:spPr>
            <a:xfrm>
              <a:off x="84278" y="2240873"/>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8"/>
            <p:cNvSpPr/>
            <p:nvPr/>
          </p:nvSpPr>
          <p:spPr>
            <a:xfrm>
              <a:off x="8777403" y="4814673"/>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9" name="Google Shape;109;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0" name="Shape 110"/>
        <p:cNvGrpSpPr/>
        <p:nvPr/>
      </p:nvGrpSpPr>
      <p:grpSpPr>
        <a:xfrm>
          <a:off x="0" y="0"/>
          <a:ext cx="0" cy="0"/>
          <a:chOff x="0" y="0"/>
          <a:chExt cx="0" cy="0"/>
        </a:xfrm>
      </p:grpSpPr>
      <p:sp>
        <p:nvSpPr>
          <p:cNvPr id="111" name="Google Shape;111;p9"/>
          <p:cNvSpPr txBox="1"/>
          <p:nvPr>
            <p:ph idx="1" type="subTitle"/>
          </p:nvPr>
        </p:nvSpPr>
        <p:spPr>
          <a:xfrm>
            <a:off x="2375775" y="2379467"/>
            <a:ext cx="3247500" cy="117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dk2"/>
              </a:buClr>
              <a:buSzPts val="1400"/>
              <a:buAutoNum type="arabicPeriod"/>
              <a:defRPr sz="1400"/>
            </a:lvl1pPr>
            <a:lvl2pPr lvl="1" algn="ctr">
              <a:lnSpc>
                <a:spcPct val="115000"/>
              </a:lnSpc>
              <a:spcBef>
                <a:spcPts val="0"/>
              </a:spcBef>
              <a:spcAft>
                <a:spcPts val="0"/>
              </a:spcAft>
              <a:buClr>
                <a:srgbClr val="999999"/>
              </a:buClr>
              <a:buSzPts val="800"/>
              <a:buAutoNum type="alphaLcPeriod"/>
              <a:defRPr/>
            </a:lvl2pPr>
            <a:lvl3pPr lvl="2" algn="ctr">
              <a:lnSpc>
                <a:spcPct val="115000"/>
              </a:lnSpc>
              <a:spcBef>
                <a:spcPts val="0"/>
              </a:spcBef>
              <a:spcAft>
                <a:spcPts val="0"/>
              </a:spcAft>
              <a:buClr>
                <a:srgbClr val="999999"/>
              </a:buClr>
              <a:buSzPts val="800"/>
              <a:buAutoNum type="romanLcPeriod"/>
              <a:defRPr/>
            </a:lvl3pPr>
            <a:lvl4pPr lvl="3" algn="ctr">
              <a:lnSpc>
                <a:spcPct val="115000"/>
              </a:lnSpc>
              <a:spcBef>
                <a:spcPts val="0"/>
              </a:spcBef>
              <a:spcAft>
                <a:spcPts val="0"/>
              </a:spcAft>
              <a:buClr>
                <a:srgbClr val="999999"/>
              </a:buClr>
              <a:buSzPts val="800"/>
              <a:buAutoNum type="arabicPeriod"/>
              <a:defRPr/>
            </a:lvl4pPr>
            <a:lvl5pPr lvl="4" algn="ctr">
              <a:lnSpc>
                <a:spcPct val="115000"/>
              </a:lnSpc>
              <a:spcBef>
                <a:spcPts val="0"/>
              </a:spcBef>
              <a:spcAft>
                <a:spcPts val="0"/>
              </a:spcAft>
              <a:buClr>
                <a:srgbClr val="999999"/>
              </a:buClr>
              <a:buSzPts val="1200"/>
              <a:buAutoNum type="alphaLcPeriod"/>
              <a:defRPr/>
            </a:lvl5pPr>
            <a:lvl6pPr lvl="5" algn="ctr">
              <a:lnSpc>
                <a:spcPct val="115000"/>
              </a:lnSpc>
              <a:spcBef>
                <a:spcPts val="0"/>
              </a:spcBef>
              <a:spcAft>
                <a:spcPts val="0"/>
              </a:spcAft>
              <a:buClr>
                <a:srgbClr val="999999"/>
              </a:buClr>
              <a:buSzPts val="1200"/>
              <a:buAutoNum type="romanLcPeriod"/>
              <a:defRPr/>
            </a:lvl6pPr>
            <a:lvl7pPr lvl="6" algn="ctr">
              <a:lnSpc>
                <a:spcPct val="115000"/>
              </a:lnSpc>
              <a:spcBef>
                <a:spcPts val="0"/>
              </a:spcBef>
              <a:spcAft>
                <a:spcPts val="0"/>
              </a:spcAft>
              <a:buClr>
                <a:srgbClr val="999999"/>
              </a:buClr>
              <a:buSzPts val="700"/>
              <a:buAutoNum type="arabicPeriod"/>
              <a:defRPr/>
            </a:lvl7pPr>
            <a:lvl8pPr lvl="7" algn="ctr">
              <a:lnSpc>
                <a:spcPct val="115000"/>
              </a:lnSpc>
              <a:spcBef>
                <a:spcPts val="0"/>
              </a:spcBef>
              <a:spcAft>
                <a:spcPts val="0"/>
              </a:spcAft>
              <a:buClr>
                <a:srgbClr val="999999"/>
              </a:buClr>
              <a:buSzPts val="700"/>
              <a:buAutoNum type="alphaLcPeriod"/>
              <a:defRPr/>
            </a:lvl8pPr>
            <a:lvl9pPr lvl="8" algn="ctr">
              <a:lnSpc>
                <a:spcPct val="115000"/>
              </a:lnSpc>
              <a:spcBef>
                <a:spcPts val="0"/>
              </a:spcBef>
              <a:spcAft>
                <a:spcPts val="0"/>
              </a:spcAft>
              <a:buClr>
                <a:srgbClr val="999999"/>
              </a:buClr>
              <a:buSzPts val="600"/>
              <a:buAutoNum type="romanLcPeriod"/>
              <a:defRPr/>
            </a:lvl9pPr>
          </a:lstStyle>
          <a:p/>
        </p:txBody>
      </p:sp>
      <p:sp>
        <p:nvSpPr>
          <p:cNvPr id="112" name="Google Shape;112;p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113" name="Google Shape;113;p9"/>
          <p:cNvGrpSpPr/>
          <p:nvPr/>
        </p:nvGrpSpPr>
        <p:grpSpPr>
          <a:xfrm>
            <a:off x="144288" y="147077"/>
            <a:ext cx="454047" cy="1101386"/>
            <a:chOff x="144288" y="147077"/>
            <a:chExt cx="454047" cy="1101386"/>
          </a:xfrm>
        </p:grpSpPr>
        <p:sp>
          <p:nvSpPr>
            <p:cNvPr id="114" name="Google Shape;114;p9"/>
            <p:cNvSpPr/>
            <p:nvPr/>
          </p:nvSpPr>
          <p:spPr>
            <a:xfrm rot="-5400000">
              <a:off x="144280" y="147085"/>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9"/>
            <p:cNvSpPr/>
            <p:nvPr/>
          </p:nvSpPr>
          <p:spPr>
            <a:xfrm rot="-5400000">
              <a:off x="193389" y="1068025"/>
              <a:ext cx="180450" cy="180425"/>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9"/>
            <p:cNvSpPr/>
            <p:nvPr/>
          </p:nvSpPr>
          <p:spPr>
            <a:xfrm rot="-5400000">
              <a:off x="211443" y="746585"/>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9"/>
            <p:cNvSpPr/>
            <p:nvPr/>
          </p:nvSpPr>
          <p:spPr>
            <a:xfrm rot="-5400000">
              <a:off x="373819" y="291403"/>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8" name="Google Shape;118;p9"/>
          <p:cNvGrpSpPr/>
          <p:nvPr/>
        </p:nvGrpSpPr>
        <p:grpSpPr>
          <a:xfrm>
            <a:off x="569675" y="183250"/>
            <a:ext cx="8764375" cy="5229850"/>
            <a:chOff x="569675" y="183250"/>
            <a:chExt cx="8764375" cy="5229850"/>
          </a:xfrm>
        </p:grpSpPr>
        <p:cxnSp>
          <p:nvCxnSpPr>
            <p:cNvPr id="119" name="Google Shape;119;p9"/>
            <p:cNvCxnSpPr/>
            <p:nvPr/>
          </p:nvCxnSpPr>
          <p:spPr>
            <a:xfrm rot="10800000">
              <a:off x="569675" y="183250"/>
              <a:ext cx="8572500" cy="5118300"/>
            </a:xfrm>
            <a:prstGeom prst="bentConnector3">
              <a:avLst>
                <a:gd fmla="val 5355" name="adj1"/>
              </a:avLst>
            </a:prstGeom>
            <a:noFill/>
            <a:ln cap="flat" cmpd="sng" w="19050">
              <a:solidFill>
                <a:schemeClr val="lt2"/>
              </a:solidFill>
              <a:prstDash val="solid"/>
              <a:round/>
              <a:headEnd len="sm" w="sm" type="none"/>
              <a:tailEnd len="med" w="med" type="oval"/>
            </a:ln>
          </p:spPr>
        </p:cxnSp>
        <p:cxnSp>
          <p:nvCxnSpPr>
            <p:cNvPr id="120" name="Google Shape;120;p9"/>
            <p:cNvCxnSpPr/>
            <p:nvPr/>
          </p:nvCxnSpPr>
          <p:spPr>
            <a:xfrm rot="10800000">
              <a:off x="761550" y="294800"/>
              <a:ext cx="8572500" cy="5118300"/>
            </a:xfrm>
            <a:prstGeom prst="bentConnector3">
              <a:avLst>
                <a:gd fmla="val 5355" name="adj1"/>
              </a:avLst>
            </a:prstGeom>
            <a:noFill/>
            <a:ln cap="flat" cmpd="sng" w="19050">
              <a:solidFill>
                <a:schemeClr val="lt2"/>
              </a:solidFill>
              <a:prstDash val="solid"/>
              <a:round/>
              <a:headEnd len="sm" w="sm" type="none"/>
              <a:tailEnd len="med" w="med" type="oval"/>
            </a:ln>
          </p:spPr>
        </p:cxnSp>
      </p:grpSp>
      <p:sp>
        <p:nvSpPr>
          <p:cNvPr id="121" name="Google Shape;121;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2" name="Shape 122"/>
        <p:cNvGrpSpPr/>
        <p:nvPr/>
      </p:nvGrpSpPr>
      <p:grpSpPr>
        <a:xfrm>
          <a:off x="0" y="0"/>
          <a:ext cx="0" cy="0"/>
          <a:chOff x="0" y="0"/>
          <a:chExt cx="0" cy="0"/>
        </a:xfrm>
      </p:grpSpPr>
      <p:sp>
        <p:nvSpPr>
          <p:cNvPr id="123" name="Google Shape;123;p10"/>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24" name="Google Shape;124;p10"/>
          <p:cNvSpPr txBox="1"/>
          <p:nvPr>
            <p:ph idx="12" type="sldNum"/>
          </p:nvPr>
        </p:nvSpPr>
        <p:spPr>
          <a:xfrm>
            <a:off x="7984728" y="4778862"/>
            <a:ext cx="0" cy="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1" i="0" sz="1400" u="none" cap="none" strike="noStrike">
                <a:solidFill>
                  <a:srgbClr val="000000"/>
                </a:solidFill>
                <a:latin typeface="Calibri"/>
                <a:ea typeface="Calibri"/>
                <a:cs typeface="Calibri"/>
                <a:sym typeface="Calibri"/>
              </a:defRPr>
            </a:lvl1pPr>
            <a:lvl2pPr indent="0" lvl="1" marL="0" marR="0" rtl="0" algn="l">
              <a:lnSpc>
                <a:spcPct val="100000"/>
              </a:lnSpc>
              <a:spcBef>
                <a:spcPts val="0"/>
              </a:spcBef>
              <a:spcAft>
                <a:spcPts val="0"/>
              </a:spcAft>
              <a:buNone/>
              <a:defRPr b="1" i="0" sz="1400" u="none" cap="none" strike="noStrike">
                <a:solidFill>
                  <a:srgbClr val="000000"/>
                </a:solidFill>
                <a:latin typeface="Calibri"/>
                <a:ea typeface="Calibri"/>
                <a:cs typeface="Calibri"/>
                <a:sym typeface="Calibri"/>
              </a:defRPr>
            </a:lvl2pPr>
            <a:lvl3pPr indent="0" lvl="2" marL="0" marR="0" rtl="0" algn="l">
              <a:lnSpc>
                <a:spcPct val="100000"/>
              </a:lnSpc>
              <a:spcBef>
                <a:spcPts val="0"/>
              </a:spcBef>
              <a:spcAft>
                <a:spcPts val="0"/>
              </a:spcAft>
              <a:buNone/>
              <a:defRPr b="1" i="0" sz="1400" u="none" cap="none" strike="noStrike">
                <a:solidFill>
                  <a:srgbClr val="000000"/>
                </a:solidFill>
                <a:latin typeface="Calibri"/>
                <a:ea typeface="Calibri"/>
                <a:cs typeface="Calibri"/>
                <a:sym typeface="Calibri"/>
              </a:defRPr>
            </a:lvl3pPr>
            <a:lvl4pPr indent="0" lvl="3" marL="0" marR="0" rtl="0" algn="l">
              <a:lnSpc>
                <a:spcPct val="100000"/>
              </a:lnSpc>
              <a:spcBef>
                <a:spcPts val="0"/>
              </a:spcBef>
              <a:spcAft>
                <a:spcPts val="0"/>
              </a:spcAft>
              <a:buNone/>
              <a:defRPr b="1" i="0" sz="1400" u="none" cap="none" strike="noStrike">
                <a:solidFill>
                  <a:srgbClr val="000000"/>
                </a:solidFill>
                <a:latin typeface="Calibri"/>
                <a:ea typeface="Calibri"/>
                <a:cs typeface="Calibri"/>
                <a:sym typeface="Calibri"/>
              </a:defRPr>
            </a:lvl4pPr>
            <a:lvl5pPr indent="0" lvl="4" marL="0" marR="0" rtl="0" algn="l">
              <a:lnSpc>
                <a:spcPct val="100000"/>
              </a:lnSpc>
              <a:spcBef>
                <a:spcPts val="0"/>
              </a:spcBef>
              <a:spcAft>
                <a:spcPts val="0"/>
              </a:spcAft>
              <a:buNone/>
              <a:defRPr b="1" i="0" sz="1400" u="none" cap="none" strike="noStrike">
                <a:solidFill>
                  <a:srgbClr val="000000"/>
                </a:solidFill>
                <a:latin typeface="Calibri"/>
                <a:ea typeface="Calibri"/>
                <a:cs typeface="Calibri"/>
                <a:sym typeface="Calibri"/>
              </a:defRPr>
            </a:lvl5pPr>
            <a:lvl6pPr indent="0" lvl="5" marL="0" marR="0" rtl="0" algn="l">
              <a:lnSpc>
                <a:spcPct val="100000"/>
              </a:lnSpc>
              <a:spcBef>
                <a:spcPts val="0"/>
              </a:spcBef>
              <a:spcAft>
                <a:spcPts val="0"/>
              </a:spcAft>
              <a:buNone/>
              <a:defRPr b="1" i="0" sz="1400" u="none" cap="none" strike="noStrike">
                <a:solidFill>
                  <a:srgbClr val="000000"/>
                </a:solidFill>
                <a:latin typeface="Calibri"/>
                <a:ea typeface="Calibri"/>
                <a:cs typeface="Calibri"/>
                <a:sym typeface="Calibri"/>
              </a:defRPr>
            </a:lvl6pPr>
            <a:lvl7pPr indent="0" lvl="6" marL="0" marR="0" rtl="0" algn="l">
              <a:lnSpc>
                <a:spcPct val="100000"/>
              </a:lnSpc>
              <a:spcBef>
                <a:spcPts val="0"/>
              </a:spcBef>
              <a:spcAft>
                <a:spcPts val="0"/>
              </a:spcAft>
              <a:buNone/>
              <a:defRPr b="1" i="0" sz="1400" u="none" cap="none" strike="noStrike">
                <a:solidFill>
                  <a:srgbClr val="000000"/>
                </a:solidFill>
                <a:latin typeface="Calibri"/>
                <a:ea typeface="Calibri"/>
                <a:cs typeface="Calibri"/>
                <a:sym typeface="Calibri"/>
              </a:defRPr>
            </a:lvl7pPr>
            <a:lvl8pPr indent="0" lvl="7" marL="0" marR="0" rtl="0" algn="l">
              <a:lnSpc>
                <a:spcPct val="100000"/>
              </a:lnSpc>
              <a:spcBef>
                <a:spcPts val="0"/>
              </a:spcBef>
              <a:spcAft>
                <a:spcPts val="0"/>
              </a:spcAft>
              <a:buNone/>
              <a:defRPr b="1" i="0" sz="1400" u="none" cap="none" strike="noStrike">
                <a:solidFill>
                  <a:srgbClr val="000000"/>
                </a:solidFill>
                <a:latin typeface="Calibri"/>
                <a:ea typeface="Calibri"/>
                <a:cs typeface="Calibri"/>
                <a:sym typeface="Calibri"/>
              </a:defRPr>
            </a:lvl8pPr>
            <a:lvl9pPr indent="0" lvl="8" marL="0" marR="0" rtl="0" algn="l">
              <a:lnSpc>
                <a:spcPct val="100000"/>
              </a:lnSpc>
              <a:spcBef>
                <a:spcPts val="0"/>
              </a:spcBef>
              <a:spcAft>
                <a:spcPts val="0"/>
              </a:spcAft>
              <a:buNone/>
              <a:defRPr b="1" i="0" sz="1400" u="none" cap="none" strike="noStrike">
                <a:solidFill>
                  <a:srgbClr val="000000"/>
                </a:solidFill>
                <a:latin typeface="Calibri"/>
                <a:ea typeface="Calibri"/>
                <a:cs typeface="Calibri"/>
                <a:sym typeface="Calibri"/>
              </a:defRPr>
            </a:lvl9p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1pPr>
            <a:lvl2pPr lvl="1"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2pPr>
            <a:lvl3pPr lvl="2"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3pPr>
            <a:lvl4pPr lvl="3"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4pPr>
            <a:lvl5pPr lvl="4"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5pPr>
            <a:lvl6pPr lvl="5"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6pPr>
            <a:lvl7pPr lvl="6"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7pPr>
            <a:lvl8pPr lvl="7"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8pPr>
            <a:lvl9pPr lvl="8" marR="0" rtl="0" algn="l">
              <a:lnSpc>
                <a:spcPct val="100000"/>
              </a:lnSpc>
              <a:spcBef>
                <a:spcPts val="0"/>
              </a:spcBef>
              <a:spcAft>
                <a:spcPts val="0"/>
              </a:spcAft>
              <a:buClr>
                <a:schemeClr val="dk1"/>
              </a:buClr>
              <a:buSzPts val="3000"/>
              <a:buFont typeface="Sora"/>
              <a:buNone/>
              <a:defRPr b="1" i="0" sz="3000" u="none" cap="none" strike="noStrike">
                <a:solidFill>
                  <a:schemeClr val="dk1"/>
                </a:solidFill>
                <a:latin typeface="Sora"/>
                <a:ea typeface="Sora"/>
                <a:cs typeface="Sora"/>
                <a:sym typeface="Sora"/>
              </a:defRPr>
            </a:lvl9pPr>
          </a:lstStyle>
          <a:p/>
        </p:txBody>
      </p:sp>
      <p:sp>
        <p:nvSpPr>
          <p:cNvPr id="7" name="Google Shape;7;p1"/>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1pPr>
            <a:lvl2pPr indent="-317500" lvl="1" marL="9144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2pPr>
            <a:lvl3pPr indent="-317500" lvl="2" marL="13716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3pPr>
            <a:lvl4pPr indent="-317500" lvl="3" marL="18288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4pPr>
            <a:lvl5pPr indent="-317500" lvl="4" marL="22860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5pPr>
            <a:lvl6pPr indent="-317500" lvl="5" marL="27432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6pPr>
            <a:lvl7pPr indent="-317500" lvl="6" marL="32004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7pPr>
            <a:lvl8pPr indent="-317500" lvl="7" marL="36576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8pPr>
            <a:lvl9pPr indent="-317500" lvl="8" marL="41148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Lato"/>
                <a:ea typeface="Lato"/>
                <a:cs typeface="Lato"/>
                <a:sym typeface="Lato"/>
              </a:defRPr>
            </a:lvl1pPr>
            <a:lvl2pPr lvl="1" algn="r">
              <a:buNone/>
              <a:defRPr sz="1300">
                <a:solidFill>
                  <a:schemeClr val="dk1"/>
                </a:solidFill>
                <a:latin typeface="Lato"/>
                <a:ea typeface="Lato"/>
                <a:cs typeface="Lato"/>
                <a:sym typeface="Lato"/>
              </a:defRPr>
            </a:lvl2pPr>
            <a:lvl3pPr lvl="2" algn="r">
              <a:buNone/>
              <a:defRPr sz="1300">
                <a:solidFill>
                  <a:schemeClr val="dk1"/>
                </a:solidFill>
                <a:latin typeface="Lato"/>
                <a:ea typeface="Lato"/>
                <a:cs typeface="Lato"/>
                <a:sym typeface="Lato"/>
              </a:defRPr>
            </a:lvl3pPr>
            <a:lvl4pPr lvl="3" algn="r">
              <a:buNone/>
              <a:defRPr sz="1300">
                <a:solidFill>
                  <a:schemeClr val="dk1"/>
                </a:solidFill>
                <a:latin typeface="Lato"/>
                <a:ea typeface="Lato"/>
                <a:cs typeface="Lato"/>
                <a:sym typeface="Lato"/>
              </a:defRPr>
            </a:lvl4pPr>
            <a:lvl5pPr lvl="4" algn="r">
              <a:buNone/>
              <a:defRPr sz="1300">
                <a:solidFill>
                  <a:schemeClr val="dk1"/>
                </a:solidFill>
                <a:latin typeface="Lato"/>
                <a:ea typeface="Lato"/>
                <a:cs typeface="Lato"/>
                <a:sym typeface="Lato"/>
              </a:defRPr>
            </a:lvl5pPr>
            <a:lvl6pPr lvl="5" algn="r">
              <a:buNone/>
              <a:defRPr sz="1300">
                <a:solidFill>
                  <a:schemeClr val="dk1"/>
                </a:solidFill>
                <a:latin typeface="Lato"/>
                <a:ea typeface="Lato"/>
                <a:cs typeface="Lato"/>
                <a:sym typeface="Lato"/>
              </a:defRPr>
            </a:lvl6pPr>
            <a:lvl7pPr lvl="6" algn="r">
              <a:buNone/>
              <a:defRPr sz="1300">
                <a:solidFill>
                  <a:schemeClr val="dk1"/>
                </a:solidFill>
                <a:latin typeface="Lato"/>
                <a:ea typeface="Lato"/>
                <a:cs typeface="Lato"/>
                <a:sym typeface="Lato"/>
              </a:defRPr>
            </a:lvl7pPr>
            <a:lvl8pPr lvl="7" algn="r">
              <a:buNone/>
              <a:defRPr sz="1300">
                <a:solidFill>
                  <a:schemeClr val="dk1"/>
                </a:solidFill>
                <a:latin typeface="Lato"/>
                <a:ea typeface="Lato"/>
                <a:cs typeface="Lato"/>
                <a:sym typeface="Lato"/>
              </a:defRPr>
            </a:lvl8pPr>
            <a:lvl9pPr lvl="8" algn="r">
              <a:buNone/>
              <a:defRPr sz="1300">
                <a:solidFill>
                  <a:schemeClr val="dk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1.png"/><Relationship Id="rId4" Type="http://schemas.openxmlformats.org/officeDocument/2006/relationships/image" Target="../media/image7.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1"/>
          <p:cNvSpPr txBox="1"/>
          <p:nvPr>
            <p:ph type="ctrTitle"/>
          </p:nvPr>
        </p:nvSpPr>
        <p:spPr>
          <a:xfrm>
            <a:off x="825360" y="426972"/>
            <a:ext cx="7823400" cy="1767900"/>
          </a:xfrm>
          <a:prstGeom prst="rect">
            <a:avLst/>
          </a:prstGeom>
          <a:noFill/>
          <a:ln>
            <a:noFill/>
          </a:ln>
        </p:spPr>
        <p:txBody>
          <a:bodyPr anchorCtr="0" anchor="b" bIns="91425" lIns="91425" spcFirstLastPara="1" rIns="91425" wrap="square" tIns="91425">
            <a:noAutofit/>
          </a:bodyPr>
          <a:lstStyle/>
          <a:p>
            <a:pPr indent="0" lvl="0" marL="0" rtl="0" algn="just">
              <a:lnSpc>
                <a:spcPct val="150000"/>
              </a:lnSpc>
              <a:spcBef>
                <a:spcPts val="0"/>
              </a:spcBef>
              <a:spcAft>
                <a:spcPts val="0"/>
              </a:spcAft>
              <a:buSzPts val="5200"/>
              <a:buNone/>
            </a:pPr>
            <a:r>
              <a:rPr lang="en-US" sz="2650">
                <a:latin typeface="Arial"/>
                <a:ea typeface="Arial"/>
                <a:cs typeface="Arial"/>
                <a:sym typeface="Arial"/>
              </a:rPr>
              <a:t>TWON Metrics</a:t>
            </a:r>
            <a:endParaRPr sz="2650">
              <a:latin typeface="Arial"/>
              <a:ea typeface="Arial"/>
              <a:cs typeface="Arial"/>
              <a:sym typeface="Arial"/>
            </a:endParaRPr>
          </a:p>
          <a:p>
            <a:pPr indent="0" lvl="0" marL="0" rtl="0" algn="just">
              <a:lnSpc>
                <a:spcPct val="150000"/>
              </a:lnSpc>
              <a:spcBef>
                <a:spcPts val="0"/>
              </a:spcBef>
              <a:spcAft>
                <a:spcPts val="0"/>
              </a:spcAft>
              <a:buSzPts val="5200"/>
              <a:buNone/>
            </a:pPr>
            <a:r>
              <a:rPr lang="en-US" sz="1750">
                <a:latin typeface="Arial"/>
                <a:ea typeface="Arial"/>
                <a:cs typeface="Arial"/>
                <a:sym typeface="Arial"/>
              </a:rPr>
              <a:t>Towards Robust Classifiers for Fake News, Hate Speech, and Toxicity</a:t>
            </a:r>
            <a:endParaRPr sz="1750">
              <a:latin typeface="Arial"/>
              <a:ea typeface="Arial"/>
              <a:cs typeface="Arial"/>
              <a:sym typeface="Arial"/>
            </a:endParaRPr>
          </a:p>
        </p:txBody>
      </p:sp>
      <p:sp>
        <p:nvSpPr>
          <p:cNvPr id="130" name="Google Shape;130;p11"/>
          <p:cNvSpPr txBox="1"/>
          <p:nvPr>
            <p:ph idx="1" type="subTitle"/>
          </p:nvPr>
        </p:nvSpPr>
        <p:spPr>
          <a:xfrm>
            <a:off x="952830" y="2281225"/>
            <a:ext cx="7315200" cy="674400"/>
          </a:xfrm>
          <a:prstGeom prst="rect">
            <a:avLst/>
          </a:prstGeom>
          <a:solidFill>
            <a:schemeClr val="lt2"/>
          </a:solidFill>
          <a:ln>
            <a:noFill/>
          </a:ln>
        </p:spPr>
        <p:txBody>
          <a:bodyPr anchorCtr="0" anchor="ctr" bIns="91425" lIns="91425" spcFirstLastPara="1" rIns="91425" wrap="square" tIns="91425">
            <a:noAutofit/>
          </a:bodyPr>
          <a:lstStyle/>
          <a:p>
            <a:pPr indent="-317500" lvl="0" marL="457200" rtl="0" algn="l">
              <a:lnSpc>
                <a:spcPct val="160000"/>
              </a:lnSpc>
              <a:spcBef>
                <a:spcPts val="0"/>
              </a:spcBef>
              <a:spcAft>
                <a:spcPts val="0"/>
              </a:spcAft>
              <a:buSzPts val="1400"/>
              <a:buNone/>
            </a:pPr>
            <a:r>
              <a:rPr i="1" lang="en-US" sz="1500">
                <a:latin typeface="Calibri"/>
                <a:ea typeface="Calibri"/>
                <a:cs typeface="Calibri"/>
                <a:sym typeface="Calibri"/>
              </a:rPr>
              <a:t>Addressing Online Harms Through Multitask Learning and Metrics-Based Evaluation</a:t>
            </a:r>
            <a:endParaRPr sz="1500"/>
          </a:p>
        </p:txBody>
      </p:sp>
      <p:cxnSp>
        <p:nvCxnSpPr>
          <p:cNvPr id="131" name="Google Shape;131;p11"/>
          <p:cNvCxnSpPr>
            <a:endCxn id="130" idx="1"/>
          </p:cNvCxnSpPr>
          <p:nvPr/>
        </p:nvCxnSpPr>
        <p:spPr>
          <a:xfrm rot="5400000">
            <a:off x="558630" y="-711875"/>
            <a:ext cx="3724500" cy="2936100"/>
          </a:xfrm>
          <a:prstGeom prst="bentConnector4">
            <a:avLst>
              <a:gd fmla="val 45473" name="adj1"/>
              <a:gd fmla="val 107786" name="adj2"/>
            </a:avLst>
          </a:prstGeom>
          <a:noFill/>
          <a:ln cap="flat" cmpd="sng" w="19050">
            <a:solidFill>
              <a:schemeClr val="lt2"/>
            </a:solidFill>
            <a:prstDash val="solid"/>
            <a:round/>
            <a:headEnd len="sm" w="sm" type="none"/>
            <a:tailEnd len="med" w="med" type="oval"/>
          </a:ln>
        </p:spPr>
      </p:cxnSp>
      <p:sp>
        <p:nvSpPr>
          <p:cNvPr id="132" name="Google Shape;132;p11"/>
          <p:cNvSpPr txBox="1"/>
          <p:nvPr/>
        </p:nvSpPr>
        <p:spPr>
          <a:xfrm>
            <a:off x="825360" y="3441743"/>
            <a:ext cx="7960500" cy="661800"/>
          </a:xfrm>
          <a:prstGeom prst="rect">
            <a:avLst/>
          </a:prstGeom>
          <a:noFill/>
          <a:ln>
            <a:noFill/>
          </a:ln>
        </p:spPr>
        <p:txBody>
          <a:bodyPr anchorCtr="0" anchor="t" bIns="45700" lIns="91425" spcFirstLastPara="1" rIns="91425" wrap="square" tIns="45700">
            <a:spAutoFit/>
          </a:bodyPr>
          <a:lstStyle/>
          <a:p>
            <a:pPr indent="0" lvl="0" marL="0" marR="0" rtl="0" algn="l">
              <a:lnSpc>
                <a:spcPct val="160000"/>
              </a:lnSpc>
              <a:spcBef>
                <a:spcPts val="0"/>
              </a:spcBef>
              <a:spcAft>
                <a:spcPts val="0"/>
              </a:spcAft>
              <a:buNone/>
            </a:pPr>
            <a:r>
              <a:rPr b="1" i="0" lang="en-US" sz="1400" u="none" cap="none" strike="noStrike">
                <a:solidFill>
                  <a:srgbClr val="0C343D"/>
                </a:solidFill>
                <a:latin typeface="Calibri"/>
                <a:ea typeface="Calibri"/>
                <a:cs typeface="Calibri"/>
                <a:sym typeface="Calibri"/>
              </a:rPr>
              <a:t>Presented by: </a:t>
            </a:r>
            <a:r>
              <a:rPr b="1" i="0" lang="en-US" sz="1500" u="none" cap="none" strike="noStrike">
                <a:solidFill>
                  <a:srgbClr val="0C343D"/>
                </a:solidFill>
                <a:latin typeface="Calibri"/>
                <a:ea typeface="Calibri"/>
                <a:cs typeface="Calibri"/>
                <a:sym typeface="Calibri"/>
              </a:rPr>
              <a:t>TWON_B1 Metrics Group</a:t>
            </a:r>
            <a:r>
              <a:rPr b="1" i="0" lang="en-US" sz="1400" u="none" cap="none" strike="noStrike">
                <a:solidFill>
                  <a:srgbClr val="0C343D"/>
                </a:solidFill>
                <a:latin typeface="Calibri"/>
                <a:ea typeface="Calibri"/>
                <a:cs typeface="Calibri"/>
                <a:sym typeface="Calibri"/>
              </a:rPr>
              <a:t>:</a:t>
            </a:r>
            <a:endParaRPr/>
          </a:p>
          <a:p>
            <a:pPr indent="0" lvl="0" marL="0" marR="0" rtl="0" algn="l">
              <a:lnSpc>
                <a:spcPct val="160000"/>
              </a:lnSpc>
              <a:spcBef>
                <a:spcPts val="0"/>
              </a:spcBef>
              <a:spcAft>
                <a:spcPts val="0"/>
              </a:spcAft>
              <a:buNone/>
            </a:pPr>
            <a:r>
              <a:rPr i="0" lang="en-US" sz="1300" u="none" cap="none" strike="noStrike">
                <a:solidFill>
                  <a:srgbClr val="0C343D"/>
                </a:solidFill>
                <a:latin typeface="Calibri"/>
                <a:ea typeface="Calibri"/>
                <a:cs typeface="Calibri"/>
                <a:sym typeface="Calibri"/>
              </a:rPr>
              <a:t>Aastha Shreya, Shivang Sinha, Farhan Ali Arshad, Syed Huzaifa Ali, Donya </a:t>
            </a:r>
            <a:r>
              <a:rPr lang="en-US" sz="1300">
                <a:solidFill>
                  <a:srgbClr val="0C343D"/>
                </a:solidFill>
                <a:latin typeface="Calibri"/>
                <a:ea typeface="Calibri"/>
                <a:cs typeface="Calibri"/>
                <a:sym typeface="Calibri"/>
              </a:rPr>
              <a:t>Sheikhi, and</a:t>
            </a:r>
            <a:r>
              <a:rPr i="0" lang="en-US" sz="1300" u="none" cap="none" strike="noStrike">
                <a:solidFill>
                  <a:srgbClr val="0C343D"/>
                </a:solidFill>
                <a:latin typeface="Calibri"/>
                <a:ea typeface="Calibri"/>
                <a:cs typeface="Calibri"/>
                <a:sym typeface="Calibri"/>
              </a:rPr>
              <a:t> Muhammad Ahmed</a:t>
            </a:r>
            <a:endParaRPr sz="1300"/>
          </a:p>
        </p:txBody>
      </p:sp>
      <p:sp>
        <p:nvSpPr>
          <p:cNvPr id="133" name="Google Shape;133;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2"/>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Table of Content</a:t>
            </a:r>
            <a:endParaRPr/>
          </a:p>
        </p:txBody>
      </p:sp>
      <p:sp>
        <p:nvSpPr>
          <p:cNvPr id="139" name="Google Shape;139;p12"/>
          <p:cNvSpPr txBox="1"/>
          <p:nvPr>
            <p:ph idx="1" type="body"/>
          </p:nvPr>
        </p:nvSpPr>
        <p:spPr>
          <a:xfrm>
            <a:off x="713225" y="1152475"/>
            <a:ext cx="7681800" cy="3416400"/>
          </a:xfrm>
          <a:prstGeom prst="rect">
            <a:avLst/>
          </a:prstGeom>
          <a:ln>
            <a:noFill/>
          </a:ln>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SzPts val="1400"/>
              <a:buFont typeface="Calibri"/>
              <a:buAutoNum type="arabicPeriod"/>
            </a:pPr>
            <a:r>
              <a:rPr b="1" lang="en-US">
                <a:latin typeface="Calibri"/>
                <a:ea typeface="Calibri"/>
                <a:cs typeface="Calibri"/>
                <a:sym typeface="Calibri"/>
              </a:rPr>
              <a:t>I</a:t>
            </a:r>
            <a:r>
              <a:rPr b="1" lang="en-US">
                <a:latin typeface="Calibri"/>
                <a:ea typeface="Calibri"/>
                <a:cs typeface="Calibri"/>
                <a:sym typeface="Calibri"/>
              </a:rPr>
              <a:t>NTRODUCTION</a:t>
            </a:r>
            <a:endParaRPr b="1">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AutoNum type="alphaLcPeriod"/>
            </a:pPr>
            <a:r>
              <a:rPr b="1" lang="en-US">
                <a:latin typeface="Calibri"/>
                <a:ea typeface="Calibri"/>
                <a:cs typeface="Calibri"/>
                <a:sym typeface="Calibri"/>
              </a:rPr>
              <a:t>R</a:t>
            </a:r>
            <a:r>
              <a:rPr b="1" lang="en-US">
                <a:latin typeface="Calibri"/>
                <a:ea typeface="Calibri"/>
                <a:cs typeface="Calibri"/>
                <a:sym typeface="Calibri"/>
              </a:rPr>
              <a:t>ESEARCH QUESTIONS</a:t>
            </a:r>
            <a:endParaRPr b="1">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AutoNum type="arabicPeriod"/>
            </a:pPr>
            <a:r>
              <a:rPr b="1" lang="en-US">
                <a:latin typeface="Calibri"/>
                <a:ea typeface="Calibri"/>
                <a:cs typeface="Calibri"/>
                <a:sym typeface="Calibri"/>
              </a:rPr>
              <a:t>MODEL ARCHITECTURE</a:t>
            </a:r>
            <a:endParaRPr b="1">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AutoNum type="alphaLcPeriod"/>
            </a:pPr>
            <a:r>
              <a:rPr b="1" lang="en-US">
                <a:latin typeface="Calibri"/>
                <a:ea typeface="Calibri"/>
                <a:cs typeface="Calibri"/>
                <a:sym typeface="Calibri"/>
              </a:rPr>
              <a:t>DATASETS</a:t>
            </a:r>
            <a:endParaRPr b="1">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AutoNum type="alphaLcPeriod"/>
            </a:pPr>
            <a:r>
              <a:rPr b="1" lang="en-US">
                <a:latin typeface="Calibri"/>
                <a:ea typeface="Calibri"/>
                <a:cs typeface="Calibri"/>
                <a:sym typeface="Calibri"/>
              </a:rPr>
              <a:t>ARCHITECTURE</a:t>
            </a:r>
            <a:endParaRPr b="1">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AutoNum type="arabicPeriod"/>
            </a:pPr>
            <a:r>
              <a:rPr b="1" lang="en-US">
                <a:latin typeface="Calibri"/>
                <a:ea typeface="Calibri"/>
                <a:cs typeface="Calibri"/>
                <a:sym typeface="Calibri"/>
              </a:rPr>
              <a:t>PROMPTING </a:t>
            </a:r>
            <a:endParaRPr b="1">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AutoNum type="arabicPeriod"/>
            </a:pPr>
            <a:r>
              <a:rPr b="1" lang="en-US">
                <a:latin typeface="Calibri"/>
                <a:ea typeface="Calibri"/>
                <a:cs typeface="Calibri"/>
                <a:sym typeface="Calibri"/>
              </a:rPr>
              <a:t>TESTING OF UNIFIED MODEL </a:t>
            </a:r>
            <a:endParaRPr b="1">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AutoNum type="arabicPeriod"/>
            </a:pPr>
            <a:r>
              <a:rPr b="1" lang="en-US">
                <a:latin typeface="Calibri"/>
                <a:ea typeface="Calibri"/>
                <a:cs typeface="Calibri"/>
                <a:sym typeface="Calibri"/>
              </a:rPr>
              <a:t>RESULTS</a:t>
            </a:r>
            <a:endParaRPr b="1">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AutoNum type="arabicPeriod"/>
            </a:pPr>
            <a:r>
              <a:rPr b="1" lang="en-US">
                <a:latin typeface="Calibri"/>
                <a:ea typeface="Calibri"/>
                <a:cs typeface="Calibri"/>
                <a:sym typeface="Calibri"/>
              </a:rPr>
              <a:t>CONCLUSION</a:t>
            </a:r>
            <a:endParaRPr b="1">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AutoNum type="arabicPeriod"/>
            </a:pPr>
            <a:r>
              <a:rPr b="1" lang="en-US">
                <a:latin typeface="Calibri"/>
                <a:ea typeface="Calibri"/>
                <a:cs typeface="Calibri"/>
                <a:sym typeface="Calibri"/>
              </a:rPr>
              <a:t>REFERENCES</a:t>
            </a:r>
            <a:endParaRPr b="1">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140" name="Google Shape;140;p12"/>
          <p:cNvSpPr txBox="1"/>
          <p:nvPr>
            <p:ph idx="12" type="sldNum"/>
          </p:nvPr>
        </p:nvSpPr>
        <p:spPr>
          <a:xfrm>
            <a:off x="0" y="0"/>
            <a:ext cx="2017800" cy="1833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
        <p:nvSpPr>
          <p:cNvPr id="141" name="Google Shape;141;p12"/>
          <p:cNvSpPr txBox="1"/>
          <p:nvPr>
            <p:ph idx="12" type="sldNum"/>
          </p:nvPr>
        </p:nvSpPr>
        <p:spPr>
          <a:xfrm>
            <a:off x="8556784" y="4749851"/>
            <a:ext cx="548700" cy="393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3"/>
          <p:cNvSpPr txBox="1"/>
          <p:nvPr>
            <p:ph type="ctrTitle"/>
          </p:nvPr>
        </p:nvSpPr>
        <p:spPr>
          <a:xfrm>
            <a:off x="-383050" y="881050"/>
            <a:ext cx="6433500" cy="17505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US" sz="2300">
                <a:solidFill>
                  <a:schemeClr val="dk2"/>
                </a:solidFill>
              </a:rPr>
              <a:t>INTRODUCTION</a:t>
            </a:r>
            <a:endParaRPr sz="5700">
              <a:solidFill>
                <a:schemeClr val="dk2"/>
              </a:solidFill>
            </a:endParaRPr>
          </a:p>
        </p:txBody>
      </p:sp>
      <p:pic>
        <p:nvPicPr>
          <p:cNvPr descr="Cyber | BC Training" id="147" name="Google Shape;147;p13"/>
          <p:cNvPicPr preferRelativeResize="0"/>
          <p:nvPr/>
        </p:nvPicPr>
        <p:blipFill>
          <a:blip r:embed="rId3">
            <a:alphaModFix/>
          </a:blip>
          <a:stretch>
            <a:fillRect/>
          </a:stretch>
        </p:blipFill>
        <p:spPr>
          <a:xfrm>
            <a:off x="4526000" y="1267888"/>
            <a:ext cx="3911600" cy="2607724"/>
          </a:xfrm>
          <a:prstGeom prst="rect">
            <a:avLst/>
          </a:prstGeom>
          <a:noFill/>
          <a:ln>
            <a:noFill/>
          </a:ln>
        </p:spPr>
      </p:pic>
      <p:sp>
        <p:nvSpPr>
          <p:cNvPr id="148" name="Google Shape;148;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146"/>
                                        </p:tgtEl>
                                        <p:attrNameLst>
                                          <p:attrName>style.visibility</p:attrName>
                                        </p:attrNameLst>
                                      </p:cBhvr>
                                      <p:to>
                                        <p:strVal val="visible"/>
                                      </p:to>
                                    </p:set>
                                    <p:anim calcmode="lin" valueType="num">
                                      <p:cBhvr additive="base">
                                        <p:cTn dur="400"/>
                                        <p:tgtEl>
                                          <p:spTgt spid="146"/>
                                        </p:tgtEl>
                                        <p:attrNameLst>
                                          <p:attrName>ppt_w</p:attrName>
                                        </p:attrNameLst>
                                      </p:cBhvr>
                                      <p:tavLst>
                                        <p:tav fmla="" tm="0">
                                          <p:val>
                                            <p:strVal val="0"/>
                                          </p:val>
                                        </p:tav>
                                        <p:tav fmla="" tm="100000">
                                          <p:val>
                                            <p:strVal val="#ppt_w"/>
                                          </p:val>
                                        </p:tav>
                                      </p:tavLst>
                                    </p:anim>
                                    <p:anim calcmode="lin" valueType="num">
                                      <p:cBhvr additive="base">
                                        <p:cTn dur="400"/>
                                        <p:tgtEl>
                                          <p:spTgt spid="14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Introduction</a:t>
            </a:r>
            <a:endParaRPr/>
          </a:p>
        </p:txBody>
      </p:sp>
      <p:sp>
        <p:nvSpPr>
          <p:cNvPr id="154" name="Google Shape;154;p14"/>
          <p:cNvSpPr txBox="1"/>
          <p:nvPr>
            <p:ph idx="2" type="subTitle"/>
          </p:nvPr>
        </p:nvSpPr>
        <p:spPr>
          <a:xfrm>
            <a:off x="537486" y="1199805"/>
            <a:ext cx="8069028" cy="2715787"/>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C343D"/>
              </a:buClr>
              <a:buSzPts val="1400"/>
              <a:buFont typeface="Lato"/>
              <a:buNone/>
            </a:pPr>
            <a:r>
              <a:rPr b="1" i="0" lang="en-US" sz="1300" u="none" cap="none" strike="noStrike">
                <a:solidFill>
                  <a:srgbClr val="0C343D"/>
                </a:solidFill>
                <a:latin typeface="Calibri"/>
                <a:ea typeface="Calibri"/>
                <a:cs typeface="Calibri"/>
                <a:sym typeface="Calibri"/>
              </a:rPr>
              <a:t>Problem</a:t>
            </a:r>
            <a:r>
              <a:rPr b="0" i="0" lang="en-US" sz="1300" u="none" cap="none" strike="noStrike">
                <a:solidFill>
                  <a:srgbClr val="0C343D"/>
                </a:solidFill>
                <a:latin typeface="Calibri"/>
                <a:ea typeface="Calibri"/>
                <a:cs typeface="Calibri"/>
                <a:sym typeface="Calibri"/>
              </a:rPr>
              <a:t>:</a:t>
            </a:r>
            <a:endParaRPr/>
          </a:p>
          <a:p>
            <a:pPr indent="0" lvl="1" marL="342900" marR="0" rtl="0" algn="l">
              <a:lnSpc>
                <a:spcPct val="150000"/>
              </a:lnSpc>
              <a:spcBef>
                <a:spcPts val="0"/>
              </a:spcBef>
              <a:spcAft>
                <a:spcPts val="0"/>
              </a:spcAft>
              <a:buClr>
                <a:srgbClr val="0C343D"/>
              </a:buClr>
              <a:buSzPts val="1400"/>
              <a:buFont typeface="Lato"/>
              <a:buNone/>
            </a:pPr>
            <a:r>
              <a:rPr b="0" i="0" lang="en-US" sz="1300" u="none" cap="none" strike="noStrike">
                <a:solidFill>
                  <a:srgbClr val="0C343D"/>
                </a:solidFill>
                <a:latin typeface="Calibri"/>
                <a:ea typeface="Calibri"/>
                <a:cs typeface="Calibri"/>
                <a:sym typeface="Calibri"/>
              </a:rPr>
              <a:t>Online platforms face challenges:</a:t>
            </a:r>
            <a:endParaRPr/>
          </a:p>
          <a:p>
            <a:pPr indent="-171450" lvl="2" marL="857250" marR="0" rtl="0" algn="l">
              <a:lnSpc>
                <a:spcPct val="150000"/>
              </a:lnSpc>
              <a:spcBef>
                <a:spcPts val="0"/>
              </a:spcBef>
              <a:spcAft>
                <a:spcPts val="0"/>
              </a:spcAft>
              <a:buClr>
                <a:srgbClr val="0C343D"/>
              </a:buClr>
              <a:buSzPts val="1400"/>
              <a:buFont typeface="Arial"/>
              <a:buChar char="•"/>
            </a:pPr>
            <a:r>
              <a:rPr b="0" i="0" lang="en-US" sz="1300" u="none" cap="none" strike="noStrike">
                <a:solidFill>
                  <a:srgbClr val="0C343D"/>
                </a:solidFill>
                <a:latin typeface="Calibri"/>
                <a:ea typeface="Calibri"/>
                <a:cs typeface="Calibri"/>
                <a:sym typeface="Calibri"/>
              </a:rPr>
              <a:t>Fake News: Manipulating public opinion.</a:t>
            </a:r>
            <a:endParaRPr/>
          </a:p>
          <a:p>
            <a:pPr indent="-171450" lvl="2" marL="857250" marR="0" rtl="0" algn="l">
              <a:lnSpc>
                <a:spcPct val="150000"/>
              </a:lnSpc>
              <a:spcBef>
                <a:spcPts val="0"/>
              </a:spcBef>
              <a:spcAft>
                <a:spcPts val="0"/>
              </a:spcAft>
              <a:buClr>
                <a:srgbClr val="0C343D"/>
              </a:buClr>
              <a:buSzPts val="1400"/>
              <a:buFont typeface="Arial"/>
              <a:buChar char="•"/>
            </a:pPr>
            <a:r>
              <a:rPr b="0" i="0" lang="en-US" sz="1300" u="none" cap="none" strike="noStrike">
                <a:solidFill>
                  <a:srgbClr val="0C343D"/>
                </a:solidFill>
                <a:latin typeface="Calibri"/>
                <a:ea typeface="Calibri"/>
                <a:cs typeface="Calibri"/>
                <a:sym typeface="Calibri"/>
              </a:rPr>
              <a:t>Hate Speech: Inciting hostility.</a:t>
            </a:r>
            <a:endParaRPr/>
          </a:p>
          <a:p>
            <a:pPr indent="-171450" lvl="2" marL="857250" marR="0" rtl="0" algn="l">
              <a:lnSpc>
                <a:spcPct val="150000"/>
              </a:lnSpc>
              <a:spcBef>
                <a:spcPts val="0"/>
              </a:spcBef>
              <a:spcAft>
                <a:spcPts val="0"/>
              </a:spcAft>
              <a:buClr>
                <a:srgbClr val="0C343D"/>
              </a:buClr>
              <a:buSzPts val="1400"/>
              <a:buFont typeface="Arial"/>
              <a:buChar char="•"/>
            </a:pPr>
            <a:r>
              <a:rPr b="0" i="0" lang="en-US" sz="1300" u="none" cap="none" strike="noStrike">
                <a:solidFill>
                  <a:srgbClr val="0C343D"/>
                </a:solidFill>
                <a:latin typeface="Calibri"/>
                <a:ea typeface="Calibri"/>
                <a:cs typeface="Calibri"/>
                <a:sym typeface="Calibri"/>
              </a:rPr>
              <a:t>Toxicity: Discouraging constructive discussions.</a:t>
            </a:r>
            <a:endParaRPr/>
          </a:p>
          <a:p>
            <a:pPr indent="0" lvl="2" marL="685800" marR="0" rtl="0" algn="l">
              <a:lnSpc>
                <a:spcPct val="150000"/>
              </a:lnSpc>
              <a:spcBef>
                <a:spcPts val="0"/>
              </a:spcBef>
              <a:spcAft>
                <a:spcPts val="0"/>
              </a:spcAft>
              <a:buClr>
                <a:srgbClr val="0C343D"/>
              </a:buClr>
              <a:buSzPts val="1400"/>
              <a:buFont typeface="Lato"/>
              <a:buNone/>
            </a:pPr>
            <a:r>
              <a:t/>
            </a:r>
            <a:endParaRPr b="0" i="0" sz="1300" u="none" cap="none" strike="noStrike">
              <a:solidFill>
                <a:srgbClr val="0C343D"/>
              </a:solidFill>
              <a:latin typeface="Calibri"/>
              <a:ea typeface="Calibri"/>
              <a:cs typeface="Calibri"/>
              <a:sym typeface="Calibri"/>
            </a:endParaRPr>
          </a:p>
          <a:p>
            <a:pPr indent="0" lvl="0" marL="0" marR="0" rtl="0" algn="l">
              <a:lnSpc>
                <a:spcPct val="150000"/>
              </a:lnSpc>
              <a:spcBef>
                <a:spcPts val="0"/>
              </a:spcBef>
              <a:spcAft>
                <a:spcPts val="0"/>
              </a:spcAft>
              <a:buClr>
                <a:srgbClr val="0C343D"/>
              </a:buClr>
              <a:buSzPts val="1400"/>
              <a:buFont typeface="Lato"/>
              <a:buNone/>
            </a:pPr>
            <a:r>
              <a:rPr b="1" i="0" lang="en-US" sz="1300" u="none" cap="none" strike="noStrike">
                <a:solidFill>
                  <a:srgbClr val="0C343D"/>
                </a:solidFill>
                <a:latin typeface="Calibri"/>
                <a:ea typeface="Calibri"/>
                <a:cs typeface="Calibri"/>
                <a:sym typeface="Calibri"/>
              </a:rPr>
              <a:t>Objective</a:t>
            </a:r>
            <a:r>
              <a:rPr b="0" i="0" lang="en-US" sz="1300" u="none" cap="none" strike="noStrike">
                <a:solidFill>
                  <a:srgbClr val="0C343D"/>
                </a:solidFill>
                <a:latin typeface="Calibri"/>
                <a:ea typeface="Calibri"/>
                <a:cs typeface="Calibri"/>
                <a:sym typeface="Calibri"/>
              </a:rPr>
              <a:t>: Develop a unified system with robust classifiers to detect harmful content.</a:t>
            </a:r>
            <a:endParaRPr/>
          </a:p>
          <a:p>
            <a:pPr indent="0" lvl="0" marL="0" marR="0" rtl="0" algn="l">
              <a:lnSpc>
                <a:spcPct val="150000"/>
              </a:lnSpc>
              <a:spcBef>
                <a:spcPts val="0"/>
              </a:spcBef>
              <a:spcAft>
                <a:spcPts val="0"/>
              </a:spcAft>
              <a:buClr>
                <a:srgbClr val="0C343D"/>
              </a:buClr>
              <a:buSzPts val="1400"/>
              <a:buFont typeface="Lato"/>
              <a:buNone/>
            </a:pPr>
            <a:r>
              <a:rPr b="1" i="0" lang="en-US" sz="1300" u="none" cap="none" strike="noStrike">
                <a:solidFill>
                  <a:srgbClr val="0C343D"/>
                </a:solidFill>
                <a:latin typeface="Calibri"/>
                <a:ea typeface="Calibri"/>
                <a:cs typeface="Calibri"/>
                <a:sym typeface="Calibri"/>
              </a:rPr>
              <a:t>Approach</a:t>
            </a:r>
            <a:r>
              <a:rPr b="0" i="0" lang="en-US" sz="1300" u="none" cap="none" strike="noStrike">
                <a:solidFill>
                  <a:srgbClr val="0C343D"/>
                </a:solidFill>
                <a:latin typeface="Calibri"/>
                <a:ea typeface="Calibri"/>
                <a:cs typeface="Calibri"/>
                <a:sym typeface="Calibri"/>
              </a:rPr>
              <a:t>: Leverage transformer-based architectures to improve detection efficiency and scalability.</a:t>
            </a:r>
            <a:endParaRPr/>
          </a:p>
          <a:p>
            <a:pPr indent="0" lvl="0" marL="0" rtl="0" algn="l">
              <a:lnSpc>
                <a:spcPct val="150000"/>
              </a:lnSpc>
              <a:spcBef>
                <a:spcPts val="0"/>
              </a:spcBef>
              <a:spcAft>
                <a:spcPts val="0"/>
              </a:spcAft>
              <a:buSzPts val="1400"/>
              <a:buNone/>
            </a:pPr>
            <a:r>
              <a:t/>
            </a:r>
            <a:endParaRPr sz="1300">
              <a:latin typeface="Calibri"/>
              <a:ea typeface="Calibri"/>
              <a:cs typeface="Calibri"/>
              <a:sym typeface="Calibri"/>
            </a:endParaRPr>
          </a:p>
        </p:txBody>
      </p:sp>
      <p:sp>
        <p:nvSpPr>
          <p:cNvPr id="155" name="Google Shape;155;p14"/>
          <p:cNvSpPr txBox="1"/>
          <p:nvPr>
            <p:ph idx="12" type="sldNum"/>
          </p:nvPr>
        </p:nvSpPr>
        <p:spPr>
          <a:xfrm>
            <a:off x="8142659" y="474990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US"/>
              <a:t>‹#›</a:t>
            </a:fld>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5"/>
          <p:cNvSpPr txBox="1"/>
          <p:nvPr>
            <p:ph idx="1" type="subTitle"/>
          </p:nvPr>
        </p:nvSpPr>
        <p:spPr>
          <a:xfrm>
            <a:off x="659875" y="850374"/>
            <a:ext cx="8072100" cy="3939000"/>
          </a:xfrm>
          <a:prstGeom prst="rect">
            <a:avLst/>
          </a:prstGeom>
          <a:noFill/>
          <a:ln>
            <a:noFill/>
          </a:ln>
        </p:spPr>
        <p:txBody>
          <a:bodyPr anchorCtr="0" anchor="t" bIns="91425" lIns="91425" spcFirstLastPara="1" rIns="91425" wrap="square" tIns="91425">
            <a:noAutofit/>
          </a:bodyPr>
          <a:lstStyle/>
          <a:p>
            <a:pPr indent="0" lvl="0" marL="139700" marR="0" rtl="0" algn="l">
              <a:lnSpc>
                <a:spcPct val="150000"/>
              </a:lnSpc>
              <a:spcBef>
                <a:spcPts val="0"/>
              </a:spcBef>
              <a:spcAft>
                <a:spcPts val="0"/>
              </a:spcAft>
              <a:buClr>
                <a:srgbClr val="0C343D"/>
              </a:buClr>
              <a:buSzPts val="1400"/>
              <a:buFont typeface="Lato"/>
              <a:buNone/>
            </a:pPr>
            <a:r>
              <a:t/>
            </a:r>
            <a:endParaRPr b="1" sz="1400">
              <a:solidFill>
                <a:srgbClr val="0C343D"/>
              </a:solidFill>
              <a:latin typeface="Calibri"/>
              <a:ea typeface="Calibri"/>
              <a:cs typeface="Calibri"/>
              <a:sym typeface="Calibri"/>
            </a:endParaRPr>
          </a:p>
          <a:p>
            <a:pPr indent="0" lvl="0" marL="139700" marR="0" rtl="0" algn="l">
              <a:lnSpc>
                <a:spcPct val="150000"/>
              </a:lnSpc>
              <a:spcBef>
                <a:spcPts val="0"/>
              </a:spcBef>
              <a:spcAft>
                <a:spcPts val="0"/>
              </a:spcAft>
              <a:buClr>
                <a:srgbClr val="0C343D"/>
              </a:buClr>
              <a:buSzPts val="1400"/>
              <a:buFont typeface="Lato"/>
              <a:buNone/>
            </a:pPr>
            <a:r>
              <a:rPr b="1" i="0" lang="en-US" sz="1400" u="none" cap="none" strike="noStrike">
                <a:solidFill>
                  <a:srgbClr val="0C343D"/>
                </a:solidFill>
                <a:latin typeface="Calibri"/>
                <a:ea typeface="Calibri"/>
                <a:cs typeface="Calibri"/>
                <a:sym typeface="Calibri"/>
              </a:rPr>
              <a:t>Challenges</a:t>
            </a:r>
            <a:r>
              <a:rPr b="0" i="0" lang="en-US" sz="1400" u="none" cap="none" strike="noStrike">
                <a:solidFill>
                  <a:srgbClr val="0C343D"/>
                </a:solidFill>
                <a:latin typeface="Calibri"/>
                <a:ea typeface="Calibri"/>
                <a:cs typeface="Calibri"/>
                <a:sym typeface="Calibri"/>
              </a:rPr>
              <a:t>:</a:t>
            </a:r>
            <a:endParaRPr/>
          </a:p>
          <a:p>
            <a:pPr indent="-317500" lvl="1" marL="401638" marR="0" rtl="0" algn="l">
              <a:lnSpc>
                <a:spcPct val="150000"/>
              </a:lnSpc>
              <a:spcBef>
                <a:spcPts val="0"/>
              </a:spcBef>
              <a:spcAft>
                <a:spcPts val="0"/>
              </a:spcAft>
              <a:buClr>
                <a:srgbClr val="0C343D"/>
              </a:buClr>
              <a:buSzPts val="1400"/>
              <a:buFont typeface="Calibri"/>
              <a:buChar char="‡"/>
            </a:pPr>
            <a:r>
              <a:rPr b="0" i="0" lang="en-US" sz="1400" u="none" cap="none" strike="noStrike">
                <a:solidFill>
                  <a:srgbClr val="0C343D"/>
                </a:solidFill>
                <a:latin typeface="Calibri"/>
                <a:ea typeface="Calibri"/>
                <a:cs typeface="Calibri"/>
                <a:sym typeface="Calibri"/>
              </a:rPr>
              <a:t>Overlap between misinformation and harmful </a:t>
            </a:r>
            <a:r>
              <a:rPr lang="en-US" sz="1400">
                <a:solidFill>
                  <a:srgbClr val="0C343D"/>
                </a:solidFill>
                <a:latin typeface="Calibri"/>
                <a:ea typeface="Calibri"/>
                <a:cs typeface="Calibri"/>
                <a:sym typeface="Calibri"/>
              </a:rPr>
              <a:t>behaviour</a:t>
            </a:r>
            <a:r>
              <a:rPr b="0" i="0" lang="en-US" sz="1400" u="none" cap="none" strike="noStrike">
                <a:solidFill>
                  <a:srgbClr val="0C343D"/>
                </a:solidFill>
                <a:latin typeface="Calibri"/>
                <a:ea typeface="Calibri"/>
                <a:cs typeface="Calibri"/>
                <a:sym typeface="Calibri"/>
              </a:rPr>
              <a:t>.</a:t>
            </a:r>
            <a:endParaRPr/>
          </a:p>
          <a:p>
            <a:pPr indent="-317500" lvl="1" marL="401638" marR="0" rtl="0" algn="l">
              <a:lnSpc>
                <a:spcPct val="150000"/>
              </a:lnSpc>
              <a:spcBef>
                <a:spcPts val="0"/>
              </a:spcBef>
              <a:spcAft>
                <a:spcPts val="0"/>
              </a:spcAft>
              <a:buClr>
                <a:srgbClr val="0C343D"/>
              </a:buClr>
              <a:buSzPts val="1400"/>
              <a:buFont typeface="Calibri"/>
              <a:buChar char="‡"/>
            </a:pPr>
            <a:r>
              <a:rPr b="0" i="0" lang="en-US" sz="1400" u="none" cap="none" strike="noStrike">
                <a:solidFill>
                  <a:srgbClr val="0C343D"/>
                </a:solidFill>
                <a:latin typeface="Calibri"/>
                <a:ea typeface="Calibri"/>
                <a:cs typeface="Calibri"/>
                <a:sym typeface="Calibri"/>
              </a:rPr>
              <a:t>The inefficiency of separate detection models.</a:t>
            </a:r>
            <a:endParaRPr/>
          </a:p>
          <a:p>
            <a:pPr indent="-317500" lvl="1" marL="401637" marR="0" rtl="0" algn="l">
              <a:lnSpc>
                <a:spcPct val="150000"/>
              </a:lnSpc>
              <a:spcBef>
                <a:spcPts val="0"/>
              </a:spcBef>
              <a:spcAft>
                <a:spcPts val="0"/>
              </a:spcAft>
              <a:buClr>
                <a:srgbClr val="0C343D"/>
              </a:buClr>
              <a:buSzPts val="1400"/>
              <a:buFont typeface="Calibri"/>
              <a:buChar char="‡"/>
            </a:pPr>
            <a:r>
              <a:rPr b="0" i="0" lang="en-US" sz="1400" u="none" cap="none" strike="noStrike">
                <a:solidFill>
                  <a:srgbClr val="0C343D"/>
                </a:solidFill>
                <a:latin typeface="Calibri"/>
                <a:ea typeface="Calibri"/>
                <a:cs typeface="Calibri"/>
                <a:sym typeface="Calibri"/>
              </a:rPr>
              <a:t>Lack of comparative studies on transformer models.</a:t>
            </a:r>
            <a:endParaRPr/>
          </a:p>
          <a:p>
            <a:pPr indent="0" lvl="0" marL="0" rtl="0" algn="l">
              <a:lnSpc>
                <a:spcPct val="150000"/>
              </a:lnSpc>
              <a:spcBef>
                <a:spcPts val="0"/>
              </a:spcBef>
              <a:spcAft>
                <a:spcPts val="0"/>
              </a:spcAft>
              <a:buNone/>
            </a:pPr>
            <a:r>
              <a:rPr b="1" lang="en-US" sz="1400"/>
              <a:t>   </a:t>
            </a:r>
            <a:r>
              <a:rPr b="1" lang="en-US" sz="1200"/>
              <a:t>Our Objectives:</a:t>
            </a:r>
            <a:endParaRPr sz="2800"/>
          </a:p>
        </p:txBody>
      </p:sp>
      <p:grpSp>
        <p:nvGrpSpPr>
          <p:cNvPr id="161" name="Google Shape;161;p15"/>
          <p:cNvGrpSpPr/>
          <p:nvPr/>
        </p:nvGrpSpPr>
        <p:grpSpPr>
          <a:xfrm>
            <a:off x="6991109" y="2669653"/>
            <a:ext cx="1687890" cy="1652750"/>
            <a:chOff x="5824825" y="1527650"/>
            <a:chExt cx="2854174" cy="2794753"/>
          </a:xfrm>
        </p:grpSpPr>
        <p:sp>
          <p:nvSpPr>
            <p:cNvPr id="162" name="Google Shape;162;p15"/>
            <p:cNvSpPr/>
            <p:nvPr/>
          </p:nvSpPr>
          <p:spPr>
            <a:xfrm>
              <a:off x="7477175" y="4122900"/>
              <a:ext cx="1157331" cy="199500"/>
            </a:xfrm>
            <a:custGeom>
              <a:rect b="b" l="l" r="r" t="t"/>
              <a:pathLst>
                <a:path extrusionOk="0" h="1987" w="48848">
                  <a:moveTo>
                    <a:pt x="48848" y="996"/>
                  </a:moveTo>
                  <a:cubicBezTo>
                    <a:pt x="48848" y="1543"/>
                    <a:pt x="37914" y="1986"/>
                    <a:pt x="24424" y="1986"/>
                  </a:cubicBezTo>
                  <a:cubicBezTo>
                    <a:pt x="10935" y="1986"/>
                    <a:pt x="1" y="1543"/>
                    <a:pt x="1" y="996"/>
                  </a:cubicBezTo>
                  <a:cubicBezTo>
                    <a:pt x="1" y="450"/>
                    <a:pt x="10935" y="1"/>
                    <a:pt x="24424" y="1"/>
                  </a:cubicBezTo>
                  <a:cubicBezTo>
                    <a:pt x="37914" y="1"/>
                    <a:pt x="48848" y="450"/>
                    <a:pt x="48848" y="996"/>
                  </a:cubicBezTo>
                  <a:close/>
                </a:path>
              </a:pathLst>
            </a:custGeom>
            <a:solidFill>
              <a:srgbClr val="134F5C">
                <a:alpha val="3254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5"/>
            <p:cNvSpPr/>
            <p:nvPr/>
          </p:nvSpPr>
          <p:spPr>
            <a:xfrm>
              <a:off x="5974449" y="4087375"/>
              <a:ext cx="681552" cy="126175"/>
            </a:xfrm>
            <a:custGeom>
              <a:rect b="b" l="l" r="r" t="t"/>
              <a:pathLst>
                <a:path extrusionOk="0" h="1987" w="48848">
                  <a:moveTo>
                    <a:pt x="48848" y="996"/>
                  </a:moveTo>
                  <a:cubicBezTo>
                    <a:pt x="48848" y="1543"/>
                    <a:pt x="37914" y="1986"/>
                    <a:pt x="24424" y="1986"/>
                  </a:cubicBezTo>
                  <a:cubicBezTo>
                    <a:pt x="10935" y="1986"/>
                    <a:pt x="1" y="1543"/>
                    <a:pt x="1" y="996"/>
                  </a:cubicBezTo>
                  <a:cubicBezTo>
                    <a:pt x="1" y="450"/>
                    <a:pt x="10935" y="1"/>
                    <a:pt x="24424" y="1"/>
                  </a:cubicBezTo>
                  <a:cubicBezTo>
                    <a:pt x="37914" y="1"/>
                    <a:pt x="48848" y="450"/>
                    <a:pt x="48848" y="996"/>
                  </a:cubicBezTo>
                  <a:close/>
                </a:path>
              </a:pathLst>
            </a:custGeom>
            <a:solidFill>
              <a:srgbClr val="134F5C">
                <a:alpha val="3254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4" name="Google Shape;164;p15"/>
            <p:cNvGrpSpPr/>
            <p:nvPr/>
          </p:nvGrpSpPr>
          <p:grpSpPr>
            <a:xfrm>
              <a:off x="5824825" y="1527650"/>
              <a:ext cx="2854174" cy="2794753"/>
              <a:chOff x="5824825" y="1527650"/>
              <a:chExt cx="2854174" cy="2794753"/>
            </a:xfrm>
          </p:grpSpPr>
          <p:sp>
            <p:nvSpPr>
              <p:cNvPr id="165" name="Google Shape;165;p15"/>
              <p:cNvSpPr/>
              <p:nvPr/>
            </p:nvSpPr>
            <p:spPr>
              <a:xfrm>
                <a:off x="6408134" y="1694871"/>
                <a:ext cx="256051" cy="259184"/>
              </a:xfrm>
              <a:custGeom>
                <a:rect b="b" l="l" r="r" t="t"/>
                <a:pathLst>
                  <a:path extrusionOk="0" h="4219" w="4168">
                    <a:moveTo>
                      <a:pt x="1" y="3482"/>
                    </a:moveTo>
                    <a:lnTo>
                      <a:pt x="2907" y="4219"/>
                    </a:lnTo>
                    <a:cubicBezTo>
                      <a:pt x="3143" y="3528"/>
                      <a:pt x="3592" y="2936"/>
                      <a:pt x="4167" y="2521"/>
                    </a:cubicBezTo>
                    <a:lnTo>
                      <a:pt x="2550" y="1"/>
                    </a:lnTo>
                    <a:cubicBezTo>
                      <a:pt x="1348" y="835"/>
                      <a:pt x="438" y="2061"/>
                      <a:pt x="1" y="3482"/>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5"/>
              <p:cNvSpPr/>
              <p:nvPr/>
            </p:nvSpPr>
            <p:spPr>
              <a:xfrm>
                <a:off x="6724577" y="1833832"/>
                <a:ext cx="467808" cy="591841"/>
              </a:xfrm>
              <a:custGeom>
                <a:rect b="b" l="l" r="r" t="t"/>
                <a:pathLst>
                  <a:path extrusionOk="0" h="9634" w="7615">
                    <a:moveTo>
                      <a:pt x="1094" y="9634"/>
                    </a:moveTo>
                    <a:cubicBezTo>
                      <a:pt x="4691" y="9634"/>
                      <a:pt x="7614" y="6705"/>
                      <a:pt x="7614" y="3114"/>
                    </a:cubicBezTo>
                    <a:cubicBezTo>
                      <a:pt x="7614" y="1986"/>
                      <a:pt x="7326" y="927"/>
                      <a:pt x="6820" y="0"/>
                    </a:cubicBezTo>
                    <a:lnTo>
                      <a:pt x="4259" y="1560"/>
                    </a:lnTo>
                    <a:cubicBezTo>
                      <a:pt x="4489" y="2026"/>
                      <a:pt x="4622" y="2550"/>
                      <a:pt x="4622" y="3114"/>
                    </a:cubicBezTo>
                    <a:cubicBezTo>
                      <a:pt x="4622" y="5065"/>
                      <a:pt x="3039" y="6641"/>
                      <a:pt x="1094" y="6641"/>
                    </a:cubicBezTo>
                    <a:cubicBezTo>
                      <a:pt x="950" y="6641"/>
                      <a:pt x="806" y="6630"/>
                      <a:pt x="668" y="6613"/>
                    </a:cubicBezTo>
                    <a:lnTo>
                      <a:pt x="1" y="9536"/>
                    </a:lnTo>
                    <a:cubicBezTo>
                      <a:pt x="352" y="9594"/>
                      <a:pt x="720" y="9634"/>
                      <a:pt x="1094" y="9634"/>
                    </a:cubicBezTo>
                    <a:close/>
                  </a:path>
                </a:pathLst>
              </a:custGeom>
              <a:solidFill>
                <a:srgbClr val="D9EAD3">
                  <a:alpha val="4196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5"/>
              <p:cNvSpPr/>
              <p:nvPr/>
            </p:nvSpPr>
            <p:spPr>
              <a:xfrm>
                <a:off x="6363964" y="1606469"/>
                <a:ext cx="853482" cy="853543"/>
              </a:xfrm>
              <a:custGeom>
                <a:rect b="b" l="l" r="r" t="t"/>
                <a:pathLst>
                  <a:path extrusionOk="0" h="13894" w="13893">
                    <a:moveTo>
                      <a:pt x="12264" y="6953"/>
                    </a:moveTo>
                    <a:cubicBezTo>
                      <a:pt x="12264" y="3966"/>
                      <a:pt x="9836" y="1537"/>
                      <a:pt x="6849" y="1537"/>
                    </a:cubicBezTo>
                    <a:cubicBezTo>
                      <a:pt x="3862" y="1537"/>
                      <a:pt x="1434" y="3966"/>
                      <a:pt x="1434" y="6953"/>
                    </a:cubicBezTo>
                    <a:cubicBezTo>
                      <a:pt x="1434" y="9940"/>
                      <a:pt x="3862" y="12368"/>
                      <a:pt x="6849" y="12368"/>
                    </a:cubicBezTo>
                    <a:cubicBezTo>
                      <a:pt x="9836" y="12368"/>
                      <a:pt x="12264" y="9940"/>
                      <a:pt x="12264" y="6953"/>
                    </a:cubicBezTo>
                    <a:close/>
                    <a:moveTo>
                      <a:pt x="1497" y="6953"/>
                    </a:moveTo>
                    <a:cubicBezTo>
                      <a:pt x="1497" y="4001"/>
                      <a:pt x="3902" y="1607"/>
                      <a:pt x="6843" y="1607"/>
                    </a:cubicBezTo>
                    <a:cubicBezTo>
                      <a:pt x="9790" y="1607"/>
                      <a:pt x="12189" y="4012"/>
                      <a:pt x="12189" y="6953"/>
                    </a:cubicBezTo>
                    <a:cubicBezTo>
                      <a:pt x="12189" y="9893"/>
                      <a:pt x="9784" y="12299"/>
                      <a:pt x="6843" y="12299"/>
                    </a:cubicBezTo>
                    <a:cubicBezTo>
                      <a:pt x="3902" y="12299"/>
                      <a:pt x="1497" y="9899"/>
                      <a:pt x="1497" y="6953"/>
                    </a:cubicBezTo>
                    <a:close/>
                    <a:moveTo>
                      <a:pt x="12914" y="7016"/>
                    </a:moveTo>
                    <a:lnTo>
                      <a:pt x="12914" y="6884"/>
                    </a:lnTo>
                    <a:lnTo>
                      <a:pt x="13893" y="6884"/>
                    </a:lnTo>
                    <a:lnTo>
                      <a:pt x="13893" y="7016"/>
                    </a:lnTo>
                    <a:close/>
                    <a:moveTo>
                      <a:pt x="979" y="6884"/>
                    </a:moveTo>
                    <a:lnTo>
                      <a:pt x="979" y="7016"/>
                    </a:lnTo>
                    <a:lnTo>
                      <a:pt x="1" y="7016"/>
                    </a:lnTo>
                    <a:lnTo>
                      <a:pt x="1" y="6884"/>
                    </a:lnTo>
                    <a:close/>
                    <a:moveTo>
                      <a:pt x="12886" y="6360"/>
                    </a:moveTo>
                    <a:lnTo>
                      <a:pt x="13858" y="6274"/>
                    </a:lnTo>
                    <a:lnTo>
                      <a:pt x="13870" y="6406"/>
                    </a:lnTo>
                    <a:lnTo>
                      <a:pt x="12897" y="6492"/>
                    </a:lnTo>
                    <a:close/>
                    <a:moveTo>
                      <a:pt x="1008" y="7534"/>
                    </a:moveTo>
                    <a:lnTo>
                      <a:pt x="35" y="7620"/>
                    </a:lnTo>
                    <a:lnTo>
                      <a:pt x="24" y="7488"/>
                    </a:lnTo>
                    <a:lnTo>
                      <a:pt x="996" y="7402"/>
                    </a:lnTo>
                    <a:close/>
                    <a:moveTo>
                      <a:pt x="12805" y="5854"/>
                    </a:moveTo>
                    <a:lnTo>
                      <a:pt x="13760" y="5681"/>
                    </a:lnTo>
                    <a:lnTo>
                      <a:pt x="13783" y="5808"/>
                    </a:lnTo>
                    <a:lnTo>
                      <a:pt x="12828" y="5980"/>
                    </a:lnTo>
                    <a:close/>
                    <a:moveTo>
                      <a:pt x="1083" y="8052"/>
                    </a:moveTo>
                    <a:lnTo>
                      <a:pt x="121" y="8225"/>
                    </a:lnTo>
                    <a:lnTo>
                      <a:pt x="104" y="8098"/>
                    </a:lnTo>
                    <a:lnTo>
                      <a:pt x="1059" y="7925"/>
                    </a:lnTo>
                    <a:close/>
                    <a:moveTo>
                      <a:pt x="12690" y="5341"/>
                    </a:moveTo>
                    <a:lnTo>
                      <a:pt x="13634" y="5088"/>
                    </a:lnTo>
                    <a:lnTo>
                      <a:pt x="13668" y="5221"/>
                    </a:lnTo>
                    <a:lnTo>
                      <a:pt x="12725" y="5468"/>
                    </a:lnTo>
                    <a:close/>
                    <a:moveTo>
                      <a:pt x="1198" y="8564"/>
                    </a:moveTo>
                    <a:lnTo>
                      <a:pt x="254" y="8817"/>
                    </a:lnTo>
                    <a:lnTo>
                      <a:pt x="219" y="8685"/>
                    </a:lnTo>
                    <a:lnTo>
                      <a:pt x="1157" y="8432"/>
                    </a:lnTo>
                    <a:close/>
                    <a:moveTo>
                      <a:pt x="12523" y="4852"/>
                    </a:moveTo>
                    <a:lnTo>
                      <a:pt x="13438" y="4518"/>
                    </a:lnTo>
                    <a:lnTo>
                      <a:pt x="13484" y="4645"/>
                    </a:lnTo>
                    <a:lnTo>
                      <a:pt x="12569" y="4973"/>
                    </a:lnTo>
                    <a:close/>
                    <a:moveTo>
                      <a:pt x="1359" y="9053"/>
                    </a:moveTo>
                    <a:lnTo>
                      <a:pt x="444" y="9381"/>
                    </a:lnTo>
                    <a:lnTo>
                      <a:pt x="403" y="9260"/>
                    </a:lnTo>
                    <a:lnTo>
                      <a:pt x="1318" y="8932"/>
                    </a:lnTo>
                    <a:close/>
                    <a:moveTo>
                      <a:pt x="12322" y="4369"/>
                    </a:moveTo>
                    <a:lnTo>
                      <a:pt x="13208" y="3960"/>
                    </a:lnTo>
                    <a:lnTo>
                      <a:pt x="13265" y="4081"/>
                    </a:lnTo>
                    <a:lnTo>
                      <a:pt x="12379" y="4490"/>
                    </a:lnTo>
                    <a:close/>
                    <a:moveTo>
                      <a:pt x="1560" y="9537"/>
                    </a:moveTo>
                    <a:lnTo>
                      <a:pt x="680" y="9945"/>
                    </a:lnTo>
                    <a:lnTo>
                      <a:pt x="622" y="9824"/>
                    </a:lnTo>
                    <a:lnTo>
                      <a:pt x="1503" y="9410"/>
                    </a:lnTo>
                    <a:close/>
                    <a:moveTo>
                      <a:pt x="12080" y="3908"/>
                    </a:moveTo>
                    <a:lnTo>
                      <a:pt x="12920" y="3419"/>
                    </a:lnTo>
                    <a:lnTo>
                      <a:pt x="12983" y="3534"/>
                    </a:lnTo>
                    <a:lnTo>
                      <a:pt x="12143" y="4024"/>
                    </a:lnTo>
                    <a:close/>
                    <a:moveTo>
                      <a:pt x="1808" y="9997"/>
                    </a:moveTo>
                    <a:lnTo>
                      <a:pt x="962" y="10486"/>
                    </a:lnTo>
                    <a:lnTo>
                      <a:pt x="898" y="10371"/>
                    </a:lnTo>
                    <a:lnTo>
                      <a:pt x="1744" y="9882"/>
                    </a:lnTo>
                    <a:close/>
                    <a:moveTo>
                      <a:pt x="11792" y="3477"/>
                    </a:moveTo>
                    <a:lnTo>
                      <a:pt x="12586" y="2919"/>
                    </a:lnTo>
                    <a:lnTo>
                      <a:pt x="12667" y="3022"/>
                    </a:lnTo>
                    <a:lnTo>
                      <a:pt x="11867" y="3586"/>
                    </a:lnTo>
                    <a:close/>
                    <a:moveTo>
                      <a:pt x="2095" y="10429"/>
                    </a:moveTo>
                    <a:lnTo>
                      <a:pt x="1295" y="10987"/>
                    </a:lnTo>
                    <a:lnTo>
                      <a:pt x="1215" y="10878"/>
                    </a:lnTo>
                    <a:lnTo>
                      <a:pt x="2015" y="10319"/>
                    </a:lnTo>
                    <a:close/>
                    <a:moveTo>
                      <a:pt x="11476" y="3068"/>
                    </a:moveTo>
                    <a:lnTo>
                      <a:pt x="12224" y="2441"/>
                    </a:lnTo>
                    <a:lnTo>
                      <a:pt x="12310" y="2545"/>
                    </a:lnTo>
                    <a:lnTo>
                      <a:pt x="11562" y="3166"/>
                    </a:lnTo>
                    <a:close/>
                    <a:moveTo>
                      <a:pt x="2418" y="10837"/>
                    </a:moveTo>
                    <a:lnTo>
                      <a:pt x="1669" y="11465"/>
                    </a:lnTo>
                    <a:lnTo>
                      <a:pt x="1583" y="11361"/>
                    </a:lnTo>
                    <a:lnTo>
                      <a:pt x="2331" y="10734"/>
                    </a:lnTo>
                    <a:close/>
                    <a:moveTo>
                      <a:pt x="11113" y="2688"/>
                    </a:moveTo>
                    <a:lnTo>
                      <a:pt x="11804" y="1998"/>
                    </a:lnTo>
                    <a:lnTo>
                      <a:pt x="11902" y="2090"/>
                    </a:lnTo>
                    <a:lnTo>
                      <a:pt x="11211" y="2781"/>
                    </a:lnTo>
                    <a:close/>
                    <a:moveTo>
                      <a:pt x="2769" y="11217"/>
                    </a:moveTo>
                    <a:lnTo>
                      <a:pt x="2078" y="11908"/>
                    </a:lnTo>
                    <a:lnTo>
                      <a:pt x="1986" y="11816"/>
                    </a:lnTo>
                    <a:lnTo>
                      <a:pt x="2677" y="11125"/>
                    </a:lnTo>
                    <a:close/>
                    <a:moveTo>
                      <a:pt x="10728" y="2343"/>
                    </a:moveTo>
                    <a:lnTo>
                      <a:pt x="11355" y="1595"/>
                    </a:lnTo>
                    <a:lnTo>
                      <a:pt x="11453" y="1676"/>
                    </a:lnTo>
                    <a:lnTo>
                      <a:pt x="10825" y="2424"/>
                    </a:lnTo>
                    <a:close/>
                    <a:moveTo>
                      <a:pt x="3160" y="11562"/>
                    </a:moveTo>
                    <a:lnTo>
                      <a:pt x="2533" y="12311"/>
                    </a:lnTo>
                    <a:lnTo>
                      <a:pt x="2429" y="12224"/>
                    </a:lnTo>
                    <a:lnTo>
                      <a:pt x="3056" y="11476"/>
                    </a:lnTo>
                    <a:close/>
                    <a:moveTo>
                      <a:pt x="10307" y="2027"/>
                    </a:moveTo>
                    <a:lnTo>
                      <a:pt x="10871" y="1227"/>
                    </a:lnTo>
                    <a:lnTo>
                      <a:pt x="10981" y="1307"/>
                    </a:lnTo>
                    <a:lnTo>
                      <a:pt x="10417" y="2101"/>
                    </a:lnTo>
                    <a:close/>
                    <a:moveTo>
                      <a:pt x="3574" y="11879"/>
                    </a:moveTo>
                    <a:lnTo>
                      <a:pt x="3016" y="12679"/>
                    </a:lnTo>
                    <a:lnTo>
                      <a:pt x="2907" y="12598"/>
                    </a:lnTo>
                    <a:lnTo>
                      <a:pt x="3471" y="11798"/>
                    </a:lnTo>
                    <a:close/>
                    <a:moveTo>
                      <a:pt x="9870" y="1750"/>
                    </a:moveTo>
                    <a:lnTo>
                      <a:pt x="10359" y="910"/>
                    </a:lnTo>
                    <a:lnTo>
                      <a:pt x="10474" y="974"/>
                    </a:lnTo>
                    <a:lnTo>
                      <a:pt x="9985" y="1814"/>
                    </a:lnTo>
                    <a:close/>
                    <a:moveTo>
                      <a:pt x="4017" y="12155"/>
                    </a:moveTo>
                    <a:lnTo>
                      <a:pt x="3528" y="12995"/>
                    </a:lnTo>
                    <a:lnTo>
                      <a:pt x="3413" y="12932"/>
                    </a:lnTo>
                    <a:lnTo>
                      <a:pt x="3902" y="12086"/>
                    </a:lnTo>
                    <a:close/>
                    <a:moveTo>
                      <a:pt x="9404" y="1514"/>
                    </a:moveTo>
                    <a:lnTo>
                      <a:pt x="9813" y="628"/>
                    </a:lnTo>
                    <a:lnTo>
                      <a:pt x="9933" y="686"/>
                    </a:lnTo>
                    <a:lnTo>
                      <a:pt x="9525" y="1572"/>
                    </a:lnTo>
                    <a:close/>
                    <a:moveTo>
                      <a:pt x="4484" y="12391"/>
                    </a:moveTo>
                    <a:lnTo>
                      <a:pt x="4075" y="13277"/>
                    </a:lnTo>
                    <a:lnTo>
                      <a:pt x="3948" y="13220"/>
                    </a:lnTo>
                    <a:lnTo>
                      <a:pt x="4363" y="12334"/>
                    </a:lnTo>
                    <a:close/>
                    <a:moveTo>
                      <a:pt x="8921" y="1319"/>
                    </a:moveTo>
                    <a:lnTo>
                      <a:pt x="9254" y="404"/>
                    </a:lnTo>
                    <a:lnTo>
                      <a:pt x="9375" y="450"/>
                    </a:lnTo>
                    <a:lnTo>
                      <a:pt x="9041" y="1365"/>
                    </a:lnTo>
                    <a:close/>
                    <a:moveTo>
                      <a:pt x="4967" y="12587"/>
                    </a:moveTo>
                    <a:lnTo>
                      <a:pt x="4633" y="13496"/>
                    </a:lnTo>
                    <a:lnTo>
                      <a:pt x="4512" y="13456"/>
                    </a:lnTo>
                    <a:lnTo>
                      <a:pt x="4840" y="12541"/>
                    </a:lnTo>
                    <a:close/>
                    <a:moveTo>
                      <a:pt x="8426" y="1169"/>
                    </a:moveTo>
                    <a:lnTo>
                      <a:pt x="8679" y="225"/>
                    </a:lnTo>
                    <a:lnTo>
                      <a:pt x="8805" y="260"/>
                    </a:lnTo>
                    <a:lnTo>
                      <a:pt x="8552" y="1204"/>
                    </a:lnTo>
                    <a:close/>
                    <a:moveTo>
                      <a:pt x="5462" y="12736"/>
                    </a:moveTo>
                    <a:lnTo>
                      <a:pt x="5209" y="13680"/>
                    </a:lnTo>
                    <a:lnTo>
                      <a:pt x="5082" y="13640"/>
                    </a:lnTo>
                    <a:lnTo>
                      <a:pt x="5330" y="12702"/>
                    </a:lnTo>
                    <a:close/>
                    <a:moveTo>
                      <a:pt x="7913" y="1060"/>
                    </a:moveTo>
                    <a:lnTo>
                      <a:pt x="8086" y="105"/>
                    </a:lnTo>
                    <a:lnTo>
                      <a:pt x="8218" y="128"/>
                    </a:lnTo>
                    <a:lnTo>
                      <a:pt x="8046" y="1083"/>
                    </a:lnTo>
                    <a:close/>
                    <a:moveTo>
                      <a:pt x="5974" y="12834"/>
                    </a:moveTo>
                    <a:lnTo>
                      <a:pt x="5801" y="13795"/>
                    </a:lnTo>
                    <a:lnTo>
                      <a:pt x="5669" y="13772"/>
                    </a:lnTo>
                    <a:lnTo>
                      <a:pt x="5842" y="12817"/>
                    </a:lnTo>
                    <a:close/>
                    <a:moveTo>
                      <a:pt x="7396" y="1002"/>
                    </a:moveTo>
                    <a:lnTo>
                      <a:pt x="7482" y="30"/>
                    </a:lnTo>
                    <a:lnTo>
                      <a:pt x="7614" y="47"/>
                    </a:lnTo>
                    <a:lnTo>
                      <a:pt x="7528" y="1020"/>
                    </a:lnTo>
                    <a:close/>
                    <a:moveTo>
                      <a:pt x="6492" y="12903"/>
                    </a:moveTo>
                    <a:lnTo>
                      <a:pt x="6406" y="13870"/>
                    </a:lnTo>
                    <a:lnTo>
                      <a:pt x="6273" y="13859"/>
                    </a:lnTo>
                    <a:lnTo>
                      <a:pt x="6360" y="12886"/>
                    </a:lnTo>
                    <a:close/>
                    <a:moveTo>
                      <a:pt x="6878" y="979"/>
                    </a:moveTo>
                    <a:lnTo>
                      <a:pt x="6878" y="1"/>
                    </a:lnTo>
                    <a:lnTo>
                      <a:pt x="7010" y="1"/>
                    </a:lnTo>
                    <a:lnTo>
                      <a:pt x="7010" y="979"/>
                    </a:lnTo>
                    <a:close/>
                    <a:moveTo>
                      <a:pt x="7010" y="13893"/>
                    </a:moveTo>
                    <a:lnTo>
                      <a:pt x="6878" y="13893"/>
                    </a:lnTo>
                    <a:lnTo>
                      <a:pt x="6878" y="12915"/>
                    </a:lnTo>
                    <a:lnTo>
                      <a:pt x="7010" y="12915"/>
                    </a:lnTo>
                    <a:close/>
                    <a:moveTo>
                      <a:pt x="6360" y="1008"/>
                    </a:moveTo>
                    <a:lnTo>
                      <a:pt x="6273" y="41"/>
                    </a:lnTo>
                    <a:lnTo>
                      <a:pt x="6400" y="24"/>
                    </a:lnTo>
                    <a:lnTo>
                      <a:pt x="6492" y="997"/>
                    </a:lnTo>
                    <a:close/>
                    <a:moveTo>
                      <a:pt x="7534" y="12886"/>
                    </a:moveTo>
                    <a:lnTo>
                      <a:pt x="7620" y="13859"/>
                    </a:lnTo>
                    <a:lnTo>
                      <a:pt x="7488" y="13870"/>
                    </a:lnTo>
                    <a:lnTo>
                      <a:pt x="7396" y="12903"/>
                    </a:lnTo>
                    <a:close/>
                    <a:moveTo>
                      <a:pt x="5842" y="1089"/>
                    </a:moveTo>
                    <a:lnTo>
                      <a:pt x="5669" y="133"/>
                    </a:lnTo>
                    <a:lnTo>
                      <a:pt x="5801" y="110"/>
                    </a:lnTo>
                    <a:lnTo>
                      <a:pt x="5974" y="1066"/>
                    </a:lnTo>
                    <a:close/>
                    <a:moveTo>
                      <a:pt x="8046" y="12817"/>
                    </a:moveTo>
                    <a:lnTo>
                      <a:pt x="8218" y="13772"/>
                    </a:lnTo>
                    <a:lnTo>
                      <a:pt x="8086" y="13795"/>
                    </a:lnTo>
                    <a:lnTo>
                      <a:pt x="7913" y="12834"/>
                    </a:lnTo>
                    <a:close/>
                    <a:moveTo>
                      <a:pt x="5330" y="1204"/>
                    </a:moveTo>
                    <a:lnTo>
                      <a:pt x="5082" y="260"/>
                    </a:lnTo>
                    <a:lnTo>
                      <a:pt x="5209" y="225"/>
                    </a:lnTo>
                    <a:lnTo>
                      <a:pt x="5462" y="1169"/>
                    </a:lnTo>
                    <a:close/>
                    <a:moveTo>
                      <a:pt x="8552" y="12702"/>
                    </a:moveTo>
                    <a:lnTo>
                      <a:pt x="8805" y="13640"/>
                    </a:lnTo>
                    <a:lnTo>
                      <a:pt x="8679" y="13680"/>
                    </a:lnTo>
                    <a:lnTo>
                      <a:pt x="8426" y="12736"/>
                    </a:lnTo>
                    <a:close/>
                    <a:moveTo>
                      <a:pt x="4840" y="1371"/>
                    </a:moveTo>
                    <a:lnTo>
                      <a:pt x="4512" y="456"/>
                    </a:lnTo>
                    <a:lnTo>
                      <a:pt x="4633" y="415"/>
                    </a:lnTo>
                    <a:lnTo>
                      <a:pt x="4967" y="1325"/>
                    </a:lnTo>
                    <a:close/>
                    <a:moveTo>
                      <a:pt x="9041" y="12535"/>
                    </a:moveTo>
                    <a:lnTo>
                      <a:pt x="9375" y="13450"/>
                    </a:lnTo>
                    <a:lnTo>
                      <a:pt x="9254" y="13490"/>
                    </a:lnTo>
                    <a:lnTo>
                      <a:pt x="8921" y="12575"/>
                    </a:lnTo>
                    <a:close/>
                    <a:moveTo>
                      <a:pt x="4363" y="1572"/>
                    </a:moveTo>
                    <a:lnTo>
                      <a:pt x="3948" y="686"/>
                    </a:lnTo>
                    <a:lnTo>
                      <a:pt x="4075" y="628"/>
                    </a:lnTo>
                    <a:lnTo>
                      <a:pt x="4484" y="1514"/>
                    </a:lnTo>
                    <a:close/>
                    <a:moveTo>
                      <a:pt x="9525" y="12334"/>
                    </a:moveTo>
                    <a:lnTo>
                      <a:pt x="9933" y="13220"/>
                    </a:lnTo>
                    <a:lnTo>
                      <a:pt x="9813" y="13277"/>
                    </a:lnTo>
                    <a:lnTo>
                      <a:pt x="9404" y="12391"/>
                    </a:lnTo>
                    <a:close/>
                    <a:moveTo>
                      <a:pt x="3902" y="1814"/>
                    </a:moveTo>
                    <a:lnTo>
                      <a:pt x="3413" y="974"/>
                    </a:lnTo>
                    <a:lnTo>
                      <a:pt x="3528" y="910"/>
                    </a:lnTo>
                    <a:lnTo>
                      <a:pt x="4017" y="1750"/>
                    </a:lnTo>
                    <a:close/>
                    <a:moveTo>
                      <a:pt x="9985" y="12086"/>
                    </a:moveTo>
                    <a:lnTo>
                      <a:pt x="10474" y="12932"/>
                    </a:lnTo>
                    <a:lnTo>
                      <a:pt x="10359" y="12995"/>
                    </a:lnTo>
                    <a:lnTo>
                      <a:pt x="9870" y="12155"/>
                    </a:lnTo>
                    <a:close/>
                    <a:moveTo>
                      <a:pt x="3471" y="2101"/>
                    </a:moveTo>
                    <a:lnTo>
                      <a:pt x="2907" y="1307"/>
                    </a:lnTo>
                    <a:lnTo>
                      <a:pt x="3016" y="1227"/>
                    </a:lnTo>
                    <a:lnTo>
                      <a:pt x="3574" y="2027"/>
                    </a:lnTo>
                    <a:close/>
                    <a:moveTo>
                      <a:pt x="10417" y="11798"/>
                    </a:moveTo>
                    <a:lnTo>
                      <a:pt x="10981" y="12598"/>
                    </a:lnTo>
                    <a:lnTo>
                      <a:pt x="10871" y="12679"/>
                    </a:lnTo>
                    <a:lnTo>
                      <a:pt x="10307" y="11879"/>
                    </a:lnTo>
                    <a:close/>
                    <a:moveTo>
                      <a:pt x="3056" y="2418"/>
                    </a:moveTo>
                    <a:lnTo>
                      <a:pt x="2435" y="1681"/>
                    </a:lnTo>
                    <a:lnTo>
                      <a:pt x="2533" y="1595"/>
                    </a:lnTo>
                    <a:lnTo>
                      <a:pt x="3160" y="2343"/>
                    </a:lnTo>
                    <a:close/>
                    <a:moveTo>
                      <a:pt x="10825" y="11476"/>
                    </a:moveTo>
                    <a:lnTo>
                      <a:pt x="11453" y="12224"/>
                    </a:lnTo>
                    <a:lnTo>
                      <a:pt x="11355" y="12311"/>
                    </a:lnTo>
                    <a:lnTo>
                      <a:pt x="10728" y="11562"/>
                    </a:lnTo>
                    <a:close/>
                    <a:moveTo>
                      <a:pt x="2677" y="2781"/>
                    </a:moveTo>
                    <a:lnTo>
                      <a:pt x="1986" y="2090"/>
                    </a:lnTo>
                    <a:lnTo>
                      <a:pt x="2078" y="1998"/>
                    </a:lnTo>
                    <a:lnTo>
                      <a:pt x="2769" y="2688"/>
                    </a:lnTo>
                    <a:close/>
                    <a:moveTo>
                      <a:pt x="11211" y="11125"/>
                    </a:moveTo>
                    <a:lnTo>
                      <a:pt x="11902" y="11816"/>
                    </a:lnTo>
                    <a:lnTo>
                      <a:pt x="11804" y="11908"/>
                    </a:lnTo>
                    <a:lnTo>
                      <a:pt x="11113" y="11217"/>
                    </a:lnTo>
                    <a:close/>
                    <a:moveTo>
                      <a:pt x="2331" y="3166"/>
                    </a:moveTo>
                    <a:lnTo>
                      <a:pt x="1583" y="2545"/>
                    </a:lnTo>
                    <a:lnTo>
                      <a:pt x="1669" y="2441"/>
                    </a:lnTo>
                    <a:lnTo>
                      <a:pt x="2418" y="3068"/>
                    </a:lnTo>
                    <a:close/>
                    <a:moveTo>
                      <a:pt x="11556" y="10734"/>
                    </a:moveTo>
                    <a:lnTo>
                      <a:pt x="12304" y="11361"/>
                    </a:lnTo>
                    <a:lnTo>
                      <a:pt x="12218" y="11459"/>
                    </a:lnTo>
                    <a:lnTo>
                      <a:pt x="11470" y="10837"/>
                    </a:lnTo>
                    <a:close/>
                    <a:moveTo>
                      <a:pt x="2015" y="3586"/>
                    </a:moveTo>
                    <a:lnTo>
                      <a:pt x="1215" y="3022"/>
                    </a:lnTo>
                    <a:lnTo>
                      <a:pt x="1295" y="2919"/>
                    </a:lnTo>
                    <a:lnTo>
                      <a:pt x="2095" y="3477"/>
                    </a:lnTo>
                    <a:close/>
                    <a:moveTo>
                      <a:pt x="11873" y="10319"/>
                    </a:moveTo>
                    <a:lnTo>
                      <a:pt x="12667" y="10878"/>
                    </a:lnTo>
                    <a:lnTo>
                      <a:pt x="12592" y="10987"/>
                    </a:lnTo>
                    <a:lnTo>
                      <a:pt x="11792" y="10429"/>
                    </a:lnTo>
                    <a:close/>
                    <a:moveTo>
                      <a:pt x="1744" y="4024"/>
                    </a:moveTo>
                    <a:lnTo>
                      <a:pt x="898" y="3534"/>
                    </a:lnTo>
                    <a:lnTo>
                      <a:pt x="967" y="3419"/>
                    </a:lnTo>
                    <a:lnTo>
                      <a:pt x="1808" y="3908"/>
                    </a:lnTo>
                    <a:close/>
                    <a:moveTo>
                      <a:pt x="12143" y="9882"/>
                    </a:moveTo>
                    <a:lnTo>
                      <a:pt x="12983" y="10371"/>
                    </a:lnTo>
                    <a:lnTo>
                      <a:pt x="12920" y="10486"/>
                    </a:lnTo>
                    <a:lnTo>
                      <a:pt x="12080" y="9997"/>
                    </a:lnTo>
                    <a:close/>
                    <a:moveTo>
                      <a:pt x="1560" y="4369"/>
                    </a:moveTo>
                    <a:lnTo>
                      <a:pt x="1503" y="4490"/>
                    </a:lnTo>
                    <a:lnTo>
                      <a:pt x="622" y="4081"/>
                    </a:lnTo>
                    <a:lnTo>
                      <a:pt x="680" y="3960"/>
                    </a:lnTo>
                    <a:close/>
                    <a:moveTo>
                      <a:pt x="12322" y="9537"/>
                    </a:moveTo>
                    <a:lnTo>
                      <a:pt x="12379" y="9410"/>
                    </a:lnTo>
                    <a:lnTo>
                      <a:pt x="13265" y="9824"/>
                    </a:lnTo>
                    <a:lnTo>
                      <a:pt x="13208" y="9945"/>
                    </a:lnTo>
                    <a:close/>
                    <a:moveTo>
                      <a:pt x="1359" y="4852"/>
                    </a:moveTo>
                    <a:lnTo>
                      <a:pt x="1318" y="4973"/>
                    </a:lnTo>
                    <a:lnTo>
                      <a:pt x="403" y="4645"/>
                    </a:lnTo>
                    <a:lnTo>
                      <a:pt x="444" y="4518"/>
                    </a:lnTo>
                    <a:close/>
                    <a:moveTo>
                      <a:pt x="12523" y="9053"/>
                    </a:moveTo>
                    <a:lnTo>
                      <a:pt x="12569" y="8932"/>
                    </a:lnTo>
                    <a:lnTo>
                      <a:pt x="13484" y="9260"/>
                    </a:lnTo>
                    <a:lnTo>
                      <a:pt x="13438" y="9381"/>
                    </a:lnTo>
                    <a:close/>
                    <a:moveTo>
                      <a:pt x="1198" y="5341"/>
                    </a:moveTo>
                    <a:lnTo>
                      <a:pt x="1157" y="5468"/>
                    </a:lnTo>
                    <a:lnTo>
                      <a:pt x="219" y="5221"/>
                    </a:lnTo>
                    <a:lnTo>
                      <a:pt x="254" y="5088"/>
                    </a:lnTo>
                    <a:close/>
                    <a:moveTo>
                      <a:pt x="12690" y="8564"/>
                    </a:moveTo>
                    <a:lnTo>
                      <a:pt x="12725" y="8432"/>
                    </a:lnTo>
                    <a:lnTo>
                      <a:pt x="13668" y="8685"/>
                    </a:lnTo>
                    <a:lnTo>
                      <a:pt x="13634" y="8817"/>
                    </a:lnTo>
                    <a:close/>
                    <a:moveTo>
                      <a:pt x="1083" y="5854"/>
                    </a:moveTo>
                    <a:lnTo>
                      <a:pt x="1059" y="5980"/>
                    </a:lnTo>
                    <a:lnTo>
                      <a:pt x="104" y="5808"/>
                    </a:lnTo>
                    <a:lnTo>
                      <a:pt x="121" y="5681"/>
                    </a:lnTo>
                    <a:close/>
                    <a:moveTo>
                      <a:pt x="12805" y="8052"/>
                    </a:moveTo>
                    <a:lnTo>
                      <a:pt x="12828" y="7925"/>
                    </a:lnTo>
                    <a:lnTo>
                      <a:pt x="13783" y="8098"/>
                    </a:lnTo>
                    <a:lnTo>
                      <a:pt x="13760" y="8225"/>
                    </a:lnTo>
                    <a:close/>
                    <a:moveTo>
                      <a:pt x="1008" y="6360"/>
                    </a:moveTo>
                    <a:lnTo>
                      <a:pt x="996" y="6492"/>
                    </a:lnTo>
                    <a:lnTo>
                      <a:pt x="24" y="6406"/>
                    </a:lnTo>
                    <a:lnTo>
                      <a:pt x="35" y="6274"/>
                    </a:lnTo>
                    <a:close/>
                    <a:moveTo>
                      <a:pt x="12886" y="7534"/>
                    </a:moveTo>
                    <a:lnTo>
                      <a:pt x="12897" y="7402"/>
                    </a:lnTo>
                    <a:lnTo>
                      <a:pt x="13870" y="7488"/>
                    </a:lnTo>
                    <a:lnTo>
                      <a:pt x="13858" y="762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5"/>
              <p:cNvSpPr/>
              <p:nvPr/>
            </p:nvSpPr>
            <p:spPr>
              <a:xfrm>
                <a:off x="6573635" y="1921865"/>
                <a:ext cx="199103" cy="201929"/>
              </a:xfrm>
              <a:custGeom>
                <a:rect b="b" l="l" r="r" t="t"/>
                <a:pathLst>
                  <a:path extrusionOk="0" h="3287" w="3241">
                    <a:moveTo>
                      <a:pt x="3240" y="576"/>
                    </a:moveTo>
                    <a:lnTo>
                      <a:pt x="979" y="0"/>
                    </a:lnTo>
                    <a:cubicBezTo>
                      <a:pt x="789" y="535"/>
                      <a:pt x="443" y="996"/>
                      <a:pt x="0" y="1318"/>
                    </a:cubicBezTo>
                    <a:lnTo>
                      <a:pt x="1266" y="3286"/>
                    </a:lnTo>
                    <a:cubicBezTo>
                      <a:pt x="2199" y="2636"/>
                      <a:pt x="2912" y="1686"/>
                      <a:pt x="3240" y="576"/>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5"/>
              <p:cNvSpPr/>
              <p:nvPr/>
            </p:nvSpPr>
            <p:spPr>
              <a:xfrm>
                <a:off x="6161418" y="1554496"/>
                <a:ext cx="364909" cy="461788"/>
              </a:xfrm>
              <a:custGeom>
                <a:rect b="b" l="l" r="r" t="t"/>
                <a:pathLst>
                  <a:path extrusionOk="0" h="7517" w="5940">
                    <a:moveTo>
                      <a:pt x="5087" y="1"/>
                    </a:moveTo>
                    <a:cubicBezTo>
                      <a:pt x="2285" y="1"/>
                      <a:pt x="0" y="2280"/>
                      <a:pt x="0" y="5088"/>
                    </a:cubicBezTo>
                    <a:cubicBezTo>
                      <a:pt x="0" y="5963"/>
                      <a:pt x="225" y="6792"/>
                      <a:pt x="622" y="7517"/>
                    </a:cubicBezTo>
                    <a:lnTo>
                      <a:pt x="2613" y="6303"/>
                    </a:lnTo>
                    <a:cubicBezTo>
                      <a:pt x="2434" y="5934"/>
                      <a:pt x="2331" y="5526"/>
                      <a:pt x="2331" y="5094"/>
                    </a:cubicBezTo>
                    <a:cubicBezTo>
                      <a:pt x="2331" y="3575"/>
                      <a:pt x="3562" y="2343"/>
                      <a:pt x="5082" y="2343"/>
                    </a:cubicBezTo>
                    <a:cubicBezTo>
                      <a:pt x="5197" y="2343"/>
                      <a:pt x="5306" y="2355"/>
                      <a:pt x="5410" y="2366"/>
                    </a:cubicBezTo>
                    <a:lnTo>
                      <a:pt x="5939" y="87"/>
                    </a:lnTo>
                    <a:cubicBezTo>
                      <a:pt x="5663" y="24"/>
                      <a:pt x="5375" y="1"/>
                      <a:pt x="5087"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5"/>
              <p:cNvSpPr/>
              <p:nvPr/>
            </p:nvSpPr>
            <p:spPr>
              <a:xfrm>
                <a:off x="6142312" y="1527650"/>
                <a:ext cx="665375" cy="665068"/>
              </a:xfrm>
              <a:custGeom>
                <a:rect b="b" l="l" r="r" t="t"/>
                <a:pathLst>
                  <a:path extrusionOk="0" h="10826" w="10831">
                    <a:moveTo>
                      <a:pt x="1261" y="5410"/>
                    </a:moveTo>
                    <a:cubicBezTo>
                      <a:pt x="1261" y="7735"/>
                      <a:pt x="3154" y="9628"/>
                      <a:pt x="5485" y="9628"/>
                    </a:cubicBezTo>
                    <a:cubicBezTo>
                      <a:pt x="7815" y="9628"/>
                      <a:pt x="9709" y="7735"/>
                      <a:pt x="9709" y="5410"/>
                    </a:cubicBezTo>
                    <a:cubicBezTo>
                      <a:pt x="9709" y="3079"/>
                      <a:pt x="7815" y="1186"/>
                      <a:pt x="5485" y="1186"/>
                    </a:cubicBezTo>
                    <a:cubicBezTo>
                      <a:pt x="3165" y="1186"/>
                      <a:pt x="1261" y="3085"/>
                      <a:pt x="1261" y="5410"/>
                    </a:cubicBezTo>
                    <a:close/>
                    <a:moveTo>
                      <a:pt x="9657" y="5410"/>
                    </a:moveTo>
                    <a:cubicBezTo>
                      <a:pt x="9657" y="7712"/>
                      <a:pt x="7787" y="9582"/>
                      <a:pt x="5485" y="9582"/>
                    </a:cubicBezTo>
                    <a:cubicBezTo>
                      <a:pt x="3183" y="9582"/>
                      <a:pt x="1312" y="7712"/>
                      <a:pt x="1312" y="5410"/>
                    </a:cubicBezTo>
                    <a:cubicBezTo>
                      <a:pt x="1312" y="3108"/>
                      <a:pt x="3183" y="1238"/>
                      <a:pt x="5485" y="1238"/>
                    </a:cubicBezTo>
                    <a:cubicBezTo>
                      <a:pt x="7787" y="1238"/>
                      <a:pt x="9657" y="3114"/>
                      <a:pt x="9657" y="5410"/>
                    </a:cubicBezTo>
                    <a:close/>
                    <a:moveTo>
                      <a:pt x="760" y="5358"/>
                    </a:moveTo>
                    <a:lnTo>
                      <a:pt x="760" y="5456"/>
                    </a:lnTo>
                    <a:lnTo>
                      <a:pt x="0" y="5456"/>
                    </a:lnTo>
                    <a:lnTo>
                      <a:pt x="0" y="5358"/>
                    </a:lnTo>
                    <a:close/>
                    <a:moveTo>
                      <a:pt x="10071" y="5468"/>
                    </a:moveTo>
                    <a:lnTo>
                      <a:pt x="10071" y="5364"/>
                    </a:lnTo>
                    <a:lnTo>
                      <a:pt x="10831" y="5364"/>
                    </a:lnTo>
                    <a:lnTo>
                      <a:pt x="10831" y="5468"/>
                    </a:lnTo>
                    <a:close/>
                    <a:moveTo>
                      <a:pt x="783" y="5871"/>
                    </a:moveTo>
                    <a:lnTo>
                      <a:pt x="29" y="5934"/>
                    </a:lnTo>
                    <a:lnTo>
                      <a:pt x="18" y="5830"/>
                    </a:lnTo>
                    <a:lnTo>
                      <a:pt x="777" y="5767"/>
                    </a:lnTo>
                    <a:close/>
                    <a:moveTo>
                      <a:pt x="10048" y="4956"/>
                    </a:moveTo>
                    <a:lnTo>
                      <a:pt x="10802" y="4892"/>
                    </a:lnTo>
                    <a:lnTo>
                      <a:pt x="10808" y="4990"/>
                    </a:lnTo>
                    <a:lnTo>
                      <a:pt x="10054" y="5053"/>
                    </a:lnTo>
                    <a:close/>
                    <a:moveTo>
                      <a:pt x="841" y="6273"/>
                    </a:moveTo>
                    <a:lnTo>
                      <a:pt x="92" y="6400"/>
                    </a:lnTo>
                    <a:lnTo>
                      <a:pt x="69" y="6302"/>
                    </a:lnTo>
                    <a:lnTo>
                      <a:pt x="818" y="6170"/>
                    </a:lnTo>
                    <a:close/>
                    <a:moveTo>
                      <a:pt x="9991" y="4553"/>
                    </a:moveTo>
                    <a:lnTo>
                      <a:pt x="10739" y="4420"/>
                    </a:lnTo>
                    <a:lnTo>
                      <a:pt x="10762" y="4524"/>
                    </a:lnTo>
                    <a:lnTo>
                      <a:pt x="10014" y="4651"/>
                    </a:lnTo>
                    <a:close/>
                    <a:moveTo>
                      <a:pt x="933" y="6665"/>
                    </a:moveTo>
                    <a:lnTo>
                      <a:pt x="202" y="6860"/>
                    </a:lnTo>
                    <a:lnTo>
                      <a:pt x="167" y="6763"/>
                    </a:lnTo>
                    <a:lnTo>
                      <a:pt x="904" y="6567"/>
                    </a:lnTo>
                    <a:close/>
                    <a:moveTo>
                      <a:pt x="9899" y="4156"/>
                    </a:moveTo>
                    <a:lnTo>
                      <a:pt x="10629" y="3960"/>
                    </a:lnTo>
                    <a:lnTo>
                      <a:pt x="10658" y="4064"/>
                    </a:lnTo>
                    <a:lnTo>
                      <a:pt x="9927" y="4259"/>
                    </a:lnTo>
                    <a:close/>
                    <a:moveTo>
                      <a:pt x="1065" y="7050"/>
                    </a:moveTo>
                    <a:lnTo>
                      <a:pt x="351" y="7309"/>
                    </a:lnTo>
                    <a:lnTo>
                      <a:pt x="311" y="7206"/>
                    </a:lnTo>
                    <a:lnTo>
                      <a:pt x="1025" y="6947"/>
                    </a:lnTo>
                    <a:close/>
                    <a:moveTo>
                      <a:pt x="9772" y="3770"/>
                    </a:moveTo>
                    <a:lnTo>
                      <a:pt x="10486" y="3511"/>
                    </a:lnTo>
                    <a:lnTo>
                      <a:pt x="10520" y="3609"/>
                    </a:lnTo>
                    <a:lnTo>
                      <a:pt x="9812" y="3868"/>
                    </a:lnTo>
                    <a:close/>
                    <a:moveTo>
                      <a:pt x="1220" y="7424"/>
                    </a:moveTo>
                    <a:lnTo>
                      <a:pt x="530" y="7747"/>
                    </a:lnTo>
                    <a:lnTo>
                      <a:pt x="489" y="7655"/>
                    </a:lnTo>
                    <a:lnTo>
                      <a:pt x="1180" y="7327"/>
                    </a:lnTo>
                    <a:close/>
                    <a:moveTo>
                      <a:pt x="9611" y="3396"/>
                    </a:moveTo>
                    <a:lnTo>
                      <a:pt x="10296" y="3068"/>
                    </a:lnTo>
                    <a:lnTo>
                      <a:pt x="10342" y="3166"/>
                    </a:lnTo>
                    <a:lnTo>
                      <a:pt x="9651" y="3488"/>
                    </a:lnTo>
                    <a:close/>
                    <a:moveTo>
                      <a:pt x="1416" y="7781"/>
                    </a:moveTo>
                    <a:lnTo>
                      <a:pt x="754" y="8161"/>
                    </a:lnTo>
                    <a:lnTo>
                      <a:pt x="702" y="8075"/>
                    </a:lnTo>
                    <a:lnTo>
                      <a:pt x="1364" y="7695"/>
                    </a:lnTo>
                    <a:close/>
                    <a:moveTo>
                      <a:pt x="9421" y="3039"/>
                    </a:moveTo>
                    <a:lnTo>
                      <a:pt x="10083" y="2659"/>
                    </a:lnTo>
                    <a:lnTo>
                      <a:pt x="10135" y="2746"/>
                    </a:lnTo>
                    <a:lnTo>
                      <a:pt x="9473" y="3125"/>
                    </a:lnTo>
                    <a:close/>
                    <a:moveTo>
                      <a:pt x="1629" y="8121"/>
                    </a:moveTo>
                    <a:lnTo>
                      <a:pt x="1007" y="8558"/>
                    </a:lnTo>
                    <a:lnTo>
                      <a:pt x="950" y="8472"/>
                    </a:lnTo>
                    <a:lnTo>
                      <a:pt x="1571" y="8034"/>
                    </a:lnTo>
                    <a:close/>
                    <a:moveTo>
                      <a:pt x="9197" y="2694"/>
                    </a:moveTo>
                    <a:lnTo>
                      <a:pt x="9824" y="2257"/>
                    </a:lnTo>
                    <a:lnTo>
                      <a:pt x="9881" y="2343"/>
                    </a:lnTo>
                    <a:lnTo>
                      <a:pt x="9254" y="2780"/>
                    </a:lnTo>
                    <a:close/>
                    <a:moveTo>
                      <a:pt x="1882" y="8443"/>
                    </a:moveTo>
                    <a:lnTo>
                      <a:pt x="1301" y="8932"/>
                    </a:lnTo>
                    <a:lnTo>
                      <a:pt x="1238" y="8852"/>
                    </a:lnTo>
                    <a:lnTo>
                      <a:pt x="1819" y="8362"/>
                    </a:lnTo>
                    <a:close/>
                    <a:moveTo>
                      <a:pt x="8949" y="2377"/>
                    </a:moveTo>
                    <a:lnTo>
                      <a:pt x="9530" y="1888"/>
                    </a:lnTo>
                    <a:lnTo>
                      <a:pt x="9594" y="1969"/>
                    </a:lnTo>
                    <a:lnTo>
                      <a:pt x="9012" y="2458"/>
                    </a:lnTo>
                    <a:close/>
                    <a:moveTo>
                      <a:pt x="2164" y="8736"/>
                    </a:moveTo>
                    <a:lnTo>
                      <a:pt x="1623" y="9277"/>
                    </a:lnTo>
                    <a:lnTo>
                      <a:pt x="1548" y="9208"/>
                    </a:lnTo>
                    <a:lnTo>
                      <a:pt x="2089" y="8667"/>
                    </a:lnTo>
                    <a:close/>
                    <a:moveTo>
                      <a:pt x="8673" y="2084"/>
                    </a:moveTo>
                    <a:lnTo>
                      <a:pt x="9214" y="1543"/>
                    </a:lnTo>
                    <a:lnTo>
                      <a:pt x="9283" y="1618"/>
                    </a:lnTo>
                    <a:lnTo>
                      <a:pt x="8748" y="2159"/>
                    </a:lnTo>
                    <a:close/>
                    <a:moveTo>
                      <a:pt x="2463" y="9013"/>
                    </a:moveTo>
                    <a:lnTo>
                      <a:pt x="1974" y="9594"/>
                    </a:lnTo>
                    <a:lnTo>
                      <a:pt x="1899" y="9531"/>
                    </a:lnTo>
                    <a:lnTo>
                      <a:pt x="2389" y="8949"/>
                    </a:lnTo>
                    <a:close/>
                    <a:moveTo>
                      <a:pt x="8374" y="1813"/>
                    </a:moveTo>
                    <a:lnTo>
                      <a:pt x="8863" y="1226"/>
                    </a:lnTo>
                    <a:lnTo>
                      <a:pt x="8938" y="1295"/>
                    </a:lnTo>
                    <a:lnTo>
                      <a:pt x="8448" y="1877"/>
                    </a:lnTo>
                    <a:close/>
                    <a:moveTo>
                      <a:pt x="2791" y="9249"/>
                    </a:moveTo>
                    <a:lnTo>
                      <a:pt x="2348" y="9876"/>
                    </a:lnTo>
                    <a:lnTo>
                      <a:pt x="2262" y="9818"/>
                    </a:lnTo>
                    <a:lnTo>
                      <a:pt x="2699" y="9191"/>
                    </a:lnTo>
                    <a:close/>
                    <a:moveTo>
                      <a:pt x="8040" y="1566"/>
                    </a:moveTo>
                    <a:lnTo>
                      <a:pt x="8477" y="939"/>
                    </a:lnTo>
                    <a:lnTo>
                      <a:pt x="8563" y="996"/>
                    </a:lnTo>
                    <a:lnTo>
                      <a:pt x="8126" y="1623"/>
                    </a:lnTo>
                    <a:close/>
                    <a:moveTo>
                      <a:pt x="3131" y="9462"/>
                    </a:moveTo>
                    <a:lnTo>
                      <a:pt x="2751" y="10123"/>
                    </a:lnTo>
                    <a:lnTo>
                      <a:pt x="2665" y="10077"/>
                    </a:lnTo>
                    <a:lnTo>
                      <a:pt x="3045" y="9416"/>
                    </a:lnTo>
                    <a:close/>
                    <a:moveTo>
                      <a:pt x="7695" y="1353"/>
                    </a:moveTo>
                    <a:lnTo>
                      <a:pt x="8074" y="691"/>
                    </a:lnTo>
                    <a:lnTo>
                      <a:pt x="8161" y="737"/>
                    </a:lnTo>
                    <a:lnTo>
                      <a:pt x="7781" y="1399"/>
                    </a:lnTo>
                    <a:close/>
                    <a:moveTo>
                      <a:pt x="3493" y="9651"/>
                    </a:moveTo>
                    <a:lnTo>
                      <a:pt x="3171" y="10342"/>
                    </a:lnTo>
                    <a:lnTo>
                      <a:pt x="3079" y="10302"/>
                    </a:lnTo>
                    <a:lnTo>
                      <a:pt x="3401" y="9605"/>
                    </a:lnTo>
                    <a:close/>
                    <a:moveTo>
                      <a:pt x="7338" y="1169"/>
                    </a:moveTo>
                    <a:lnTo>
                      <a:pt x="7660" y="478"/>
                    </a:lnTo>
                    <a:lnTo>
                      <a:pt x="7752" y="524"/>
                    </a:lnTo>
                    <a:lnTo>
                      <a:pt x="7430" y="1215"/>
                    </a:lnTo>
                    <a:close/>
                    <a:moveTo>
                      <a:pt x="3873" y="9801"/>
                    </a:moveTo>
                    <a:lnTo>
                      <a:pt x="3614" y="10515"/>
                    </a:lnTo>
                    <a:lnTo>
                      <a:pt x="3517" y="10480"/>
                    </a:lnTo>
                    <a:lnTo>
                      <a:pt x="3775" y="9767"/>
                    </a:lnTo>
                    <a:close/>
                    <a:moveTo>
                      <a:pt x="6964" y="1019"/>
                    </a:moveTo>
                    <a:lnTo>
                      <a:pt x="7223" y="306"/>
                    </a:lnTo>
                    <a:lnTo>
                      <a:pt x="7320" y="346"/>
                    </a:lnTo>
                    <a:lnTo>
                      <a:pt x="7061" y="1054"/>
                    </a:lnTo>
                    <a:close/>
                    <a:moveTo>
                      <a:pt x="4265" y="9916"/>
                    </a:moveTo>
                    <a:lnTo>
                      <a:pt x="4069" y="10653"/>
                    </a:lnTo>
                    <a:lnTo>
                      <a:pt x="3965" y="10624"/>
                    </a:lnTo>
                    <a:lnTo>
                      <a:pt x="4161" y="9887"/>
                    </a:lnTo>
                    <a:close/>
                    <a:moveTo>
                      <a:pt x="6572" y="904"/>
                    </a:moveTo>
                    <a:lnTo>
                      <a:pt x="6768" y="173"/>
                    </a:lnTo>
                    <a:lnTo>
                      <a:pt x="6866" y="202"/>
                    </a:lnTo>
                    <a:lnTo>
                      <a:pt x="6676" y="933"/>
                    </a:lnTo>
                    <a:close/>
                    <a:moveTo>
                      <a:pt x="4662" y="10002"/>
                    </a:moveTo>
                    <a:lnTo>
                      <a:pt x="4529" y="10751"/>
                    </a:lnTo>
                    <a:lnTo>
                      <a:pt x="4426" y="10728"/>
                    </a:lnTo>
                    <a:lnTo>
                      <a:pt x="4558" y="9979"/>
                    </a:lnTo>
                    <a:close/>
                    <a:moveTo>
                      <a:pt x="6169" y="818"/>
                    </a:moveTo>
                    <a:lnTo>
                      <a:pt x="6302" y="70"/>
                    </a:lnTo>
                    <a:lnTo>
                      <a:pt x="6400" y="93"/>
                    </a:lnTo>
                    <a:lnTo>
                      <a:pt x="6273" y="841"/>
                    </a:lnTo>
                    <a:close/>
                    <a:moveTo>
                      <a:pt x="5065" y="10049"/>
                    </a:moveTo>
                    <a:lnTo>
                      <a:pt x="4996" y="10802"/>
                    </a:lnTo>
                    <a:lnTo>
                      <a:pt x="4898" y="10797"/>
                    </a:lnTo>
                    <a:lnTo>
                      <a:pt x="4961" y="10037"/>
                    </a:lnTo>
                    <a:close/>
                    <a:moveTo>
                      <a:pt x="5767" y="766"/>
                    </a:moveTo>
                    <a:lnTo>
                      <a:pt x="5830" y="12"/>
                    </a:lnTo>
                    <a:lnTo>
                      <a:pt x="5934" y="18"/>
                    </a:lnTo>
                    <a:lnTo>
                      <a:pt x="5870" y="778"/>
                    </a:lnTo>
                    <a:close/>
                    <a:moveTo>
                      <a:pt x="5467" y="10060"/>
                    </a:moveTo>
                    <a:lnTo>
                      <a:pt x="5467" y="10825"/>
                    </a:lnTo>
                    <a:lnTo>
                      <a:pt x="5364" y="10825"/>
                    </a:lnTo>
                    <a:lnTo>
                      <a:pt x="5364" y="10060"/>
                    </a:lnTo>
                    <a:close/>
                    <a:moveTo>
                      <a:pt x="5364" y="1"/>
                    </a:moveTo>
                    <a:lnTo>
                      <a:pt x="5467" y="1"/>
                    </a:lnTo>
                    <a:lnTo>
                      <a:pt x="5467" y="760"/>
                    </a:lnTo>
                    <a:lnTo>
                      <a:pt x="5364" y="760"/>
                    </a:lnTo>
                    <a:close/>
                    <a:moveTo>
                      <a:pt x="5876" y="10037"/>
                    </a:moveTo>
                    <a:lnTo>
                      <a:pt x="5939" y="10797"/>
                    </a:lnTo>
                    <a:lnTo>
                      <a:pt x="5841" y="10802"/>
                    </a:lnTo>
                    <a:lnTo>
                      <a:pt x="5772" y="10049"/>
                    </a:lnTo>
                    <a:close/>
                    <a:moveTo>
                      <a:pt x="4961" y="778"/>
                    </a:moveTo>
                    <a:lnTo>
                      <a:pt x="4898" y="18"/>
                    </a:lnTo>
                    <a:lnTo>
                      <a:pt x="4996" y="12"/>
                    </a:lnTo>
                    <a:lnTo>
                      <a:pt x="5065" y="766"/>
                    </a:lnTo>
                    <a:close/>
                    <a:moveTo>
                      <a:pt x="6279" y="9985"/>
                    </a:moveTo>
                    <a:lnTo>
                      <a:pt x="6405" y="10733"/>
                    </a:lnTo>
                    <a:lnTo>
                      <a:pt x="6308" y="10751"/>
                    </a:lnTo>
                    <a:lnTo>
                      <a:pt x="6175" y="10002"/>
                    </a:lnTo>
                    <a:close/>
                    <a:moveTo>
                      <a:pt x="4558" y="835"/>
                    </a:moveTo>
                    <a:lnTo>
                      <a:pt x="4432" y="87"/>
                    </a:lnTo>
                    <a:lnTo>
                      <a:pt x="4529" y="64"/>
                    </a:lnTo>
                    <a:lnTo>
                      <a:pt x="4662" y="812"/>
                    </a:lnTo>
                    <a:close/>
                    <a:moveTo>
                      <a:pt x="6676" y="9887"/>
                    </a:moveTo>
                    <a:lnTo>
                      <a:pt x="6866" y="10624"/>
                    </a:lnTo>
                    <a:lnTo>
                      <a:pt x="6768" y="10653"/>
                    </a:lnTo>
                    <a:lnTo>
                      <a:pt x="6572" y="9916"/>
                    </a:lnTo>
                    <a:close/>
                    <a:moveTo>
                      <a:pt x="4161" y="927"/>
                    </a:moveTo>
                    <a:lnTo>
                      <a:pt x="3971" y="191"/>
                    </a:lnTo>
                    <a:lnTo>
                      <a:pt x="4069" y="162"/>
                    </a:lnTo>
                    <a:lnTo>
                      <a:pt x="4265" y="898"/>
                    </a:lnTo>
                    <a:close/>
                    <a:moveTo>
                      <a:pt x="7056" y="9767"/>
                    </a:moveTo>
                    <a:lnTo>
                      <a:pt x="7315" y="10480"/>
                    </a:lnTo>
                    <a:lnTo>
                      <a:pt x="7211" y="10515"/>
                    </a:lnTo>
                    <a:lnTo>
                      <a:pt x="6952" y="9801"/>
                    </a:lnTo>
                    <a:close/>
                    <a:moveTo>
                      <a:pt x="3775" y="1054"/>
                    </a:moveTo>
                    <a:lnTo>
                      <a:pt x="3517" y="346"/>
                    </a:lnTo>
                    <a:lnTo>
                      <a:pt x="3614" y="306"/>
                    </a:lnTo>
                    <a:lnTo>
                      <a:pt x="3873" y="1019"/>
                    </a:lnTo>
                    <a:close/>
                    <a:moveTo>
                      <a:pt x="7430" y="9605"/>
                    </a:moveTo>
                    <a:lnTo>
                      <a:pt x="7752" y="10302"/>
                    </a:lnTo>
                    <a:lnTo>
                      <a:pt x="7660" y="10342"/>
                    </a:lnTo>
                    <a:lnTo>
                      <a:pt x="7338" y="9651"/>
                    </a:lnTo>
                    <a:close/>
                    <a:moveTo>
                      <a:pt x="3401" y="1215"/>
                    </a:moveTo>
                    <a:lnTo>
                      <a:pt x="3079" y="524"/>
                    </a:lnTo>
                    <a:lnTo>
                      <a:pt x="3171" y="478"/>
                    </a:lnTo>
                    <a:lnTo>
                      <a:pt x="3493" y="1169"/>
                    </a:lnTo>
                    <a:close/>
                    <a:moveTo>
                      <a:pt x="7787" y="9416"/>
                    </a:moveTo>
                    <a:lnTo>
                      <a:pt x="8172" y="10077"/>
                    </a:lnTo>
                    <a:lnTo>
                      <a:pt x="8086" y="10123"/>
                    </a:lnTo>
                    <a:lnTo>
                      <a:pt x="7700" y="9462"/>
                    </a:lnTo>
                    <a:close/>
                    <a:moveTo>
                      <a:pt x="3039" y="1411"/>
                    </a:moveTo>
                    <a:lnTo>
                      <a:pt x="2659" y="749"/>
                    </a:lnTo>
                    <a:lnTo>
                      <a:pt x="2745" y="697"/>
                    </a:lnTo>
                    <a:lnTo>
                      <a:pt x="3125" y="1359"/>
                    </a:lnTo>
                    <a:close/>
                    <a:moveTo>
                      <a:pt x="8126" y="9191"/>
                    </a:moveTo>
                    <a:lnTo>
                      <a:pt x="8563" y="9818"/>
                    </a:lnTo>
                    <a:lnTo>
                      <a:pt x="8477" y="9876"/>
                    </a:lnTo>
                    <a:lnTo>
                      <a:pt x="8040" y="9249"/>
                    </a:lnTo>
                    <a:close/>
                    <a:moveTo>
                      <a:pt x="2699" y="1629"/>
                    </a:moveTo>
                    <a:lnTo>
                      <a:pt x="2262" y="1008"/>
                    </a:lnTo>
                    <a:lnTo>
                      <a:pt x="2348" y="950"/>
                    </a:lnTo>
                    <a:lnTo>
                      <a:pt x="2791" y="1572"/>
                    </a:lnTo>
                    <a:close/>
                    <a:moveTo>
                      <a:pt x="8448" y="8938"/>
                    </a:moveTo>
                    <a:lnTo>
                      <a:pt x="8938" y="9525"/>
                    </a:lnTo>
                    <a:lnTo>
                      <a:pt x="8863" y="9588"/>
                    </a:lnTo>
                    <a:lnTo>
                      <a:pt x="8374" y="9007"/>
                    </a:lnTo>
                    <a:close/>
                    <a:moveTo>
                      <a:pt x="2389" y="1877"/>
                    </a:moveTo>
                    <a:lnTo>
                      <a:pt x="1899" y="1295"/>
                    </a:lnTo>
                    <a:lnTo>
                      <a:pt x="1974" y="1226"/>
                    </a:lnTo>
                    <a:lnTo>
                      <a:pt x="2463" y="1813"/>
                    </a:lnTo>
                    <a:close/>
                    <a:moveTo>
                      <a:pt x="8748" y="8667"/>
                    </a:moveTo>
                    <a:lnTo>
                      <a:pt x="9283" y="9208"/>
                    </a:lnTo>
                    <a:lnTo>
                      <a:pt x="9214" y="9277"/>
                    </a:lnTo>
                    <a:lnTo>
                      <a:pt x="8673" y="8736"/>
                    </a:lnTo>
                    <a:close/>
                    <a:moveTo>
                      <a:pt x="2089" y="2159"/>
                    </a:moveTo>
                    <a:lnTo>
                      <a:pt x="1548" y="1618"/>
                    </a:lnTo>
                    <a:lnTo>
                      <a:pt x="1623" y="1543"/>
                    </a:lnTo>
                    <a:lnTo>
                      <a:pt x="2164" y="2084"/>
                    </a:lnTo>
                    <a:close/>
                    <a:moveTo>
                      <a:pt x="9012" y="8362"/>
                    </a:moveTo>
                    <a:lnTo>
                      <a:pt x="9594" y="8852"/>
                    </a:lnTo>
                    <a:lnTo>
                      <a:pt x="9530" y="8932"/>
                    </a:lnTo>
                    <a:lnTo>
                      <a:pt x="8949" y="8443"/>
                    </a:lnTo>
                    <a:close/>
                    <a:moveTo>
                      <a:pt x="1819" y="2458"/>
                    </a:moveTo>
                    <a:lnTo>
                      <a:pt x="1238" y="1969"/>
                    </a:lnTo>
                    <a:lnTo>
                      <a:pt x="1301" y="1888"/>
                    </a:lnTo>
                    <a:lnTo>
                      <a:pt x="1882" y="2377"/>
                    </a:lnTo>
                    <a:close/>
                    <a:moveTo>
                      <a:pt x="9254" y="8034"/>
                    </a:moveTo>
                    <a:lnTo>
                      <a:pt x="9881" y="8472"/>
                    </a:lnTo>
                    <a:lnTo>
                      <a:pt x="9824" y="8558"/>
                    </a:lnTo>
                    <a:lnTo>
                      <a:pt x="9197" y="8121"/>
                    </a:lnTo>
                    <a:close/>
                    <a:moveTo>
                      <a:pt x="1571" y="2780"/>
                    </a:moveTo>
                    <a:lnTo>
                      <a:pt x="950" y="2343"/>
                    </a:lnTo>
                    <a:lnTo>
                      <a:pt x="1007" y="2257"/>
                    </a:lnTo>
                    <a:lnTo>
                      <a:pt x="1629" y="2694"/>
                    </a:lnTo>
                    <a:close/>
                    <a:moveTo>
                      <a:pt x="9473" y="7695"/>
                    </a:moveTo>
                    <a:lnTo>
                      <a:pt x="10135" y="8075"/>
                    </a:lnTo>
                    <a:lnTo>
                      <a:pt x="10083" y="8161"/>
                    </a:lnTo>
                    <a:lnTo>
                      <a:pt x="9421" y="7781"/>
                    </a:lnTo>
                    <a:close/>
                    <a:moveTo>
                      <a:pt x="1358" y="3125"/>
                    </a:moveTo>
                    <a:lnTo>
                      <a:pt x="697" y="2746"/>
                    </a:lnTo>
                    <a:lnTo>
                      <a:pt x="748" y="2659"/>
                    </a:lnTo>
                    <a:lnTo>
                      <a:pt x="1410" y="3039"/>
                    </a:lnTo>
                    <a:close/>
                    <a:moveTo>
                      <a:pt x="9611" y="7424"/>
                    </a:moveTo>
                    <a:lnTo>
                      <a:pt x="9651" y="7327"/>
                    </a:lnTo>
                    <a:lnTo>
                      <a:pt x="10342" y="7655"/>
                    </a:lnTo>
                    <a:lnTo>
                      <a:pt x="10296" y="7747"/>
                    </a:lnTo>
                    <a:close/>
                    <a:moveTo>
                      <a:pt x="1220" y="3396"/>
                    </a:moveTo>
                    <a:lnTo>
                      <a:pt x="1180" y="3488"/>
                    </a:lnTo>
                    <a:lnTo>
                      <a:pt x="489" y="3166"/>
                    </a:lnTo>
                    <a:lnTo>
                      <a:pt x="530" y="3068"/>
                    </a:lnTo>
                    <a:close/>
                    <a:moveTo>
                      <a:pt x="9772" y="7050"/>
                    </a:moveTo>
                    <a:lnTo>
                      <a:pt x="9812" y="6947"/>
                    </a:lnTo>
                    <a:lnTo>
                      <a:pt x="10520" y="7206"/>
                    </a:lnTo>
                    <a:lnTo>
                      <a:pt x="10486" y="7309"/>
                    </a:lnTo>
                    <a:close/>
                    <a:moveTo>
                      <a:pt x="1065" y="3770"/>
                    </a:moveTo>
                    <a:lnTo>
                      <a:pt x="1025" y="3868"/>
                    </a:lnTo>
                    <a:lnTo>
                      <a:pt x="311" y="3609"/>
                    </a:lnTo>
                    <a:lnTo>
                      <a:pt x="351" y="3511"/>
                    </a:lnTo>
                    <a:close/>
                    <a:moveTo>
                      <a:pt x="9899" y="6665"/>
                    </a:moveTo>
                    <a:lnTo>
                      <a:pt x="9927" y="6567"/>
                    </a:lnTo>
                    <a:lnTo>
                      <a:pt x="10658" y="6763"/>
                    </a:lnTo>
                    <a:lnTo>
                      <a:pt x="10629" y="6860"/>
                    </a:lnTo>
                    <a:close/>
                    <a:moveTo>
                      <a:pt x="933" y="4156"/>
                    </a:moveTo>
                    <a:lnTo>
                      <a:pt x="904" y="4259"/>
                    </a:lnTo>
                    <a:lnTo>
                      <a:pt x="167" y="4064"/>
                    </a:lnTo>
                    <a:lnTo>
                      <a:pt x="202" y="3960"/>
                    </a:lnTo>
                    <a:close/>
                    <a:moveTo>
                      <a:pt x="9991" y="6273"/>
                    </a:moveTo>
                    <a:lnTo>
                      <a:pt x="10014" y="6170"/>
                    </a:lnTo>
                    <a:lnTo>
                      <a:pt x="10762" y="6302"/>
                    </a:lnTo>
                    <a:lnTo>
                      <a:pt x="10739" y="6400"/>
                    </a:lnTo>
                    <a:close/>
                    <a:moveTo>
                      <a:pt x="841" y="4553"/>
                    </a:moveTo>
                    <a:lnTo>
                      <a:pt x="818" y="4651"/>
                    </a:lnTo>
                    <a:lnTo>
                      <a:pt x="69" y="4524"/>
                    </a:lnTo>
                    <a:lnTo>
                      <a:pt x="92" y="4420"/>
                    </a:lnTo>
                    <a:close/>
                    <a:moveTo>
                      <a:pt x="10048" y="5871"/>
                    </a:moveTo>
                    <a:lnTo>
                      <a:pt x="10054" y="5767"/>
                    </a:lnTo>
                    <a:lnTo>
                      <a:pt x="10808" y="5830"/>
                    </a:lnTo>
                    <a:lnTo>
                      <a:pt x="10802" y="5934"/>
                    </a:lnTo>
                    <a:close/>
                    <a:moveTo>
                      <a:pt x="783" y="4956"/>
                    </a:moveTo>
                    <a:lnTo>
                      <a:pt x="777" y="5053"/>
                    </a:lnTo>
                    <a:lnTo>
                      <a:pt x="18" y="4990"/>
                    </a:lnTo>
                    <a:lnTo>
                      <a:pt x="29" y="4892"/>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5"/>
              <p:cNvSpPr/>
              <p:nvPr/>
            </p:nvSpPr>
            <p:spPr>
              <a:xfrm>
                <a:off x="5824825" y="2060089"/>
                <a:ext cx="585145" cy="538149"/>
              </a:xfrm>
              <a:custGeom>
                <a:rect b="b" l="l" r="r" t="t"/>
                <a:pathLst>
                  <a:path extrusionOk="0" h="8760" w="9525">
                    <a:moveTo>
                      <a:pt x="8765" y="0"/>
                    </a:moveTo>
                    <a:lnTo>
                      <a:pt x="754" y="0"/>
                    </a:lnTo>
                    <a:cubicBezTo>
                      <a:pt x="340" y="0"/>
                      <a:pt x="0" y="340"/>
                      <a:pt x="0" y="754"/>
                    </a:cubicBezTo>
                    <a:lnTo>
                      <a:pt x="0" y="6371"/>
                    </a:lnTo>
                    <a:cubicBezTo>
                      <a:pt x="0" y="6791"/>
                      <a:pt x="340" y="7131"/>
                      <a:pt x="754" y="7131"/>
                    </a:cubicBezTo>
                    <a:lnTo>
                      <a:pt x="4835" y="7131"/>
                    </a:lnTo>
                    <a:cubicBezTo>
                      <a:pt x="5301" y="7131"/>
                      <a:pt x="5755" y="7263"/>
                      <a:pt x="6147" y="7516"/>
                    </a:cubicBezTo>
                    <a:lnTo>
                      <a:pt x="7879" y="8661"/>
                    </a:lnTo>
                    <a:cubicBezTo>
                      <a:pt x="8028" y="8759"/>
                      <a:pt x="8224" y="8621"/>
                      <a:pt x="8190" y="8448"/>
                    </a:cubicBezTo>
                    <a:lnTo>
                      <a:pt x="7948" y="7372"/>
                    </a:lnTo>
                    <a:cubicBezTo>
                      <a:pt x="7919" y="7251"/>
                      <a:pt x="8017" y="7131"/>
                      <a:pt x="8144" y="7131"/>
                    </a:cubicBezTo>
                    <a:lnTo>
                      <a:pt x="8754" y="7131"/>
                    </a:lnTo>
                    <a:cubicBezTo>
                      <a:pt x="9174" y="7131"/>
                      <a:pt x="9513" y="6791"/>
                      <a:pt x="9513" y="6371"/>
                    </a:cubicBezTo>
                    <a:lnTo>
                      <a:pt x="9513" y="754"/>
                    </a:lnTo>
                    <a:cubicBezTo>
                      <a:pt x="9525" y="340"/>
                      <a:pt x="9185" y="0"/>
                      <a:pt x="876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5"/>
              <p:cNvSpPr/>
              <p:nvPr/>
            </p:nvSpPr>
            <p:spPr>
              <a:xfrm>
                <a:off x="5922074" y="2214900"/>
                <a:ext cx="204755" cy="22361"/>
              </a:xfrm>
              <a:custGeom>
                <a:rect b="b" l="l" r="r" t="t"/>
                <a:pathLst>
                  <a:path extrusionOk="0" h="364" w="3333">
                    <a:moveTo>
                      <a:pt x="0" y="1"/>
                    </a:moveTo>
                    <a:lnTo>
                      <a:pt x="3332" y="1"/>
                    </a:lnTo>
                    <a:lnTo>
                      <a:pt x="3332" y="364"/>
                    </a:lnTo>
                    <a:lnTo>
                      <a:pt x="0" y="364"/>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5"/>
              <p:cNvSpPr/>
              <p:nvPr/>
            </p:nvSpPr>
            <p:spPr>
              <a:xfrm>
                <a:off x="6144770" y="2214900"/>
                <a:ext cx="168018" cy="22361"/>
              </a:xfrm>
              <a:custGeom>
                <a:rect b="b" l="l" r="r" t="t"/>
                <a:pathLst>
                  <a:path extrusionOk="0" h="364" w="2735">
                    <a:moveTo>
                      <a:pt x="1" y="1"/>
                    </a:moveTo>
                    <a:lnTo>
                      <a:pt x="2734" y="1"/>
                    </a:lnTo>
                    <a:lnTo>
                      <a:pt x="2734" y="364"/>
                    </a:lnTo>
                    <a:lnTo>
                      <a:pt x="1" y="364"/>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5"/>
              <p:cNvSpPr/>
              <p:nvPr/>
            </p:nvSpPr>
            <p:spPr>
              <a:xfrm>
                <a:off x="5922074" y="2276455"/>
                <a:ext cx="132264" cy="22300"/>
              </a:xfrm>
              <a:custGeom>
                <a:rect b="b" l="l" r="r" t="t"/>
                <a:pathLst>
                  <a:path extrusionOk="0" h="363" w="2153">
                    <a:moveTo>
                      <a:pt x="0" y="0"/>
                    </a:moveTo>
                    <a:lnTo>
                      <a:pt x="2152" y="0"/>
                    </a:lnTo>
                    <a:lnTo>
                      <a:pt x="2152" y="363"/>
                    </a:lnTo>
                    <a:lnTo>
                      <a:pt x="0" y="363"/>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5"/>
              <p:cNvSpPr/>
              <p:nvPr/>
            </p:nvSpPr>
            <p:spPr>
              <a:xfrm>
                <a:off x="6066319" y="2276455"/>
                <a:ext cx="166175" cy="22300"/>
              </a:xfrm>
              <a:custGeom>
                <a:rect b="b" l="l" r="r" t="t"/>
                <a:pathLst>
                  <a:path extrusionOk="0" h="363" w="2705">
                    <a:moveTo>
                      <a:pt x="0" y="0"/>
                    </a:moveTo>
                    <a:lnTo>
                      <a:pt x="2705" y="0"/>
                    </a:lnTo>
                    <a:lnTo>
                      <a:pt x="2705" y="363"/>
                    </a:lnTo>
                    <a:lnTo>
                      <a:pt x="0" y="363"/>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5"/>
              <p:cNvSpPr/>
              <p:nvPr/>
            </p:nvSpPr>
            <p:spPr>
              <a:xfrm>
                <a:off x="6252954" y="2276455"/>
                <a:ext cx="59467" cy="22300"/>
              </a:xfrm>
              <a:custGeom>
                <a:rect b="b" l="l" r="r" t="t"/>
                <a:pathLst>
                  <a:path extrusionOk="0" h="363" w="968">
                    <a:moveTo>
                      <a:pt x="1" y="0"/>
                    </a:moveTo>
                    <a:lnTo>
                      <a:pt x="967" y="0"/>
                    </a:lnTo>
                    <a:lnTo>
                      <a:pt x="967" y="363"/>
                    </a:lnTo>
                    <a:lnTo>
                      <a:pt x="1" y="363"/>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5"/>
              <p:cNvSpPr/>
              <p:nvPr/>
            </p:nvSpPr>
            <p:spPr>
              <a:xfrm>
                <a:off x="5922074" y="2337950"/>
                <a:ext cx="101486" cy="22361"/>
              </a:xfrm>
              <a:custGeom>
                <a:rect b="b" l="l" r="r" t="t"/>
                <a:pathLst>
                  <a:path extrusionOk="0" h="364" w="1652">
                    <a:moveTo>
                      <a:pt x="0" y="1"/>
                    </a:moveTo>
                    <a:lnTo>
                      <a:pt x="1652" y="1"/>
                    </a:lnTo>
                    <a:lnTo>
                      <a:pt x="1652" y="363"/>
                    </a:lnTo>
                    <a:lnTo>
                      <a:pt x="0" y="363"/>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5"/>
              <p:cNvSpPr/>
              <p:nvPr/>
            </p:nvSpPr>
            <p:spPr>
              <a:xfrm>
                <a:off x="6032347" y="2337950"/>
                <a:ext cx="83118" cy="22361"/>
              </a:xfrm>
              <a:custGeom>
                <a:rect b="b" l="l" r="r" t="t"/>
                <a:pathLst>
                  <a:path extrusionOk="0" h="364" w="1353">
                    <a:moveTo>
                      <a:pt x="1" y="1"/>
                    </a:moveTo>
                    <a:lnTo>
                      <a:pt x="1353" y="1"/>
                    </a:lnTo>
                    <a:lnTo>
                      <a:pt x="1353" y="363"/>
                    </a:lnTo>
                    <a:lnTo>
                      <a:pt x="1" y="363"/>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5"/>
              <p:cNvSpPr/>
              <p:nvPr/>
            </p:nvSpPr>
            <p:spPr>
              <a:xfrm>
                <a:off x="7584704" y="2233329"/>
                <a:ext cx="925296" cy="2033231"/>
              </a:xfrm>
              <a:custGeom>
                <a:rect b="b" l="l" r="r" t="t"/>
                <a:pathLst>
                  <a:path extrusionOk="0" h="33097" w="15062">
                    <a:moveTo>
                      <a:pt x="14434" y="12"/>
                    </a:moveTo>
                    <a:cubicBezTo>
                      <a:pt x="14532" y="0"/>
                      <a:pt x="14618" y="12"/>
                      <a:pt x="14693" y="52"/>
                    </a:cubicBezTo>
                    <a:cubicBezTo>
                      <a:pt x="14774" y="87"/>
                      <a:pt x="14837" y="144"/>
                      <a:pt x="14894" y="213"/>
                    </a:cubicBezTo>
                    <a:cubicBezTo>
                      <a:pt x="14952" y="288"/>
                      <a:pt x="14998" y="380"/>
                      <a:pt x="15027" y="489"/>
                    </a:cubicBezTo>
                    <a:cubicBezTo>
                      <a:pt x="15056" y="587"/>
                      <a:pt x="15061" y="714"/>
                      <a:pt x="15056" y="835"/>
                    </a:cubicBezTo>
                    <a:lnTo>
                      <a:pt x="13145" y="32198"/>
                    </a:lnTo>
                    <a:cubicBezTo>
                      <a:pt x="13139" y="32342"/>
                      <a:pt x="13110" y="32469"/>
                      <a:pt x="13070" y="32584"/>
                    </a:cubicBezTo>
                    <a:cubicBezTo>
                      <a:pt x="13024" y="32699"/>
                      <a:pt x="12967" y="32803"/>
                      <a:pt x="12898" y="32883"/>
                    </a:cubicBezTo>
                    <a:cubicBezTo>
                      <a:pt x="12823" y="32958"/>
                      <a:pt x="12748" y="33016"/>
                      <a:pt x="12662" y="33056"/>
                    </a:cubicBezTo>
                    <a:cubicBezTo>
                      <a:pt x="12570" y="33090"/>
                      <a:pt x="12477" y="33096"/>
                      <a:pt x="12380" y="33085"/>
                    </a:cubicBezTo>
                    <a:lnTo>
                      <a:pt x="496" y="30771"/>
                    </a:lnTo>
                    <a:cubicBezTo>
                      <a:pt x="415" y="30760"/>
                      <a:pt x="341" y="30714"/>
                      <a:pt x="277" y="30656"/>
                    </a:cubicBezTo>
                    <a:cubicBezTo>
                      <a:pt x="214" y="30599"/>
                      <a:pt x="156" y="30524"/>
                      <a:pt x="110" y="30426"/>
                    </a:cubicBezTo>
                    <a:cubicBezTo>
                      <a:pt x="70" y="30334"/>
                      <a:pt x="36" y="30230"/>
                      <a:pt x="18" y="30121"/>
                    </a:cubicBezTo>
                    <a:cubicBezTo>
                      <a:pt x="1" y="30000"/>
                      <a:pt x="1" y="29879"/>
                      <a:pt x="7" y="29758"/>
                    </a:cubicBezTo>
                    <a:lnTo>
                      <a:pt x="2337" y="2250"/>
                    </a:lnTo>
                    <a:cubicBezTo>
                      <a:pt x="2343" y="2135"/>
                      <a:pt x="2372" y="2026"/>
                      <a:pt x="2407" y="1928"/>
                    </a:cubicBezTo>
                    <a:cubicBezTo>
                      <a:pt x="2447" y="1825"/>
                      <a:pt x="2493" y="1732"/>
                      <a:pt x="2550" y="1652"/>
                    </a:cubicBezTo>
                    <a:cubicBezTo>
                      <a:pt x="2608" y="1571"/>
                      <a:pt x="2677" y="1508"/>
                      <a:pt x="2746" y="1456"/>
                    </a:cubicBezTo>
                    <a:cubicBezTo>
                      <a:pt x="2821" y="1410"/>
                      <a:pt x="2890" y="1381"/>
                      <a:pt x="2970" y="1376"/>
                    </a:cubicBezTo>
                    <a:lnTo>
                      <a:pt x="5474" y="1076"/>
                    </a:lnTo>
                    <a:cubicBezTo>
                      <a:pt x="5531" y="1071"/>
                      <a:pt x="5589" y="1076"/>
                      <a:pt x="5635" y="1105"/>
                    </a:cubicBezTo>
                    <a:cubicBezTo>
                      <a:pt x="5687" y="1134"/>
                      <a:pt x="5733" y="1168"/>
                      <a:pt x="5767" y="1220"/>
                    </a:cubicBezTo>
                    <a:cubicBezTo>
                      <a:pt x="5802" y="1272"/>
                      <a:pt x="5831" y="1335"/>
                      <a:pt x="5848" y="1410"/>
                    </a:cubicBezTo>
                    <a:cubicBezTo>
                      <a:pt x="5859" y="1479"/>
                      <a:pt x="5865" y="1560"/>
                      <a:pt x="5859" y="1646"/>
                    </a:cubicBezTo>
                    <a:cubicBezTo>
                      <a:pt x="5854" y="1732"/>
                      <a:pt x="5859" y="1813"/>
                      <a:pt x="5877" y="1882"/>
                    </a:cubicBezTo>
                    <a:cubicBezTo>
                      <a:pt x="5888" y="1957"/>
                      <a:pt x="5917" y="2020"/>
                      <a:pt x="5951" y="2072"/>
                    </a:cubicBezTo>
                    <a:cubicBezTo>
                      <a:pt x="5992" y="2124"/>
                      <a:pt x="6032" y="2164"/>
                      <a:pt x="6084" y="2193"/>
                    </a:cubicBezTo>
                    <a:cubicBezTo>
                      <a:pt x="6136" y="2222"/>
                      <a:pt x="6193" y="2227"/>
                      <a:pt x="6251" y="2222"/>
                    </a:cubicBezTo>
                    <a:lnTo>
                      <a:pt x="10498" y="1761"/>
                    </a:lnTo>
                    <a:cubicBezTo>
                      <a:pt x="10567" y="1755"/>
                      <a:pt x="10630" y="1732"/>
                      <a:pt x="10688" y="1692"/>
                    </a:cubicBezTo>
                    <a:cubicBezTo>
                      <a:pt x="10745" y="1652"/>
                      <a:pt x="10803" y="1594"/>
                      <a:pt x="10843" y="1531"/>
                    </a:cubicBezTo>
                    <a:cubicBezTo>
                      <a:pt x="10895" y="1468"/>
                      <a:pt x="10929" y="1393"/>
                      <a:pt x="10958" y="1318"/>
                    </a:cubicBezTo>
                    <a:cubicBezTo>
                      <a:pt x="10987" y="1238"/>
                      <a:pt x="11010" y="1151"/>
                      <a:pt x="11016" y="1059"/>
                    </a:cubicBezTo>
                    <a:cubicBezTo>
                      <a:pt x="11027" y="961"/>
                      <a:pt x="11045" y="875"/>
                      <a:pt x="11073" y="800"/>
                    </a:cubicBezTo>
                    <a:cubicBezTo>
                      <a:pt x="11102" y="720"/>
                      <a:pt x="11148" y="639"/>
                      <a:pt x="11188" y="581"/>
                    </a:cubicBezTo>
                    <a:cubicBezTo>
                      <a:pt x="11240" y="518"/>
                      <a:pt x="11292" y="466"/>
                      <a:pt x="11355" y="426"/>
                    </a:cubicBezTo>
                    <a:cubicBezTo>
                      <a:pt x="11413" y="380"/>
                      <a:pt x="11476" y="357"/>
                      <a:pt x="11551" y="35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5"/>
              <p:cNvSpPr/>
              <p:nvPr/>
            </p:nvSpPr>
            <p:spPr>
              <a:xfrm>
                <a:off x="8377377" y="2203596"/>
                <a:ext cx="244010" cy="2112787"/>
              </a:xfrm>
              <a:custGeom>
                <a:rect b="b" l="l" r="r" t="t"/>
                <a:pathLst>
                  <a:path extrusionOk="0" h="34392" w="3972">
                    <a:moveTo>
                      <a:pt x="3960" y="1457"/>
                    </a:moveTo>
                    <a:cubicBezTo>
                      <a:pt x="3919" y="835"/>
                      <a:pt x="2935" y="202"/>
                      <a:pt x="2389" y="1"/>
                    </a:cubicBezTo>
                    <a:cubicBezTo>
                      <a:pt x="2786" y="634"/>
                      <a:pt x="2757" y="1434"/>
                      <a:pt x="2711" y="2176"/>
                    </a:cubicBezTo>
                    <a:cubicBezTo>
                      <a:pt x="2020" y="12178"/>
                      <a:pt x="1571" y="22191"/>
                      <a:pt x="915" y="32199"/>
                    </a:cubicBezTo>
                    <a:cubicBezTo>
                      <a:pt x="864" y="33028"/>
                      <a:pt x="725" y="34000"/>
                      <a:pt x="0" y="34392"/>
                    </a:cubicBezTo>
                    <a:cubicBezTo>
                      <a:pt x="553" y="34271"/>
                      <a:pt x="1784" y="33805"/>
                      <a:pt x="2003" y="33269"/>
                    </a:cubicBezTo>
                    <a:cubicBezTo>
                      <a:pt x="2210" y="32746"/>
                      <a:pt x="2245" y="32170"/>
                      <a:pt x="2273" y="31601"/>
                    </a:cubicBezTo>
                    <a:lnTo>
                      <a:pt x="3971" y="1842"/>
                    </a:lnTo>
                    <a:cubicBezTo>
                      <a:pt x="3965" y="1848"/>
                      <a:pt x="3965" y="1589"/>
                      <a:pt x="3960" y="1457"/>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5"/>
              <p:cNvSpPr/>
              <p:nvPr/>
            </p:nvSpPr>
            <p:spPr>
              <a:xfrm>
                <a:off x="7552206" y="2184183"/>
                <a:ext cx="995268" cy="2138220"/>
              </a:xfrm>
              <a:custGeom>
                <a:rect b="b" l="l" r="r" t="t"/>
                <a:pathLst>
                  <a:path extrusionOk="0" h="34806" w="16201">
                    <a:moveTo>
                      <a:pt x="15015" y="23"/>
                    </a:moveTo>
                    <a:cubicBezTo>
                      <a:pt x="15188" y="0"/>
                      <a:pt x="15354" y="29"/>
                      <a:pt x="15504" y="92"/>
                    </a:cubicBezTo>
                    <a:cubicBezTo>
                      <a:pt x="15654" y="156"/>
                      <a:pt x="15786" y="265"/>
                      <a:pt x="15884" y="403"/>
                    </a:cubicBezTo>
                    <a:cubicBezTo>
                      <a:pt x="15993" y="541"/>
                      <a:pt x="16074" y="714"/>
                      <a:pt x="16131" y="910"/>
                    </a:cubicBezTo>
                    <a:cubicBezTo>
                      <a:pt x="16183" y="1099"/>
                      <a:pt x="16200" y="1324"/>
                      <a:pt x="16189" y="1560"/>
                    </a:cubicBezTo>
                    <a:lnTo>
                      <a:pt x="14301" y="33114"/>
                    </a:lnTo>
                    <a:cubicBezTo>
                      <a:pt x="14290" y="33378"/>
                      <a:pt x="14232" y="33626"/>
                      <a:pt x="14146" y="33839"/>
                    </a:cubicBezTo>
                    <a:cubicBezTo>
                      <a:pt x="14060" y="34057"/>
                      <a:pt x="13950" y="34242"/>
                      <a:pt x="13812" y="34391"/>
                    </a:cubicBezTo>
                    <a:cubicBezTo>
                      <a:pt x="13686" y="34547"/>
                      <a:pt x="13524" y="34650"/>
                      <a:pt x="13363" y="34719"/>
                    </a:cubicBezTo>
                    <a:cubicBezTo>
                      <a:pt x="13196" y="34782"/>
                      <a:pt x="13018" y="34805"/>
                      <a:pt x="12834" y="34759"/>
                    </a:cubicBezTo>
                    <a:lnTo>
                      <a:pt x="939" y="32360"/>
                    </a:lnTo>
                    <a:cubicBezTo>
                      <a:pt x="789" y="32331"/>
                      <a:pt x="651" y="32250"/>
                      <a:pt x="536" y="32141"/>
                    </a:cubicBezTo>
                    <a:cubicBezTo>
                      <a:pt x="415" y="32026"/>
                      <a:pt x="311" y="31882"/>
                      <a:pt x="225" y="31709"/>
                    </a:cubicBezTo>
                    <a:cubicBezTo>
                      <a:pt x="144" y="31537"/>
                      <a:pt x="81" y="31341"/>
                      <a:pt x="47" y="31128"/>
                    </a:cubicBezTo>
                    <a:cubicBezTo>
                      <a:pt x="12" y="30909"/>
                      <a:pt x="1" y="30691"/>
                      <a:pt x="24" y="30449"/>
                    </a:cubicBezTo>
                    <a:lnTo>
                      <a:pt x="2372" y="3085"/>
                    </a:lnTo>
                    <a:cubicBezTo>
                      <a:pt x="2389" y="2878"/>
                      <a:pt x="2435" y="2676"/>
                      <a:pt x="2498" y="2481"/>
                    </a:cubicBezTo>
                    <a:cubicBezTo>
                      <a:pt x="2561" y="2296"/>
                      <a:pt x="2659" y="2124"/>
                      <a:pt x="2763" y="1974"/>
                    </a:cubicBezTo>
                    <a:cubicBezTo>
                      <a:pt x="2872" y="1819"/>
                      <a:pt x="2987" y="1698"/>
                      <a:pt x="3125" y="1606"/>
                    </a:cubicBezTo>
                    <a:cubicBezTo>
                      <a:pt x="3252" y="1514"/>
                      <a:pt x="3396" y="1456"/>
                      <a:pt x="3540" y="1433"/>
                    </a:cubicBezTo>
                    <a:close/>
                    <a:moveTo>
                      <a:pt x="13680" y="33004"/>
                    </a:moveTo>
                    <a:lnTo>
                      <a:pt x="15585" y="1640"/>
                    </a:lnTo>
                    <a:cubicBezTo>
                      <a:pt x="15590" y="1520"/>
                      <a:pt x="15585" y="1399"/>
                      <a:pt x="15556" y="1295"/>
                    </a:cubicBezTo>
                    <a:cubicBezTo>
                      <a:pt x="15527" y="1197"/>
                      <a:pt x="15481" y="1099"/>
                      <a:pt x="15423" y="1025"/>
                    </a:cubicBezTo>
                    <a:cubicBezTo>
                      <a:pt x="15366" y="950"/>
                      <a:pt x="15303" y="892"/>
                      <a:pt x="15222" y="858"/>
                    </a:cubicBezTo>
                    <a:cubicBezTo>
                      <a:pt x="15147" y="823"/>
                      <a:pt x="15061" y="806"/>
                      <a:pt x="14963" y="823"/>
                    </a:cubicBezTo>
                    <a:lnTo>
                      <a:pt x="12057" y="1169"/>
                    </a:lnTo>
                    <a:cubicBezTo>
                      <a:pt x="11994" y="1174"/>
                      <a:pt x="11930" y="1203"/>
                      <a:pt x="11867" y="1238"/>
                    </a:cubicBezTo>
                    <a:cubicBezTo>
                      <a:pt x="11809" y="1284"/>
                      <a:pt x="11752" y="1330"/>
                      <a:pt x="11700" y="1399"/>
                    </a:cubicBezTo>
                    <a:cubicBezTo>
                      <a:pt x="11648" y="1462"/>
                      <a:pt x="11614" y="1531"/>
                      <a:pt x="11585" y="1612"/>
                    </a:cubicBezTo>
                    <a:cubicBezTo>
                      <a:pt x="11556" y="1692"/>
                      <a:pt x="11533" y="1779"/>
                      <a:pt x="11527" y="1871"/>
                    </a:cubicBezTo>
                    <a:cubicBezTo>
                      <a:pt x="11522" y="1963"/>
                      <a:pt x="11499" y="2049"/>
                      <a:pt x="11470" y="2130"/>
                    </a:cubicBezTo>
                    <a:cubicBezTo>
                      <a:pt x="11441" y="2210"/>
                      <a:pt x="11395" y="2291"/>
                      <a:pt x="11355" y="2348"/>
                    </a:cubicBezTo>
                    <a:cubicBezTo>
                      <a:pt x="11303" y="2412"/>
                      <a:pt x="11251" y="2463"/>
                      <a:pt x="11194" y="2504"/>
                    </a:cubicBezTo>
                    <a:cubicBezTo>
                      <a:pt x="11136" y="2538"/>
                      <a:pt x="11073" y="2567"/>
                      <a:pt x="11010" y="2578"/>
                    </a:cubicBezTo>
                    <a:lnTo>
                      <a:pt x="6757" y="3039"/>
                    </a:lnTo>
                    <a:cubicBezTo>
                      <a:pt x="6699" y="3045"/>
                      <a:pt x="6642" y="3027"/>
                      <a:pt x="6590" y="3010"/>
                    </a:cubicBezTo>
                    <a:cubicBezTo>
                      <a:pt x="6544" y="2981"/>
                      <a:pt x="6498" y="2941"/>
                      <a:pt x="6463" y="2883"/>
                    </a:cubicBezTo>
                    <a:cubicBezTo>
                      <a:pt x="6429" y="2837"/>
                      <a:pt x="6400" y="2768"/>
                      <a:pt x="6383" y="2699"/>
                    </a:cubicBezTo>
                    <a:cubicBezTo>
                      <a:pt x="6371" y="2625"/>
                      <a:pt x="6360" y="2550"/>
                      <a:pt x="6371" y="2463"/>
                    </a:cubicBezTo>
                    <a:cubicBezTo>
                      <a:pt x="6377" y="2377"/>
                      <a:pt x="6371" y="2296"/>
                      <a:pt x="6354" y="2222"/>
                    </a:cubicBezTo>
                    <a:cubicBezTo>
                      <a:pt x="6342" y="2153"/>
                      <a:pt x="6314" y="2089"/>
                      <a:pt x="6273" y="2038"/>
                    </a:cubicBezTo>
                    <a:cubicBezTo>
                      <a:pt x="6239" y="1986"/>
                      <a:pt x="6199" y="1945"/>
                      <a:pt x="6147" y="1922"/>
                    </a:cubicBezTo>
                    <a:cubicBezTo>
                      <a:pt x="6095" y="1894"/>
                      <a:pt x="6037" y="1888"/>
                      <a:pt x="5980" y="1894"/>
                    </a:cubicBezTo>
                    <a:lnTo>
                      <a:pt x="3476" y="2187"/>
                    </a:lnTo>
                    <a:cubicBezTo>
                      <a:pt x="3396" y="2193"/>
                      <a:pt x="3327" y="2233"/>
                      <a:pt x="3252" y="2273"/>
                    </a:cubicBezTo>
                    <a:cubicBezTo>
                      <a:pt x="3183" y="2325"/>
                      <a:pt x="3120" y="2389"/>
                      <a:pt x="3062" y="2469"/>
                    </a:cubicBezTo>
                    <a:cubicBezTo>
                      <a:pt x="3005" y="2550"/>
                      <a:pt x="2953" y="2642"/>
                      <a:pt x="2918" y="2740"/>
                    </a:cubicBezTo>
                    <a:cubicBezTo>
                      <a:pt x="2878" y="2843"/>
                      <a:pt x="2849" y="2953"/>
                      <a:pt x="2843" y="3068"/>
                    </a:cubicBezTo>
                    <a:lnTo>
                      <a:pt x="513" y="30576"/>
                    </a:lnTo>
                    <a:cubicBezTo>
                      <a:pt x="501" y="30697"/>
                      <a:pt x="507" y="30817"/>
                      <a:pt x="530" y="30932"/>
                    </a:cubicBezTo>
                    <a:cubicBezTo>
                      <a:pt x="547" y="31048"/>
                      <a:pt x="576" y="31157"/>
                      <a:pt x="622" y="31243"/>
                    </a:cubicBezTo>
                    <a:cubicBezTo>
                      <a:pt x="662" y="31335"/>
                      <a:pt x="720" y="31416"/>
                      <a:pt x="789" y="31473"/>
                    </a:cubicBezTo>
                    <a:cubicBezTo>
                      <a:pt x="852" y="31531"/>
                      <a:pt x="921" y="31571"/>
                      <a:pt x="1002" y="31589"/>
                    </a:cubicBezTo>
                    <a:lnTo>
                      <a:pt x="12886" y="33896"/>
                    </a:lnTo>
                    <a:cubicBezTo>
                      <a:pt x="12989" y="33919"/>
                      <a:pt x="13081" y="33902"/>
                      <a:pt x="13168" y="33867"/>
                    </a:cubicBezTo>
                    <a:cubicBezTo>
                      <a:pt x="13254" y="33833"/>
                      <a:pt x="13340" y="33775"/>
                      <a:pt x="13404" y="33695"/>
                    </a:cubicBezTo>
                    <a:cubicBezTo>
                      <a:pt x="13478" y="33614"/>
                      <a:pt x="13536" y="33516"/>
                      <a:pt x="13576" y="33401"/>
                    </a:cubicBezTo>
                    <a:cubicBezTo>
                      <a:pt x="13639" y="33269"/>
                      <a:pt x="13668" y="33142"/>
                      <a:pt x="13680" y="33004"/>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5"/>
              <p:cNvSpPr/>
              <p:nvPr/>
            </p:nvSpPr>
            <p:spPr>
              <a:xfrm>
                <a:off x="6129596" y="4090813"/>
                <a:ext cx="151677" cy="81705"/>
              </a:xfrm>
              <a:custGeom>
                <a:rect b="b" l="l" r="r" t="t"/>
                <a:pathLst>
                  <a:path extrusionOk="0" h="1330" w="2469">
                    <a:moveTo>
                      <a:pt x="391" y="0"/>
                    </a:moveTo>
                    <a:cubicBezTo>
                      <a:pt x="391" y="0"/>
                      <a:pt x="0" y="593"/>
                      <a:pt x="23" y="863"/>
                    </a:cubicBezTo>
                    <a:lnTo>
                      <a:pt x="1025" y="1329"/>
                    </a:lnTo>
                    <a:lnTo>
                      <a:pt x="2250" y="1329"/>
                    </a:lnTo>
                    <a:cubicBezTo>
                      <a:pt x="2250" y="1329"/>
                      <a:pt x="2469" y="961"/>
                      <a:pt x="1767" y="950"/>
                    </a:cubicBezTo>
                    <a:cubicBezTo>
                      <a:pt x="1059" y="932"/>
                      <a:pt x="990" y="271"/>
                      <a:pt x="990" y="27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5"/>
              <p:cNvSpPr/>
              <p:nvPr/>
            </p:nvSpPr>
            <p:spPr>
              <a:xfrm>
                <a:off x="6297861" y="3169136"/>
                <a:ext cx="288548" cy="246467"/>
              </a:xfrm>
              <a:custGeom>
                <a:rect b="b" l="l" r="r" t="t"/>
                <a:pathLst>
                  <a:path extrusionOk="0" h="4012" w="4697">
                    <a:moveTo>
                      <a:pt x="1220" y="714"/>
                    </a:moveTo>
                    <a:cubicBezTo>
                      <a:pt x="1675" y="1376"/>
                      <a:pt x="2320" y="2527"/>
                      <a:pt x="2320" y="2527"/>
                    </a:cubicBezTo>
                    <a:cubicBezTo>
                      <a:pt x="2320" y="2527"/>
                      <a:pt x="3655" y="1226"/>
                      <a:pt x="3712" y="835"/>
                    </a:cubicBezTo>
                    <a:cubicBezTo>
                      <a:pt x="3741" y="679"/>
                      <a:pt x="3741" y="415"/>
                      <a:pt x="3954" y="184"/>
                    </a:cubicBezTo>
                    <a:cubicBezTo>
                      <a:pt x="4058" y="75"/>
                      <a:pt x="4604" y="0"/>
                      <a:pt x="4495" y="138"/>
                    </a:cubicBezTo>
                    <a:cubicBezTo>
                      <a:pt x="4345" y="334"/>
                      <a:pt x="4248" y="547"/>
                      <a:pt x="4201" y="817"/>
                    </a:cubicBezTo>
                    <a:cubicBezTo>
                      <a:pt x="4322" y="771"/>
                      <a:pt x="4524" y="628"/>
                      <a:pt x="4576" y="651"/>
                    </a:cubicBezTo>
                    <a:cubicBezTo>
                      <a:pt x="4696" y="708"/>
                      <a:pt x="4449" y="1053"/>
                      <a:pt x="4173" y="1163"/>
                    </a:cubicBezTo>
                    <a:cubicBezTo>
                      <a:pt x="4069" y="1197"/>
                      <a:pt x="2705" y="3447"/>
                      <a:pt x="2320" y="3712"/>
                    </a:cubicBezTo>
                    <a:cubicBezTo>
                      <a:pt x="1888" y="4011"/>
                      <a:pt x="144" y="1134"/>
                      <a:pt x="144" y="1134"/>
                    </a:cubicBezTo>
                    <a:cubicBezTo>
                      <a:pt x="0" y="817"/>
                      <a:pt x="1077" y="392"/>
                      <a:pt x="1220" y="714"/>
                    </a:cubicBezTo>
                    <a:close/>
                  </a:path>
                </a:pathLst>
              </a:custGeom>
              <a:solidFill>
                <a:srgbClr val="6E3E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5"/>
              <p:cNvSpPr/>
              <p:nvPr/>
            </p:nvSpPr>
            <p:spPr>
              <a:xfrm>
                <a:off x="6297861" y="3193156"/>
                <a:ext cx="142523" cy="222816"/>
              </a:xfrm>
              <a:custGeom>
                <a:rect b="b" l="l" r="r" t="t"/>
                <a:pathLst>
                  <a:path extrusionOk="0" h="3627" w="2320">
                    <a:moveTo>
                      <a:pt x="1220" y="323"/>
                    </a:moveTo>
                    <a:cubicBezTo>
                      <a:pt x="1364" y="530"/>
                      <a:pt x="1525" y="783"/>
                      <a:pt x="1681" y="1042"/>
                    </a:cubicBezTo>
                    <a:cubicBezTo>
                      <a:pt x="1710" y="1267"/>
                      <a:pt x="1853" y="1497"/>
                      <a:pt x="1940" y="1704"/>
                    </a:cubicBezTo>
                    <a:cubicBezTo>
                      <a:pt x="2118" y="2136"/>
                      <a:pt x="1940" y="2475"/>
                      <a:pt x="2320" y="3333"/>
                    </a:cubicBezTo>
                    <a:cubicBezTo>
                      <a:pt x="1888" y="3626"/>
                      <a:pt x="144" y="749"/>
                      <a:pt x="144" y="749"/>
                    </a:cubicBezTo>
                    <a:cubicBezTo>
                      <a:pt x="0" y="426"/>
                      <a:pt x="1077" y="1"/>
                      <a:pt x="1220" y="323"/>
                    </a:cubicBezTo>
                    <a:close/>
                  </a:path>
                </a:pathLst>
              </a:custGeom>
              <a:solidFill>
                <a:srgbClr val="0C343D">
                  <a:alpha val="3294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5"/>
              <p:cNvSpPr/>
              <p:nvPr/>
            </p:nvSpPr>
            <p:spPr>
              <a:xfrm>
                <a:off x="6272428" y="3189839"/>
                <a:ext cx="160216" cy="163165"/>
              </a:xfrm>
              <a:custGeom>
                <a:rect b="b" l="l" r="r" t="t"/>
                <a:pathLst>
                  <a:path extrusionOk="0" h="2656" w="2608">
                    <a:moveTo>
                      <a:pt x="966" y="0"/>
                    </a:moveTo>
                    <a:cubicBezTo>
                      <a:pt x="615" y="0"/>
                      <a:pt x="379" y="266"/>
                      <a:pt x="259" y="515"/>
                    </a:cubicBezTo>
                    <a:cubicBezTo>
                      <a:pt x="0" y="1067"/>
                      <a:pt x="328" y="1499"/>
                      <a:pt x="1209" y="2656"/>
                    </a:cubicBezTo>
                    <a:lnTo>
                      <a:pt x="2607" y="1793"/>
                    </a:lnTo>
                    <a:cubicBezTo>
                      <a:pt x="2607" y="1793"/>
                      <a:pt x="1796" y="291"/>
                      <a:pt x="1306" y="78"/>
                    </a:cubicBezTo>
                    <a:cubicBezTo>
                      <a:pt x="1183" y="24"/>
                      <a:pt x="1069" y="0"/>
                      <a:pt x="966" y="0"/>
                    </a:cubicBezTo>
                    <a:close/>
                  </a:path>
                </a:pathLst>
              </a:custGeom>
              <a:solidFill>
                <a:srgbClr val="6FB2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5"/>
              <p:cNvSpPr/>
              <p:nvPr/>
            </p:nvSpPr>
            <p:spPr>
              <a:xfrm>
                <a:off x="6272428" y="3180071"/>
                <a:ext cx="160216" cy="172932"/>
              </a:xfrm>
              <a:custGeom>
                <a:rect b="b" l="l" r="r" t="t"/>
                <a:pathLst>
                  <a:path extrusionOk="0" h="2815" w="2608">
                    <a:moveTo>
                      <a:pt x="259" y="674"/>
                    </a:moveTo>
                    <a:cubicBezTo>
                      <a:pt x="0" y="1226"/>
                      <a:pt x="328" y="1658"/>
                      <a:pt x="1209" y="2815"/>
                    </a:cubicBezTo>
                    <a:lnTo>
                      <a:pt x="2607" y="1952"/>
                    </a:lnTo>
                    <a:cubicBezTo>
                      <a:pt x="2607" y="1952"/>
                      <a:pt x="1796" y="450"/>
                      <a:pt x="1306" y="237"/>
                    </a:cubicBezTo>
                    <a:cubicBezTo>
                      <a:pt x="765" y="1"/>
                      <a:pt x="414" y="352"/>
                      <a:pt x="259" y="674"/>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5"/>
              <p:cNvSpPr/>
              <p:nvPr/>
            </p:nvSpPr>
            <p:spPr>
              <a:xfrm>
                <a:off x="6276974" y="3092775"/>
                <a:ext cx="83180" cy="102224"/>
              </a:xfrm>
              <a:custGeom>
                <a:rect b="b" l="l" r="r" t="t"/>
                <a:pathLst>
                  <a:path extrusionOk="0" h="1664" w="1354">
                    <a:moveTo>
                      <a:pt x="1" y="1554"/>
                    </a:moveTo>
                    <a:lnTo>
                      <a:pt x="1186" y="1663"/>
                    </a:lnTo>
                    <a:lnTo>
                      <a:pt x="1353" y="110"/>
                    </a:lnTo>
                    <a:lnTo>
                      <a:pt x="168" y="0"/>
                    </a:lnTo>
                    <a:close/>
                  </a:path>
                </a:pathLst>
              </a:custGeom>
              <a:solidFill>
                <a:srgbClr val="6E3E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5"/>
              <p:cNvSpPr/>
              <p:nvPr/>
            </p:nvSpPr>
            <p:spPr>
              <a:xfrm>
                <a:off x="6287971" y="3093082"/>
                <a:ext cx="71815" cy="84961"/>
              </a:xfrm>
              <a:custGeom>
                <a:rect b="b" l="l" r="r" t="t"/>
                <a:pathLst>
                  <a:path extrusionOk="0" h="1383" w="1169">
                    <a:moveTo>
                      <a:pt x="150" y="461"/>
                    </a:moveTo>
                    <a:cubicBezTo>
                      <a:pt x="92" y="346"/>
                      <a:pt x="35" y="231"/>
                      <a:pt x="0" y="1"/>
                    </a:cubicBezTo>
                    <a:lnTo>
                      <a:pt x="1169" y="105"/>
                    </a:lnTo>
                    <a:lnTo>
                      <a:pt x="1030" y="1382"/>
                    </a:lnTo>
                    <a:cubicBezTo>
                      <a:pt x="921" y="1290"/>
                      <a:pt x="392" y="939"/>
                      <a:pt x="150" y="461"/>
                    </a:cubicBezTo>
                    <a:close/>
                  </a:path>
                </a:pathLst>
              </a:custGeom>
              <a:solidFill>
                <a:srgbClr val="0C343D">
                  <a:alpha val="3294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5"/>
              <p:cNvSpPr/>
              <p:nvPr/>
            </p:nvSpPr>
            <p:spPr>
              <a:xfrm>
                <a:off x="6261063" y="2990612"/>
                <a:ext cx="180059" cy="174345"/>
              </a:xfrm>
              <a:custGeom>
                <a:rect b="b" l="l" r="r" t="t"/>
                <a:pathLst>
                  <a:path extrusionOk="0" h="2838" w="2931">
                    <a:moveTo>
                      <a:pt x="369" y="1117"/>
                    </a:moveTo>
                    <a:lnTo>
                      <a:pt x="243" y="478"/>
                    </a:lnTo>
                    <a:lnTo>
                      <a:pt x="1612" y="0"/>
                    </a:lnTo>
                    <a:cubicBezTo>
                      <a:pt x="2027" y="368"/>
                      <a:pt x="2930" y="1611"/>
                      <a:pt x="2274" y="2239"/>
                    </a:cubicBezTo>
                    <a:cubicBezTo>
                      <a:pt x="1641" y="2837"/>
                      <a:pt x="611" y="2383"/>
                      <a:pt x="502" y="1813"/>
                    </a:cubicBezTo>
                    <a:lnTo>
                      <a:pt x="490" y="1755"/>
                    </a:lnTo>
                    <a:cubicBezTo>
                      <a:pt x="444" y="1773"/>
                      <a:pt x="398" y="1778"/>
                      <a:pt x="346" y="1773"/>
                    </a:cubicBezTo>
                    <a:cubicBezTo>
                      <a:pt x="151" y="1755"/>
                      <a:pt x="1" y="1600"/>
                      <a:pt x="12" y="1422"/>
                    </a:cubicBezTo>
                    <a:cubicBezTo>
                      <a:pt x="30" y="1255"/>
                      <a:pt x="185" y="1122"/>
                      <a:pt x="369" y="1117"/>
                    </a:cubicBezTo>
                    <a:close/>
                  </a:path>
                </a:pathLst>
              </a:custGeom>
              <a:solidFill>
                <a:srgbClr val="6E3E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5"/>
              <p:cNvSpPr/>
              <p:nvPr/>
            </p:nvSpPr>
            <p:spPr>
              <a:xfrm>
                <a:off x="6244107" y="3489078"/>
                <a:ext cx="200516" cy="614878"/>
              </a:xfrm>
              <a:custGeom>
                <a:rect b="b" l="l" r="r" t="t"/>
                <a:pathLst>
                  <a:path extrusionOk="0" h="10009" w="3264">
                    <a:moveTo>
                      <a:pt x="2447" y="271"/>
                    </a:moveTo>
                    <a:lnTo>
                      <a:pt x="3160" y="4455"/>
                    </a:lnTo>
                    <a:lnTo>
                      <a:pt x="3264" y="10008"/>
                    </a:lnTo>
                    <a:lnTo>
                      <a:pt x="2234" y="9927"/>
                    </a:lnTo>
                    <a:lnTo>
                      <a:pt x="1411" y="5398"/>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5"/>
              <p:cNvSpPr/>
              <p:nvPr/>
            </p:nvSpPr>
            <p:spPr>
              <a:xfrm>
                <a:off x="6244107" y="3489078"/>
                <a:ext cx="154564" cy="611315"/>
              </a:xfrm>
              <a:custGeom>
                <a:rect b="b" l="l" r="r" t="t"/>
                <a:pathLst>
                  <a:path extrusionOk="0" h="9951" w="2516">
                    <a:moveTo>
                      <a:pt x="1439" y="196"/>
                    </a:moveTo>
                    <a:lnTo>
                      <a:pt x="2372" y="4397"/>
                    </a:lnTo>
                    <a:lnTo>
                      <a:pt x="2516" y="9950"/>
                    </a:lnTo>
                    <a:lnTo>
                      <a:pt x="2234" y="9927"/>
                    </a:lnTo>
                    <a:lnTo>
                      <a:pt x="1411" y="5398"/>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5"/>
              <p:cNvSpPr/>
              <p:nvPr/>
            </p:nvSpPr>
            <p:spPr>
              <a:xfrm>
                <a:off x="6139855" y="3523726"/>
                <a:ext cx="208625" cy="597185"/>
              </a:xfrm>
              <a:custGeom>
                <a:rect b="b" l="l" r="r" t="t"/>
                <a:pathLst>
                  <a:path extrusionOk="0" h="9721" w="3396">
                    <a:moveTo>
                      <a:pt x="3395" y="0"/>
                    </a:moveTo>
                    <a:lnTo>
                      <a:pt x="3309" y="4518"/>
                    </a:lnTo>
                    <a:lnTo>
                      <a:pt x="1065" y="9720"/>
                    </a:lnTo>
                    <a:lnTo>
                      <a:pt x="0" y="9289"/>
                    </a:lnTo>
                    <a:lnTo>
                      <a:pt x="1439" y="4052"/>
                    </a:lnTo>
                    <a:lnTo>
                      <a:pt x="1024" y="156"/>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5"/>
              <p:cNvSpPr/>
              <p:nvPr/>
            </p:nvSpPr>
            <p:spPr>
              <a:xfrm>
                <a:off x="6206264" y="2933664"/>
                <a:ext cx="186386" cy="142155"/>
              </a:xfrm>
              <a:custGeom>
                <a:rect b="b" l="l" r="r" t="t"/>
                <a:pathLst>
                  <a:path extrusionOk="0" h="2314" w="3034">
                    <a:moveTo>
                      <a:pt x="1549" y="1692"/>
                    </a:moveTo>
                    <a:cubicBezTo>
                      <a:pt x="1612" y="1762"/>
                      <a:pt x="1814" y="1957"/>
                      <a:pt x="1699" y="2285"/>
                    </a:cubicBezTo>
                    <a:lnTo>
                      <a:pt x="1532" y="2314"/>
                    </a:lnTo>
                    <a:cubicBezTo>
                      <a:pt x="1532" y="2314"/>
                      <a:pt x="1227" y="1934"/>
                      <a:pt x="927" y="2251"/>
                    </a:cubicBezTo>
                    <a:cubicBezTo>
                      <a:pt x="312" y="2314"/>
                      <a:pt x="1" y="1238"/>
                      <a:pt x="553" y="1059"/>
                    </a:cubicBezTo>
                    <a:cubicBezTo>
                      <a:pt x="645" y="294"/>
                      <a:pt x="1417" y="1"/>
                      <a:pt x="2165" y="81"/>
                    </a:cubicBezTo>
                    <a:cubicBezTo>
                      <a:pt x="2924" y="156"/>
                      <a:pt x="3034" y="1123"/>
                      <a:pt x="2677" y="1146"/>
                    </a:cubicBezTo>
                    <a:cubicBezTo>
                      <a:pt x="1497" y="1238"/>
                      <a:pt x="1382" y="1318"/>
                      <a:pt x="1549" y="1692"/>
                    </a:cubicBezTo>
                    <a:close/>
                  </a:path>
                </a:pathLst>
              </a:custGeom>
              <a:solidFill>
                <a:srgbClr val="1919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5"/>
              <p:cNvSpPr/>
              <p:nvPr/>
            </p:nvSpPr>
            <p:spPr>
              <a:xfrm>
                <a:off x="6181568" y="3159921"/>
                <a:ext cx="258447" cy="444464"/>
              </a:xfrm>
              <a:custGeom>
                <a:rect b="b" l="l" r="r" t="t"/>
                <a:pathLst>
                  <a:path extrusionOk="0" h="7235" w="4207">
                    <a:moveTo>
                      <a:pt x="213" y="6987"/>
                    </a:moveTo>
                    <a:cubicBezTo>
                      <a:pt x="673" y="7234"/>
                      <a:pt x="4207" y="6653"/>
                      <a:pt x="4207" y="6653"/>
                    </a:cubicBezTo>
                    <a:cubicBezTo>
                      <a:pt x="4207" y="6653"/>
                      <a:pt x="4000" y="1675"/>
                      <a:pt x="2768" y="288"/>
                    </a:cubicBezTo>
                    <a:cubicBezTo>
                      <a:pt x="2354" y="559"/>
                      <a:pt x="2026" y="283"/>
                      <a:pt x="1611" y="1"/>
                    </a:cubicBezTo>
                    <a:cubicBezTo>
                      <a:pt x="783" y="340"/>
                      <a:pt x="345" y="1048"/>
                      <a:pt x="265" y="1549"/>
                    </a:cubicBezTo>
                    <a:cubicBezTo>
                      <a:pt x="0" y="3102"/>
                      <a:pt x="167" y="5399"/>
                      <a:pt x="213" y="6987"/>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5"/>
              <p:cNvSpPr/>
              <p:nvPr/>
            </p:nvSpPr>
            <p:spPr>
              <a:xfrm>
                <a:off x="6181568" y="3201757"/>
                <a:ext cx="135459" cy="391448"/>
              </a:xfrm>
              <a:custGeom>
                <a:rect b="b" l="l" r="r" t="t"/>
                <a:pathLst>
                  <a:path extrusionOk="0" h="6372" w="2205">
                    <a:moveTo>
                      <a:pt x="1026" y="1"/>
                    </a:moveTo>
                    <a:cubicBezTo>
                      <a:pt x="964" y="1"/>
                      <a:pt x="885" y="127"/>
                      <a:pt x="831" y="127"/>
                    </a:cubicBezTo>
                    <a:cubicBezTo>
                      <a:pt x="822" y="127"/>
                      <a:pt x="813" y="123"/>
                      <a:pt x="806" y="114"/>
                    </a:cubicBezTo>
                    <a:cubicBezTo>
                      <a:pt x="460" y="448"/>
                      <a:pt x="317" y="557"/>
                      <a:pt x="265" y="868"/>
                    </a:cubicBezTo>
                    <a:cubicBezTo>
                      <a:pt x="0" y="2421"/>
                      <a:pt x="167" y="4718"/>
                      <a:pt x="213" y="6306"/>
                    </a:cubicBezTo>
                    <a:cubicBezTo>
                      <a:pt x="295" y="6347"/>
                      <a:pt x="516" y="6372"/>
                      <a:pt x="787" y="6372"/>
                    </a:cubicBezTo>
                    <a:cubicBezTo>
                      <a:pt x="971" y="6372"/>
                      <a:pt x="1179" y="6360"/>
                      <a:pt x="1381" y="6335"/>
                    </a:cubicBezTo>
                    <a:cubicBezTo>
                      <a:pt x="1191" y="5529"/>
                      <a:pt x="1047" y="4269"/>
                      <a:pt x="1209" y="3383"/>
                    </a:cubicBezTo>
                    <a:cubicBezTo>
                      <a:pt x="1399" y="2329"/>
                      <a:pt x="2204" y="804"/>
                      <a:pt x="1053" y="10"/>
                    </a:cubicBezTo>
                    <a:cubicBezTo>
                      <a:pt x="1045" y="4"/>
                      <a:pt x="1036" y="1"/>
                      <a:pt x="1026" y="1"/>
                    </a:cubicBezTo>
                    <a:close/>
                  </a:path>
                </a:pathLst>
              </a:custGeom>
              <a:solidFill>
                <a:srgbClr val="0C343D">
                  <a:alpha val="3294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5"/>
              <p:cNvSpPr/>
              <p:nvPr/>
            </p:nvSpPr>
            <p:spPr>
              <a:xfrm>
                <a:off x="6381288" y="4099598"/>
                <a:ext cx="142892" cy="55965"/>
              </a:xfrm>
              <a:custGeom>
                <a:rect b="b" l="l" r="r" t="t"/>
                <a:pathLst>
                  <a:path extrusionOk="0" h="911" w="2326">
                    <a:moveTo>
                      <a:pt x="81" y="1"/>
                    </a:moveTo>
                    <a:cubicBezTo>
                      <a:pt x="81" y="1"/>
                      <a:pt x="1" y="525"/>
                      <a:pt x="1" y="818"/>
                    </a:cubicBezTo>
                    <a:lnTo>
                      <a:pt x="1244" y="910"/>
                    </a:lnTo>
                    <a:lnTo>
                      <a:pt x="2285" y="784"/>
                    </a:lnTo>
                    <a:cubicBezTo>
                      <a:pt x="2285" y="784"/>
                      <a:pt x="2326" y="329"/>
                      <a:pt x="1727" y="358"/>
                    </a:cubicBezTo>
                    <a:cubicBezTo>
                      <a:pt x="933" y="404"/>
                      <a:pt x="835" y="53"/>
                      <a:pt x="835" y="53"/>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5"/>
              <p:cNvSpPr/>
              <p:nvPr/>
            </p:nvSpPr>
            <p:spPr>
              <a:xfrm>
                <a:off x="6128490" y="3271667"/>
                <a:ext cx="110026" cy="379407"/>
              </a:xfrm>
              <a:custGeom>
                <a:rect b="b" l="l" r="r" t="t"/>
                <a:pathLst>
                  <a:path extrusionOk="0" h="6176" w="1791">
                    <a:moveTo>
                      <a:pt x="358" y="5266"/>
                    </a:moveTo>
                    <a:cubicBezTo>
                      <a:pt x="369" y="5208"/>
                      <a:pt x="358" y="5133"/>
                      <a:pt x="346" y="5053"/>
                    </a:cubicBezTo>
                    <a:lnTo>
                      <a:pt x="346" y="5053"/>
                    </a:lnTo>
                    <a:cubicBezTo>
                      <a:pt x="317" y="4909"/>
                      <a:pt x="312" y="4771"/>
                      <a:pt x="312" y="4771"/>
                    </a:cubicBezTo>
                    <a:cubicBezTo>
                      <a:pt x="225" y="4029"/>
                      <a:pt x="1" y="2083"/>
                      <a:pt x="30" y="1767"/>
                    </a:cubicBezTo>
                    <a:cubicBezTo>
                      <a:pt x="47" y="1525"/>
                      <a:pt x="479" y="691"/>
                      <a:pt x="858" y="0"/>
                    </a:cubicBezTo>
                    <a:cubicBezTo>
                      <a:pt x="1163" y="340"/>
                      <a:pt x="1503" y="656"/>
                      <a:pt x="1750" y="1053"/>
                    </a:cubicBezTo>
                    <a:lnTo>
                      <a:pt x="1791" y="1117"/>
                    </a:lnTo>
                    <a:lnTo>
                      <a:pt x="1008" y="2014"/>
                    </a:lnTo>
                    <a:lnTo>
                      <a:pt x="858" y="4995"/>
                    </a:lnTo>
                    <a:cubicBezTo>
                      <a:pt x="870" y="5030"/>
                      <a:pt x="887" y="5064"/>
                      <a:pt x="904" y="5082"/>
                    </a:cubicBezTo>
                    <a:cubicBezTo>
                      <a:pt x="1066" y="5226"/>
                      <a:pt x="1158" y="5496"/>
                      <a:pt x="1163" y="5651"/>
                    </a:cubicBezTo>
                    <a:cubicBezTo>
                      <a:pt x="1163" y="5715"/>
                      <a:pt x="1025" y="5640"/>
                      <a:pt x="985" y="5600"/>
                    </a:cubicBezTo>
                    <a:cubicBezTo>
                      <a:pt x="979" y="5669"/>
                      <a:pt x="1094" y="6002"/>
                      <a:pt x="1094" y="6037"/>
                    </a:cubicBezTo>
                    <a:cubicBezTo>
                      <a:pt x="1089" y="6112"/>
                      <a:pt x="1037" y="6169"/>
                      <a:pt x="968" y="6169"/>
                    </a:cubicBezTo>
                    <a:cubicBezTo>
                      <a:pt x="737" y="6175"/>
                      <a:pt x="461" y="5997"/>
                      <a:pt x="415" y="5864"/>
                    </a:cubicBezTo>
                    <a:cubicBezTo>
                      <a:pt x="375" y="5766"/>
                      <a:pt x="317" y="5536"/>
                      <a:pt x="358" y="5266"/>
                    </a:cubicBezTo>
                    <a:close/>
                  </a:path>
                </a:pathLst>
              </a:custGeom>
              <a:solidFill>
                <a:srgbClr val="6E3E3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5"/>
              <p:cNvSpPr/>
              <p:nvPr/>
            </p:nvSpPr>
            <p:spPr>
              <a:xfrm>
                <a:off x="6162462" y="3271667"/>
                <a:ext cx="76422" cy="281115"/>
              </a:xfrm>
              <a:custGeom>
                <a:rect b="b" l="l" r="r" t="t"/>
                <a:pathLst>
                  <a:path extrusionOk="0" h="4576" w="1244">
                    <a:moveTo>
                      <a:pt x="323" y="4575"/>
                    </a:moveTo>
                    <a:cubicBezTo>
                      <a:pt x="288" y="4403"/>
                      <a:pt x="213" y="2895"/>
                      <a:pt x="150" y="2360"/>
                    </a:cubicBezTo>
                    <a:cubicBezTo>
                      <a:pt x="81" y="1784"/>
                      <a:pt x="121" y="1456"/>
                      <a:pt x="144" y="915"/>
                    </a:cubicBezTo>
                    <a:cubicBezTo>
                      <a:pt x="150" y="777"/>
                      <a:pt x="69" y="662"/>
                      <a:pt x="0" y="576"/>
                    </a:cubicBezTo>
                    <a:cubicBezTo>
                      <a:pt x="104" y="380"/>
                      <a:pt x="208" y="190"/>
                      <a:pt x="311" y="0"/>
                    </a:cubicBezTo>
                    <a:cubicBezTo>
                      <a:pt x="616" y="340"/>
                      <a:pt x="956" y="656"/>
                      <a:pt x="1203" y="1053"/>
                    </a:cubicBezTo>
                    <a:lnTo>
                      <a:pt x="1243" y="1117"/>
                    </a:lnTo>
                    <a:lnTo>
                      <a:pt x="461" y="2014"/>
                    </a:lnTo>
                    <a:close/>
                  </a:path>
                </a:pathLst>
              </a:custGeom>
              <a:solidFill>
                <a:srgbClr val="0C343D">
                  <a:alpha val="3294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5"/>
              <p:cNvSpPr/>
              <p:nvPr/>
            </p:nvSpPr>
            <p:spPr>
              <a:xfrm>
                <a:off x="6144770" y="3196719"/>
                <a:ext cx="162673" cy="177540"/>
              </a:xfrm>
              <a:custGeom>
                <a:rect b="b" l="l" r="r" t="t"/>
                <a:pathLst>
                  <a:path extrusionOk="0" h="2890" w="2648">
                    <a:moveTo>
                      <a:pt x="1785" y="40"/>
                    </a:moveTo>
                    <a:cubicBezTo>
                      <a:pt x="1129" y="0"/>
                      <a:pt x="824" y="489"/>
                      <a:pt x="1" y="1824"/>
                    </a:cubicBezTo>
                    <a:lnTo>
                      <a:pt x="1405" y="2889"/>
                    </a:lnTo>
                    <a:cubicBezTo>
                      <a:pt x="1405" y="2889"/>
                      <a:pt x="2596" y="1485"/>
                      <a:pt x="2619" y="921"/>
                    </a:cubicBezTo>
                    <a:cubicBezTo>
                      <a:pt x="2648" y="288"/>
                      <a:pt x="2164" y="63"/>
                      <a:pt x="1785" y="4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5"/>
              <p:cNvSpPr/>
              <p:nvPr/>
            </p:nvSpPr>
            <p:spPr>
              <a:xfrm>
                <a:off x="7545817" y="3489078"/>
                <a:ext cx="383646" cy="379407"/>
              </a:xfrm>
              <a:custGeom>
                <a:rect b="b" l="l" r="r" t="t"/>
                <a:pathLst>
                  <a:path extrusionOk="0" h="6176" w="6245">
                    <a:moveTo>
                      <a:pt x="5157" y="6175"/>
                    </a:moveTo>
                    <a:lnTo>
                      <a:pt x="6245" y="1865"/>
                    </a:lnTo>
                    <a:cubicBezTo>
                      <a:pt x="5221" y="1514"/>
                      <a:pt x="4352" y="858"/>
                      <a:pt x="3724" y="0"/>
                    </a:cubicBezTo>
                    <a:lnTo>
                      <a:pt x="1" y="2406"/>
                    </a:lnTo>
                    <a:cubicBezTo>
                      <a:pt x="1227" y="4184"/>
                      <a:pt x="3040" y="5537"/>
                      <a:pt x="5157" y="6175"/>
                    </a:cubicBezTo>
                    <a:close/>
                  </a:path>
                </a:pathLst>
              </a:custGeom>
              <a:solidFill>
                <a:srgbClr val="D9EAD3">
                  <a:alpha val="4196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5"/>
              <p:cNvSpPr/>
              <p:nvPr/>
            </p:nvSpPr>
            <p:spPr>
              <a:xfrm>
                <a:off x="7750881" y="2706669"/>
                <a:ext cx="876826" cy="693389"/>
              </a:xfrm>
              <a:custGeom>
                <a:rect b="b" l="l" r="r" t="t"/>
                <a:pathLst>
                  <a:path extrusionOk="0" h="11287" w="14273">
                    <a:moveTo>
                      <a:pt x="14273" y="9658"/>
                    </a:moveTo>
                    <a:cubicBezTo>
                      <a:pt x="14273" y="4334"/>
                      <a:pt x="9939" y="1"/>
                      <a:pt x="4610" y="1"/>
                    </a:cubicBezTo>
                    <a:cubicBezTo>
                      <a:pt x="2941" y="1"/>
                      <a:pt x="1365" y="421"/>
                      <a:pt x="1" y="1175"/>
                    </a:cubicBezTo>
                    <a:lnTo>
                      <a:pt x="2308" y="4967"/>
                    </a:lnTo>
                    <a:cubicBezTo>
                      <a:pt x="3005" y="4628"/>
                      <a:pt x="3782" y="4438"/>
                      <a:pt x="4610" y="4438"/>
                    </a:cubicBezTo>
                    <a:cubicBezTo>
                      <a:pt x="7494" y="4438"/>
                      <a:pt x="9830" y="6774"/>
                      <a:pt x="9830" y="9658"/>
                    </a:cubicBezTo>
                    <a:cubicBezTo>
                      <a:pt x="9830" y="9876"/>
                      <a:pt x="9818" y="10083"/>
                      <a:pt x="9795" y="10291"/>
                    </a:cubicBezTo>
                    <a:lnTo>
                      <a:pt x="14135" y="11286"/>
                    </a:lnTo>
                    <a:cubicBezTo>
                      <a:pt x="14221" y="10762"/>
                      <a:pt x="14273" y="10216"/>
                      <a:pt x="14273" y="9658"/>
                    </a:cubicBezTo>
                    <a:close/>
                  </a:path>
                </a:pathLst>
              </a:custGeom>
              <a:solidFill>
                <a:srgbClr val="D9EAD3">
                  <a:alpha val="4196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5"/>
              <p:cNvSpPr/>
              <p:nvPr/>
            </p:nvSpPr>
            <p:spPr>
              <a:xfrm>
                <a:off x="7415025" y="2670608"/>
                <a:ext cx="1263974" cy="1263605"/>
              </a:xfrm>
              <a:custGeom>
                <a:rect b="b" l="l" r="r" t="t"/>
                <a:pathLst>
                  <a:path extrusionOk="0" h="20569" w="20575">
                    <a:moveTo>
                      <a:pt x="10285" y="2406"/>
                    </a:moveTo>
                    <a:cubicBezTo>
                      <a:pt x="5859" y="2406"/>
                      <a:pt x="2262" y="6003"/>
                      <a:pt x="2262" y="10429"/>
                    </a:cubicBezTo>
                    <a:cubicBezTo>
                      <a:pt x="2262" y="14848"/>
                      <a:pt x="5859" y="18445"/>
                      <a:pt x="10285" y="18445"/>
                    </a:cubicBezTo>
                    <a:cubicBezTo>
                      <a:pt x="14710" y="18445"/>
                      <a:pt x="18307" y="14848"/>
                      <a:pt x="18307" y="10429"/>
                    </a:cubicBezTo>
                    <a:cubicBezTo>
                      <a:pt x="18307" y="6003"/>
                      <a:pt x="14710" y="2406"/>
                      <a:pt x="10285" y="2406"/>
                    </a:cubicBezTo>
                    <a:close/>
                    <a:moveTo>
                      <a:pt x="10285" y="18347"/>
                    </a:moveTo>
                    <a:cubicBezTo>
                      <a:pt x="5917" y="18347"/>
                      <a:pt x="2366" y="14791"/>
                      <a:pt x="2366" y="10429"/>
                    </a:cubicBezTo>
                    <a:cubicBezTo>
                      <a:pt x="2366" y="6061"/>
                      <a:pt x="5917" y="2504"/>
                      <a:pt x="10285" y="2504"/>
                    </a:cubicBezTo>
                    <a:cubicBezTo>
                      <a:pt x="14652" y="2504"/>
                      <a:pt x="18203" y="6061"/>
                      <a:pt x="18203" y="10429"/>
                    </a:cubicBezTo>
                    <a:cubicBezTo>
                      <a:pt x="18203" y="14791"/>
                      <a:pt x="14652" y="18347"/>
                      <a:pt x="10285" y="18347"/>
                    </a:cubicBezTo>
                    <a:close/>
                    <a:moveTo>
                      <a:pt x="10388" y="1451"/>
                    </a:moveTo>
                    <a:lnTo>
                      <a:pt x="10192" y="1451"/>
                    </a:lnTo>
                    <a:lnTo>
                      <a:pt x="10192" y="1"/>
                    </a:lnTo>
                    <a:lnTo>
                      <a:pt x="10388" y="1"/>
                    </a:lnTo>
                    <a:close/>
                    <a:moveTo>
                      <a:pt x="10187" y="19124"/>
                    </a:moveTo>
                    <a:lnTo>
                      <a:pt x="10377" y="19124"/>
                    </a:lnTo>
                    <a:lnTo>
                      <a:pt x="10377" y="20569"/>
                    </a:lnTo>
                    <a:lnTo>
                      <a:pt x="10187" y="20569"/>
                    </a:lnTo>
                    <a:close/>
                    <a:moveTo>
                      <a:pt x="9416" y="1486"/>
                    </a:moveTo>
                    <a:lnTo>
                      <a:pt x="9283" y="47"/>
                    </a:lnTo>
                    <a:lnTo>
                      <a:pt x="9479" y="30"/>
                    </a:lnTo>
                    <a:lnTo>
                      <a:pt x="9611" y="1468"/>
                    </a:lnTo>
                    <a:close/>
                    <a:moveTo>
                      <a:pt x="11154" y="19078"/>
                    </a:moveTo>
                    <a:lnTo>
                      <a:pt x="11286" y="20517"/>
                    </a:lnTo>
                    <a:lnTo>
                      <a:pt x="11090" y="20534"/>
                    </a:lnTo>
                    <a:lnTo>
                      <a:pt x="10964" y="19095"/>
                    </a:lnTo>
                    <a:close/>
                    <a:moveTo>
                      <a:pt x="8650" y="1601"/>
                    </a:moveTo>
                    <a:lnTo>
                      <a:pt x="8403" y="174"/>
                    </a:lnTo>
                    <a:lnTo>
                      <a:pt x="8593" y="139"/>
                    </a:lnTo>
                    <a:lnTo>
                      <a:pt x="8846" y="1566"/>
                    </a:lnTo>
                    <a:close/>
                    <a:moveTo>
                      <a:pt x="11919" y="18975"/>
                    </a:moveTo>
                    <a:lnTo>
                      <a:pt x="12172" y="20396"/>
                    </a:lnTo>
                    <a:lnTo>
                      <a:pt x="11976" y="20431"/>
                    </a:lnTo>
                    <a:lnTo>
                      <a:pt x="11723" y="19009"/>
                    </a:lnTo>
                    <a:close/>
                    <a:moveTo>
                      <a:pt x="7902" y="1773"/>
                    </a:moveTo>
                    <a:lnTo>
                      <a:pt x="7528" y="375"/>
                    </a:lnTo>
                    <a:lnTo>
                      <a:pt x="7718" y="329"/>
                    </a:lnTo>
                    <a:lnTo>
                      <a:pt x="8092" y="1722"/>
                    </a:lnTo>
                    <a:close/>
                    <a:moveTo>
                      <a:pt x="12667" y="18802"/>
                    </a:moveTo>
                    <a:lnTo>
                      <a:pt x="13041" y="20195"/>
                    </a:lnTo>
                    <a:lnTo>
                      <a:pt x="12851" y="20246"/>
                    </a:lnTo>
                    <a:lnTo>
                      <a:pt x="12477" y="18848"/>
                    </a:lnTo>
                    <a:close/>
                    <a:moveTo>
                      <a:pt x="7171" y="2009"/>
                    </a:moveTo>
                    <a:lnTo>
                      <a:pt x="6676" y="651"/>
                    </a:lnTo>
                    <a:lnTo>
                      <a:pt x="6860" y="588"/>
                    </a:lnTo>
                    <a:lnTo>
                      <a:pt x="7355" y="1946"/>
                    </a:lnTo>
                    <a:close/>
                    <a:moveTo>
                      <a:pt x="13398" y="18555"/>
                    </a:moveTo>
                    <a:lnTo>
                      <a:pt x="13899" y="19913"/>
                    </a:lnTo>
                    <a:lnTo>
                      <a:pt x="13709" y="19982"/>
                    </a:lnTo>
                    <a:lnTo>
                      <a:pt x="13214" y="18618"/>
                    </a:lnTo>
                    <a:close/>
                    <a:moveTo>
                      <a:pt x="6458" y="2314"/>
                    </a:moveTo>
                    <a:lnTo>
                      <a:pt x="5848" y="1002"/>
                    </a:lnTo>
                    <a:lnTo>
                      <a:pt x="6026" y="916"/>
                    </a:lnTo>
                    <a:lnTo>
                      <a:pt x="6636" y="2228"/>
                    </a:lnTo>
                    <a:close/>
                    <a:moveTo>
                      <a:pt x="14112" y="18255"/>
                    </a:moveTo>
                    <a:lnTo>
                      <a:pt x="14722" y="19562"/>
                    </a:lnTo>
                    <a:lnTo>
                      <a:pt x="14543" y="19648"/>
                    </a:lnTo>
                    <a:lnTo>
                      <a:pt x="13933" y="18342"/>
                    </a:lnTo>
                    <a:close/>
                    <a:moveTo>
                      <a:pt x="5784" y="2677"/>
                    </a:moveTo>
                    <a:lnTo>
                      <a:pt x="5065" y="1428"/>
                    </a:lnTo>
                    <a:lnTo>
                      <a:pt x="5238" y="1325"/>
                    </a:lnTo>
                    <a:lnTo>
                      <a:pt x="5957" y="2579"/>
                    </a:lnTo>
                    <a:close/>
                    <a:moveTo>
                      <a:pt x="14791" y="17893"/>
                    </a:moveTo>
                    <a:lnTo>
                      <a:pt x="15510" y="19147"/>
                    </a:lnTo>
                    <a:lnTo>
                      <a:pt x="15332" y="19245"/>
                    </a:lnTo>
                    <a:lnTo>
                      <a:pt x="14612" y="17996"/>
                    </a:lnTo>
                    <a:close/>
                    <a:moveTo>
                      <a:pt x="5134" y="3103"/>
                    </a:moveTo>
                    <a:lnTo>
                      <a:pt x="4305" y="1923"/>
                    </a:lnTo>
                    <a:lnTo>
                      <a:pt x="4466" y="1808"/>
                    </a:lnTo>
                    <a:lnTo>
                      <a:pt x="5295" y="2988"/>
                    </a:lnTo>
                    <a:close/>
                    <a:moveTo>
                      <a:pt x="15435" y="17467"/>
                    </a:moveTo>
                    <a:lnTo>
                      <a:pt x="16264" y="18647"/>
                    </a:lnTo>
                    <a:lnTo>
                      <a:pt x="16103" y="18762"/>
                    </a:lnTo>
                    <a:lnTo>
                      <a:pt x="15280" y="17582"/>
                    </a:lnTo>
                    <a:close/>
                    <a:moveTo>
                      <a:pt x="4530" y="3580"/>
                    </a:moveTo>
                    <a:lnTo>
                      <a:pt x="3603" y="2470"/>
                    </a:lnTo>
                    <a:lnTo>
                      <a:pt x="3753" y="2343"/>
                    </a:lnTo>
                    <a:lnTo>
                      <a:pt x="4679" y="3448"/>
                    </a:lnTo>
                    <a:close/>
                    <a:moveTo>
                      <a:pt x="16039" y="16995"/>
                    </a:moveTo>
                    <a:lnTo>
                      <a:pt x="16966" y="18100"/>
                    </a:lnTo>
                    <a:lnTo>
                      <a:pt x="16816" y="18232"/>
                    </a:lnTo>
                    <a:lnTo>
                      <a:pt x="15890" y="17122"/>
                    </a:lnTo>
                    <a:close/>
                    <a:moveTo>
                      <a:pt x="3960" y="4104"/>
                    </a:moveTo>
                    <a:lnTo>
                      <a:pt x="2941" y="3080"/>
                    </a:lnTo>
                    <a:lnTo>
                      <a:pt x="3080" y="2947"/>
                    </a:lnTo>
                    <a:lnTo>
                      <a:pt x="4098" y="3966"/>
                    </a:lnTo>
                    <a:close/>
                    <a:moveTo>
                      <a:pt x="16609" y="16460"/>
                    </a:moveTo>
                    <a:lnTo>
                      <a:pt x="17628" y="17484"/>
                    </a:lnTo>
                    <a:lnTo>
                      <a:pt x="17495" y="17622"/>
                    </a:lnTo>
                    <a:lnTo>
                      <a:pt x="16471" y="16598"/>
                    </a:lnTo>
                    <a:close/>
                    <a:moveTo>
                      <a:pt x="3454" y="4680"/>
                    </a:moveTo>
                    <a:lnTo>
                      <a:pt x="2343" y="3753"/>
                    </a:lnTo>
                    <a:lnTo>
                      <a:pt x="2475" y="3598"/>
                    </a:lnTo>
                    <a:lnTo>
                      <a:pt x="3580" y="4530"/>
                    </a:lnTo>
                    <a:close/>
                    <a:moveTo>
                      <a:pt x="17121" y="15896"/>
                    </a:moveTo>
                    <a:lnTo>
                      <a:pt x="18226" y="16822"/>
                    </a:lnTo>
                    <a:lnTo>
                      <a:pt x="18100" y="16972"/>
                    </a:lnTo>
                    <a:lnTo>
                      <a:pt x="16989" y="16045"/>
                    </a:lnTo>
                    <a:close/>
                    <a:moveTo>
                      <a:pt x="2993" y="5295"/>
                    </a:moveTo>
                    <a:lnTo>
                      <a:pt x="1808" y="4472"/>
                    </a:lnTo>
                    <a:lnTo>
                      <a:pt x="1923" y="4311"/>
                    </a:lnTo>
                    <a:lnTo>
                      <a:pt x="3103" y="5140"/>
                    </a:lnTo>
                    <a:close/>
                    <a:moveTo>
                      <a:pt x="17582" y="15274"/>
                    </a:moveTo>
                    <a:lnTo>
                      <a:pt x="18761" y="16103"/>
                    </a:lnTo>
                    <a:lnTo>
                      <a:pt x="18646" y="16258"/>
                    </a:lnTo>
                    <a:lnTo>
                      <a:pt x="17467" y="15435"/>
                    </a:lnTo>
                    <a:close/>
                    <a:moveTo>
                      <a:pt x="2579" y="5951"/>
                    </a:moveTo>
                    <a:lnTo>
                      <a:pt x="1330" y="5232"/>
                    </a:lnTo>
                    <a:lnTo>
                      <a:pt x="1428" y="5059"/>
                    </a:lnTo>
                    <a:lnTo>
                      <a:pt x="2682" y="5779"/>
                    </a:lnTo>
                    <a:close/>
                    <a:moveTo>
                      <a:pt x="17990" y="14618"/>
                    </a:moveTo>
                    <a:lnTo>
                      <a:pt x="19239" y="15338"/>
                    </a:lnTo>
                    <a:lnTo>
                      <a:pt x="19141" y="15510"/>
                    </a:lnTo>
                    <a:lnTo>
                      <a:pt x="17887" y="14791"/>
                    </a:lnTo>
                    <a:close/>
                    <a:moveTo>
                      <a:pt x="2234" y="6636"/>
                    </a:moveTo>
                    <a:lnTo>
                      <a:pt x="927" y="6026"/>
                    </a:lnTo>
                    <a:lnTo>
                      <a:pt x="1014" y="5842"/>
                    </a:lnTo>
                    <a:lnTo>
                      <a:pt x="2320" y="6458"/>
                    </a:lnTo>
                    <a:close/>
                    <a:moveTo>
                      <a:pt x="18336" y="13928"/>
                    </a:moveTo>
                    <a:lnTo>
                      <a:pt x="19642" y="14543"/>
                    </a:lnTo>
                    <a:lnTo>
                      <a:pt x="19556" y="14722"/>
                    </a:lnTo>
                    <a:lnTo>
                      <a:pt x="18249" y="14112"/>
                    </a:lnTo>
                    <a:close/>
                    <a:moveTo>
                      <a:pt x="1946" y="7356"/>
                    </a:moveTo>
                    <a:lnTo>
                      <a:pt x="588" y="6861"/>
                    </a:lnTo>
                    <a:lnTo>
                      <a:pt x="651" y="6671"/>
                    </a:lnTo>
                    <a:lnTo>
                      <a:pt x="2015" y="7166"/>
                    </a:lnTo>
                    <a:close/>
                    <a:moveTo>
                      <a:pt x="18623" y="13220"/>
                    </a:moveTo>
                    <a:lnTo>
                      <a:pt x="19981" y="13715"/>
                    </a:lnTo>
                    <a:lnTo>
                      <a:pt x="19918" y="13899"/>
                    </a:lnTo>
                    <a:lnTo>
                      <a:pt x="18560" y="13404"/>
                    </a:lnTo>
                    <a:close/>
                    <a:moveTo>
                      <a:pt x="1727" y="8086"/>
                    </a:moveTo>
                    <a:lnTo>
                      <a:pt x="329" y="7712"/>
                    </a:lnTo>
                    <a:lnTo>
                      <a:pt x="381" y="7528"/>
                    </a:lnTo>
                    <a:lnTo>
                      <a:pt x="1773" y="7902"/>
                    </a:lnTo>
                    <a:close/>
                    <a:moveTo>
                      <a:pt x="18848" y="12477"/>
                    </a:moveTo>
                    <a:lnTo>
                      <a:pt x="20240" y="12851"/>
                    </a:lnTo>
                    <a:lnTo>
                      <a:pt x="20189" y="13036"/>
                    </a:lnTo>
                    <a:lnTo>
                      <a:pt x="18796" y="12662"/>
                    </a:lnTo>
                    <a:close/>
                    <a:moveTo>
                      <a:pt x="1566" y="8846"/>
                    </a:moveTo>
                    <a:lnTo>
                      <a:pt x="145" y="8599"/>
                    </a:lnTo>
                    <a:lnTo>
                      <a:pt x="179" y="8403"/>
                    </a:lnTo>
                    <a:lnTo>
                      <a:pt x="1601" y="8656"/>
                    </a:lnTo>
                    <a:close/>
                    <a:moveTo>
                      <a:pt x="19003" y="11724"/>
                    </a:moveTo>
                    <a:lnTo>
                      <a:pt x="20430" y="11971"/>
                    </a:lnTo>
                    <a:lnTo>
                      <a:pt x="20390" y="12167"/>
                    </a:lnTo>
                    <a:lnTo>
                      <a:pt x="18969" y="11913"/>
                    </a:lnTo>
                    <a:close/>
                    <a:moveTo>
                      <a:pt x="1474" y="9612"/>
                    </a:moveTo>
                    <a:lnTo>
                      <a:pt x="35" y="9485"/>
                    </a:lnTo>
                    <a:lnTo>
                      <a:pt x="47" y="9289"/>
                    </a:lnTo>
                    <a:lnTo>
                      <a:pt x="1485" y="9422"/>
                    </a:lnTo>
                    <a:close/>
                    <a:moveTo>
                      <a:pt x="19095" y="10958"/>
                    </a:moveTo>
                    <a:lnTo>
                      <a:pt x="20534" y="11085"/>
                    </a:lnTo>
                    <a:lnTo>
                      <a:pt x="20522" y="11280"/>
                    </a:lnTo>
                    <a:lnTo>
                      <a:pt x="19084" y="11154"/>
                    </a:lnTo>
                    <a:close/>
                    <a:moveTo>
                      <a:pt x="1445" y="10383"/>
                    </a:moveTo>
                    <a:lnTo>
                      <a:pt x="1" y="10383"/>
                    </a:lnTo>
                    <a:lnTo>
                      <a:pt x="1" y="10187"/>
                    </a:lnTo>
                    <a:lnTo>
                      <a:pt x="1445" y="10187"/>
                    </a:lnTo>
                    <a:close/>
                    <a:moveTo>
                      <a:pt x="20574" y="10187"/>
                    </a:moveTo>
                    <a:lnTo>
                      <a:pt x="20574" y="10383"/>
                    </a:lnTo>
                    <a:lnTo>
                      <a:pt x="19124" y="10383"/>
                    </a:lnTo>
                    <a:lnTo>
                      <a:pt x="19124" y="10187"/>
                    </a:lnTo>
                    <a:close/>
                    <a:moveTo>
                      <a:pt x="1485" y="11154"/>
                    </a:moveTo>
                    <a:lnTo>
                      <a:pt x="47" y="11280"/>
                    </a:lnTo>
                    <a:lnTo>
                      <a:pt x="35" y="11085"/>
                    </a:lnTo>
                    <a:lnTo>
                      <a:pt x="1474" y="10958"/>
                    </a:lnTo>
                    <a:close/>
                    <a:moveTo>
                      <a:pt x="19084" y="9422"/>
                    </a:moveTo>
                    <a:lnTo>
                      <a:pt x="20522" y="9289"/>
                    </a:lnTo>
                    <a:lnTo>
                      <a:pt x="20534" y="9485"/>
                    </a:lnTo>
                    <a:lnTo>
                      <a:pt x="19095" y="9612"/>
                    </a:lnTo>
                    <a:close/>
                    <a:moveTo>
                      <a:pt x="1595" y="11913"/>
                    </a:moveTo>
                    <a:lnTo>
                      <a:pt x="173" y="12167"/>
                    </a:lnTo>
                    <a:lnTo>
                      <a:pt x="133" y="11971"/>
                    </a:lnTo>
                    <a:lnTo>
                      <a:pt x="1560" y="11724"/>
                    </a:lnTo>
                    <a:close/>
                    <a:moveTo>
                      <a:pt x="18974" y="8650"/>
                    </a:moveTo>
                    <a:lnTo>
                      <a:pt x="20402" y="8397"/>
                    </a:lnTo>
                    <a:lnTo>
                      <a:pt x="20436" y="8593"/>
                    </a:lnTo>
                    <a:lnTo>
                      <a:pt x="19009" y="8846"/>
                    </a:lnTo>
                    <a:close/>
                    <a:moveTo>
                      <a:pt x="1773" y="12673"/>
                    </a:moveTo>
                    <a:lnTo>
                      <a:pt x="381" y="13047"/>
                    </a:lnTo>
                    <a:lnTo>
                      <a:pt x="329" y="12857"/>
                    </a:lnTo>
                    <a:lnTo>
                      <a:pt x="1727" y="12483"/>
                    </a:lnTo>
                    <a:close/>
                    <a:moveTo>
                      <a:pt x="18796" y="7902"/>
                    </a:moveTo>
                    <a:lnTo>
                      <a:pt x="20189" y="7528"/>
                    </a:lnTo>
                    <a:lnTo>
                      <a:pt x="20240" y="7712"/>
                    </a:lnTo>
                    <a:lnTo>
                      <a:pt x="18848" y="8086"/>
                    </a:lnTo>
                    <a:close/>
                    <a:moveTo>
                      <a:pt x="2015" y="13398"/>
                    </a:moveTo>
                    <a:lnTo>
                      <a:pt x="651" y="13893"/>
                    </a:lnTo>
                    <a:lnTo>
                      <a:pt x="588" y="13709"/>
                    </a:lnTo>
                    <a:lnTo>
                      <a:pt x="1946" y="13208"/>
                    </a:lnTo>
                    <a:close/>
                    <a:moveTo>
                      <a:pt x="18560" y="7166"/>
                    </a:moveTo>
                    <a:lnTo>
                      <a:pt x="19918" y="6671"/>
                    </a:lnTo>
                    <a:lnTo>
                      <a:pt x="19981" y="6861"/>
                    </a:lnTo>
                    <a:lnTo>
                      <a:pt x="18623" y="7356"/>
                    </a:lnTo>
                    <a:close/>
                    <a:moveTo>
                      <a:pt x="2314" y="14112"/>
                    </a:moveTo>
                    <a:lnTo>
                      <a:pt x="1008" y="14722"/>
                    </a:lnTo>
                    <a:lnTo>
                      <a:pt x="921" y="14543"/>
                    </a:lnTo>
                    <a:lnTo>
                      <a:pt x="2228" y="13928"/>
                    </a:lnTo>
                    <a:close/>
                    <a:moveTo>
                      <a:pt x="18255" y="6464"/>
                    </a:moveTo>
                    <a:lnTo>
                      <a:pt x="19567" y="5848"/>
                    </a:lnTo>
                    <a:lnTo>
                      <a:pt x="19653" y="6032"/>
                    </a:lnTo>
                    <a:lnTo>
                      <a:pt x="18341" y="6642"/>
                    </a:lnTo>
                    <a:close/>
                    <a:moveTo>
                      <a:pt x="2682" y="14791"/>
                    </a:moveTo>
                    <a:lnTo>
                      <a:pt x="1428" y="15510"/>
                    </a:lnTo>
                    <a:lnTo>
                      <a:pt x="1330" y="15338"/>
                    </a:lnTo>
                    <a:lnTo>
                      <a:pt x="2579" y="14618"/>
                    </a:lnTo>
                    <a:close/>
                    <a:moveTo>
                      <a:pt x="17887" y="5779"/>
                    </a:moveTo>
                    <a:lnTo>
                      <a:pt x="19141" y="5059"/>
                    </a:lnTo>
                    <a:lnTo>
                      <a:pt x="19239" y="5232"/>
                    </a:lnTo>
                    <a:lnTo>
                      <a:pt x="17990" y="5951"/>
                    </a:lnTo>
                    <a:close/>
                    <a:moveTo>
                      <a:pt x="3097" y="15435"/>
                    </a:moveTo>
                    <a:lnTo>
                      <a:pt x="1917" y="16258"/>
                    </a:lnTo>
                    <a:lnTo>
                      <a:pt x="1802" y="16103"/>
                    </a:lnTo>
                    <a:lnTo>
                      <a:pt x="2982" y="15274"/>
                    </a:lnTo>
                    <a:close/>
                    <a:moveTo>
                      <a:pt x="17472" y="5134"/>
                    </a:moveTo>
                    <a:lnTo>
                      <a:pt x="18652" y="4306"/>
                    </a:lnTo>
                    <a:lnTo>
                      <a:pt x="18767" y="4461"/>
                    </a:lnTo>
                    <a:lnTo>
                      <a:pt x="17587" y="5290"/>
                    </a:lnTo>
                    <a:close/>
                    <a:moveTo>
                      <a:pt x="3580" y="16045"/>
                    </a:moveTo>
                    <a:lnTo>
                      <a:pt x="2475" y="16972"/>
                    </a:lnTo>
                    <a:lnTo>
                      <a:pt x="2343" y="16822"/>
                    </a:lnTo>
                    <a:lnTo>
                      <a:pt x="3454" y="15896"/>
                    </a:lnTo>
                    <a:close/>
                    <a:moveTo>
                      <a:pt x="16989" y="4530"/>
                    </a:moveTo>
                    <a:lnTo>
                      <a:pt x="18100" y="3598"/>
                    </a:lnTo>
                    <a:lnTo>
                      <a:pt x="18226" y="3753"/>
                    </a:lnTo>
                    <a:lnTo>
                      <a:pt x="17121" y="4680"/>
                    </a:lnTo>
                    <a:close/>
                    <a:moveTo>
                      <a:pt x="4104" y="16604"/>
                    </a:moveTo>
                    <a:lnTo>
                      <a:pt x="3085" y="17628"/>
                    </a:lnTo>
                    <a:lnTo>
                      <a:pt x="2947" y="17490"/>
                    </a:lnTo>
                    <a:lnTo>
                      <a:pt x="3966" y="16471"/>
                    </a:lnTo>
                    <a:close/>
                    <a:moveTo>
                      <a:pt x="16465" y="3966"/>
                    </a:moveTo>
                    <a:lnTo>
                      <a:pt x="17484" y="2947"/>
                    </a:lnTo>
                    <a:lnTo>
                      <a:pt x="17622" y="3080"/>
                    </a:lnTo>
                    <a:lnTo>
                      <a:pt x="16603" y="4104"/>
                    </a:lnTo>
                    <a:close/>
                    <a:moveTo>
                      <a:pt x="4679" y="17116"/>
                    </a:moveTo>
                    <a:lnTo>
                      <a:pt x="3753" y="18226"/>
                    </a:lnTo>
                    <a:lnTo>
                      <a:pt x="3603" y="18094"/>
                    </a:lnTo>
                    <a:lnTo>
                      <a:pt x="4530" y="16989"/>
                    </a:lnTo>
                    <a:close/>
                    <a:moveTo>
                      <a:pt x="15890" y="3448"/>
                    </a:moveTo>
                    <a:lnTo>
                      <a:pt x="16816" y="2343"/>
                    </a:lnTo>
                    <a:lnTo>
                      <a:pt x="16966" y="2470"/>
                    </a:lnTo>
                    <a:lnTo>
                      <a:pt x="16039" y="3580"/>
                    </a:lnTo>
                    <a:close/>
                    <a:moveTo>
                      <a:pt x="5295" y="17582"/>
                    </a:moveTo>
                    <a:lnTo>
                      <a:pt x="4466" y="18762"/>
                    </a:lnTo>
                    <a:lnTo>
                      <a:pt x="4305" y="18647"/>
                    </a:lnTo>
                    <a:lnTo>
                      <a:pt x="5134" y="17467"/>
                    </a:lnTo>
                    <a:close/>
                    <a:moveTo>
                      <a:pt x="15280" y="2988"/>
                    </a:moveTo>
                    <a:lnTo>
                      <a:pt x="16103" y="1808"/>
                    </a:lnTo>
                    <a:lnTo>
                      <a:pt x="16264" y="1923"/>
                    </a:lnTo>
                    <a:lnTo>
                      <a:pt x="15435" y="3103"/>
                    </a:lnTo>
                    <a:close/>
                    <a:moveTo>
                      <a:pt x="5945" y="17985"/>
                    </a:moveTo>
                    <a:lnTo>
                      <a:pt x="5226" y="19239"/>
                    </a:lnTo>
                    <a:lnTo>
                      <a:pt x="5053" y="19136"/>
                    </a:lnTo>
                    <a:lnTo>
                      <a:pt x="5773" y="17887"/>
                    </a:lnTo>
                    <a:close/>
                    <a:moveTo>
                      <a:pt x="14624" y="2579"/>
                    </a:moveTo>
                    <a:lnTo>
                      <a:pt x="15343" y="1325"/>
                    </a:lnTo>
                    <a:lnTo>
                      <a:pt x="15516" y="1428"/>
                    </a:lnTo>
                    <a:lnTo>
                      <a:pt x="14796" y="2677"/>
                    </a:lnTo>
                    <a:close/>
                    <a:moveTo>
                      <a:pt x="6458" y="18255"/>
                    </a:moveTo>
                    <a:lnTo>
                      <a:pt x="6636" y="18342"/>
                    </a:lnTo>
                    <a:lnTo>
                      <a:pt x="6026" y="19648"/>
                    </a:lnTo>
                    <a:lnTo>
                      <a:pt x="5848" y="19562"/>
                    </a:lnTo>
                    <a:close/>
                    <a:moveTo>
                      <a:pt x="14112" y="2314"/>
                    </a:moveTo>
                    <a:lnTo>
                      <a:pt x="13933" y="2228"/>
                    </a:lnTo>
                    <a:lnTo>
                      <a:pt x="14543" y="916"/>
                    </a:lnTo>
                    <a:lnTo>
                      <a:pt x="14722" y="1002"/>
                    </a:lnTo>
                    <a:close/>
                    <a:moveTo>
                      <a:pt x="7171" y="18555"/>
                    </a:moveTo>
                    <a:lnTo>
                      <a:pt x="7355" y="18618"/>
                    </a:lnTo>
                    <a:lnTo>
                      <a:pt x="6860" y="19982"/>
                    </a:lnTo>
                    <a:lnTo>
                      <a:pt x="6676" y="19913"/>
                    </a:lnTo>
                    <a:close/>
                    <a:moveTo>
                      <a:pt x="13398" y="2009"/>
                    </a:moveTo>
                    <a:lnTo>
                      <a:pt x="13214" y="1946"/>
                    </a:lnTo>
                    <a:lnTo>
                      <a:pt x="13709" y="588"/>
                    </a:lnTo>
                    <a:lnTo>
                      <a:pt x="13899" y="651"/>
                    </a:lnTo>
                    <a:close/>
                    <a:moveTo>
                      <a:pt x="7902" y="18802"/>
                    </a:moveTo>
                    <a:lnTo>
                      <a:pt x="8092" y="18848"/>
                    </a:lnTo>
                    <a:lnTo>
                      <a:pt x="7718" y="20246"/>
                    </a:lnTo>
                    <a:lnTo>
                      <a:pt x="7528" y="20195"/>
                    </a:lnTo>
                    <a:close/>
                    <a:moveTo>
                      <a:pt x="12667" y="1773"/>
                    </a:moveTo>
                    <a:lnTo>
                      <a:pt x="12477" y="1722"/>
                    </a:lnTo>
                    <a:lnTo>
                      <a:pt x="12851" y="329"/>
                    </a:lnTo>
                    <a:lnTo>
                      <a:pt x="13041" y="375"/>
                    </a:lnTo>
                    <a:close/>
                    <a:moveTo>
                      <a:pt x="8650" y="18975"/>
                    </a:moveTo>
                    <a:lnTo>
                      <a:pt x="8846" y="19009"/>
                    </a:lnTo>
                    <a:lnTo>
                      <a:pt x="8593" y="20431"/>
                    </a:lnTo>
                    <a:lnTo>
                      <a:pt x="8403" y="20396"/>
                    </a:lnTo>
                    <a:close/>
                    <a:moveTo>
                      <a:pt x="11919" y="1601"/>
                    </a:moveTo>
                    <a:lnTo>
                      <a:pt x="11723" y="1566"/>
                    </a:lnTo>
                    <a:lnTo>
                      <a:pt x="11976" y="139"/>
                    </a:lnTo>
                    <a:lnTo>
                      <a:pt x="12172" y="174"/>
                    </a:lnTo>
                    <a:close/>
                    <a:moveTo>
                      <a:pt x="9416" y="19078"/>
                    </a:moveTo>
                    <a:lnTo>
                      <a:pt x="9611" y="19095"/>
                    </a:lnTo>
                    <a:lnTo>
                      <a:pt x="9479" y="20534"/>
                    </a:lnTo>
                    <a:lnTo>
                      <a:pt x="9283" y="20517"/>
                    </a:lnTo>
                    <a:close/>
                    <a:moveTo>
                      <a:pt x="11154" y="1486"/>
                    </a:moveTo>
                    <a:lnTo>
                      <a:pt x="10964" y="1468"/>
                    </a:lnTo>
                    <a:lnTo>
                      <a:pt x="11090" y="30"/>
                    </a:lnTo>
                    <a:lnTo>
                      <a:pt x="11286" y="47"/>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03" name="Google Shape;203;p15"/>
          <p:cNvSpPr txBox="1"/>
          <p:nvPr/>
        </p:nvSpPr>
        <p:spPr>
          <a:xfrm>
            <a:off x="739243" y="656165"/>
            <a:ext cx="52317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000" u="none" cap="none" strike="noStrike">
                <a:solidFill>
                  <a:srgbClr val="0C343D"/>
                </a:solidFill>
                <a:latin typeface="Sora"/>
                <a:ea typeface="Sora"/>
                <a:cs typeface="Sora"/>
                <a:sym typeface="Sora"/>
              </a:rPr>
              <a:t>Problem Statement</a:t>
            </a:r>
            <a:endParaRPr b="0" i="0" sz="1400" u="none" cap="none" strike="noStrike">
              <a:solidFill>
                <a:srgbClr val="000000"/>
              </a:solidFill>
              <a:latin typeface="Arial"/>
              <a:ea typeface="Arial"/>
              <a:cs typeface="Arial"/>
              <a:sym typeface="Arial"/>
            </a:endParaRPr>
          </a:p>
        </p:txBody>
      </p:sp>
      <p:grpSp>
        <p:nvGrpSpPr>
          <p:cNvPr id="204" name="Google Shape;204;p15"/>
          <p:cNvGrpSpPr/>
          <p:nvPr/>
        </p:nvGrpSpPr>
        <p:grpSpPr>
          <a:xfrm>
            <a:off x="779034" y="2962263"/>
            <a:ext cx="6511986" cy="484500"/>
            <a:chOff x="3020237" y="1639668"/>
            <a:chExt cx="6511986" cy="484500"/>
          </a:xfrm>
        </p:grpSpPr>
        <p:sp>
          <p:nvSpPr>
            <p:cNvPr id="205" name="Google Shape;205;p15"/>
            <p:cNvSpPr/>
            <p:nvPr/>
          </p:nvSpPr>
          <p:spPr>
            <a:xfrm>
              <a:off x="3020237" y="1688784"/>
              <a:ext cx="1396641" cy="398410"/>
            </a:xfrm>
            <a:prstGeom prst="hexagon">
              <a:avLst>
                <a:gd fmla="val 34374" name="adj"/>
                <a:gd fmla="val 115470" name="vf"/>
              </a:avLst>
            </a:prstGeom>
            <a:solidFill>
              <a:srgbClr val="F3F3F3">
                <a:alpha val="23529"/>
              </a:srgbClr>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2"/>
                  </a:solidFill>
                  <a:latin typeface="Arial"/>
                  <a:ea typeface="Arial"/>
                  <a:cs typeface="Arial"/>
                  <a:sym typeface="Arial"/>
                </a:rPr>
                <a:t>Evaluation</a:t>
              </a:r>
              <a:endParaRPr b="1" i="0" sz="1200" u="none" cap="none" strike="noStrike">
                <a:solidFill>
                  <a:schemeClr val="lt2"/>
                </a:solidFill>
                <a:latin typeface="Arial"/>
                <a:ea typeface="Arial"/>
                <a:cs typeface="Arial"/>
                <a:sym typeface="Arial"/>
              </a:endParaRPr>
            </a:p>
          </p:txBody>
        </p:sp>
        <p:sp>
          <p:nvSpPr>
            <p:cNvPr id="206" name="Google Shape;206;p15"/>
            <p:cNvSpPr txBox="1"/>
            <p:nvPr/>
          </p:nvSpPr>
          <p:spPr>
            <a:xfrm>
              <a:off x="4383023" y="1639668"/>
              <a:ext cx="5149200" cy="484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chemeClr val="lt2"/>
                  </a:solidFill>
                  <a:latin typeface="Calibri"/>
                  <a:ea typeface="Calibri"/>
                  <a:cs typeface="Calibri"/>
                  <a:sym typeface="Calibri"/>
                </a:rPr>
                <a:t>Find Metrics and datasets for fake news</a:t>
              </a:r>
              <a:r>
                <a:rPr lang="en-US" sz="1300">
                  <a:solidFill>
                    <a:schemeClr val="lt2"/>
                  </a:solidFill>
                  <a:latin typeface="Calibri"/>
                  <a:ea typeface="Calibri"/>
                  <a:cs typeface="Calibri"/>
                  <a:sym typeface="Calibri"/>
                </a:rPr>
                <a:t>, </a:t>
              </a:r>
              <a:r>
                <a:rPr b="0" i="0" lang="en-US" sz="1300" u="none" cap="none" strike="noStrike">
                  <a:solidFill>
                    <a:schemeClr val="lt2"/>
                  </a:solidFill>
                  <a:latin typeface="Calibri"/>
                  <a:ea typeface="Calibri"/>
                  <a:cs typeface="Calibri"/>
                  <a:sym typeface="Calibri"/>
                </a:rPr>
                <a:t>hate speech, and toxicity.</a:t>
              </a:r>
              <a:endParaRPr/>
            </a:p>
          </p:txBody>
        </p:sp>
      </p:grpSp>
      <p:grpSp>
        <p:nvGrpSpPr>
          <p:cNvPr id="207" name="Google Shape;207;p15"/>
          <p:cNvGrpSpPr/>
          <p:nvPr/>
        </p:nvGrpSpPr>
        <p:grpSpPr>
          <a:xfrm>
            <a:off x="759719" y="3501133"/>
            <a:ext cx="6350520" cy="484500"/>
            <a:chOff x="3092812" y="2592638"/>
            <a:chExt cx="6264076" cy="484500"/>
          </a:xfrm>
        </p:grpSpPr>
        <p:sp>
          <p:nvSpPr>
            <p:cNvPr id="208" name="Google Shape;208;p15"/>
            <p:cNvSpPr/>
            <p:nvPr/>
          </p:nvSpPr>
          <p:spPr>
            <a:xfrm>
              <a:off x="3092812" y="2646560"/>
              <a:ext cx="1377585" cy="376656"/>
            </a:xfrm>
            <a:prstGeom prst="hexagon">
              <a:avLst>
                <a:gd fmla="val 34374" name="adj"/>
                <a:gd fmla="val 115470" name="vf"/>
              </a:avLst>
            </a:prstGeom>
            <a:solidFill>
              <a:srgbClr val="F3F3F3">
                <a:alpha val="23529"/>
              </a:srgbClr>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400" u="none" cap="none" strike="noStrike">
                  <a:solidFill>
                    <a:schemeClr val="lt2"/>
                  </a:solidFill>
                  <a:latin typeface="Arial"/>
                  <a:ea typeface="Arial"/>
                  <a:cs typeface="Arial"/>
                  <a:sym typeface="Arial"/>
                </a:rPr>
                <a:t>Modeling</a:t>
              </a:r>
              <a:endParaRPr b="1" i="0" sz="1400" u="none" cap="none" strike="noStrike">
                <a:solidFill>
                  <a:schemeClr val="lt2"/>
                </a:solidFill>
                <a:latin typeface="Arial"/>
                <a:ea typeface="Arial"/>
                <a:cs typeface="Arial"/>
                <a:sym typeface="Arial"/>
              </a:endParaRPr>
            </a:p>
          </p:txBody>
        </p:sp>
        <p:sp>
          <p:nvSpPr>
            <p:cNvPr id="209" name="Google Shape;209;p15"/>
            <p:cNvSpPr txBox="1"/>
            <p:nvPr/>
          </p:nvSpPr>
          <p:spPr>
            <a:xfrm>
              <a:off x="4437004" y="2592638"/>
              <a:ext cx="4919884" cy="484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2"/>
                  </a:solidFill>
                  <a:latin typeface="Calibri"/>
                  <a:ea typeface="Calibri"/>
                  <a:cs typeface="Calibri"/>
                  <a:sym typeface="Calibri"/>
                </a:rPr>
                <a:t>Train on each and combined datasets to reach a satisfying </a:t>
              </a:r>
              <a:r>
                <a:rPr lang="en-US">
                  <a:solidFill>
                    <a:schemeClr val="lt2"/>
                  </a:solidFill>
                  <a:latin typeface="Calibri"/>
                  <a:ea typeface="Calibri"/>
                  <a:cs typeface="Calibri"/>
                  <a:sym typeface="Calibri"/>
                </a:rPr>
                <a:t>m</a:t>
              </a:r>
              <a:r>
                <a:rPr b="0" i="0" lang="en-US" sz="1400" u="none" cap="none" strike="noStrike">
                  <a:solidFill>
                    <a:schemeClr val="lt2"/>
                  </a:solidFill>
                  <a:latin typeface="Calibri"/>
                  <a:ea typeface="Calibri"/>
                  <a:cs typeface="Calibri"/>
                  <a:sym typeface="Calibri"/>
                </a:rPr>
                <a:t>odel.</a:t>
              </a:r>
              <a:endParaRPr/>
            </a:p>
          </p:txBody>
        </p:sp>
      </p:grpSp>
      <p:grpSp>
        <p:nvGrpSpPr>
          <p:cNvPr id="210" name="Google Shape;210;p15"/>
          <p:cNvGrpSpPr/>
          <p:nvPr/>
        </p:nvGrpSpPr>
        <p:grpSpPr>
          <a:xfrm>
            <a:off x="739240" y="4087610"/>
            <a:ext cx="2891565" cy="398423"/>
            <a:chOff x="2144863" y="3573672"/>
            <a:chExt cx="4533654" cy="606520"/>
          </a:xfrm>
        </p:grpSpPr>
        <p:sp>
          <p:nvSpPr>
            <p:cNvPr id="211" name="Google Shape;211;p15"/>
            <p:cNvSpPr/>
            <p:nvPr/>
          </p:nvSpPr>
          <p:spPr>
            <a:xfrm>
              <a:off x="2144863" y="3573672"/>
              <a:ext cx="2248976" cy="606520"/>
            </a:xfrm>
            <a:prstGeom prst="hexagon">
              <a:avLst>
                <a:gd fmla="val 34374" name="adj"/>
                <a:gd fmla="val 115470" name="vf"/>
              </a:avLst>
            </a:prstGeom>
            <a:solidFill>
              <a:srgbClr val="F3F3F3">
                <a:alpha val="23529"/>
              </a:srgbClr>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400" u="none" cap="none" strike="noStrike">
                  <a:solidFill>
                    <a:schemeClr val="lt2"/>
                  </a:solidFill>
                  <a:latin typeface="Arial"/>
                  <a:ea typeface="Arial"/>
                  <a:cs typeface="Arial"/>
                  <a:sym typeface="Arial"/>
                </a:rPr>
                <a:t>Analyze</a:t>
              </a:r>
              <a:endParaRPr b="1" i="0" sz="1400" u="none" cap="none" strike="noStrike">
                <a:solidFill>
                  <a:schemeClr val="lt2"/>
                </a:solidFill>
                <a:latin typeface="Arial"/>
                <a:ea typeface="Arial"/>
                <a:cs typeface="Arial"/>
                <a:sym typeface="Arial"/>
              </a:endParaRPr>
            </a:p>
          </p:txBody>
        </p:sp>
        <p:sp>
          <p:nvSpPr>
            <p:cNvPr id="212" name="Google Shape;212;p15"/>
            <p:cNvSpPr txBox="1"/>
            <p:nvPr/>
          </p:nvSpPr>
          <p:spPr>
            <a:xfrm>
              <a:off x="4284110" y="3636153"/>
              <a:ext cx="2394407" cy="484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2"/>
                  </a:solidFill>
                  <a:latin typeface="Calibri"/>
                  <a:ea typeface="Calibri"/>
                  <a:cs typeface="Calibri"/>
                  <a:sym typeface="Calibri"/>
                </a:rPr>
                <a:t>Test and analyze</a:t>
              </a:r>
              <a:endParaRPr/>
            </a:p>
          </p:txBody>
        </p:sp>
      </p:grpSp>
      <p:grpSp>
        <p:nvGrpSpPr>
          <p:cNvPr id="213" name="Google Shape;213;p15"/>
          <p:cNvGrpSpPr/>
          <p:nvPr/>
        </p:nvGrpSpPr>
        <p:grpSpPr>
          <a:xfrm>
            <a:off x="129052" y="3029503"/>
            <a:ext cx="352886" cy="350049"/>
            <a:chOff x="946175" y="3253275"/>
            <a:chExt cx="298550" cy="296150"/>
          </a:xfrm>
        </p:grpSpPr>
        <p:sp>
          <p:nvSpPr>
            <p:cNvPr id="214" name="Google Shape;214;p15"/>
            <p:cNvSpPr/>
            <p:nvPr/>
          </p:nvSpPr>
          <p:spPr>
            <a:xfrm>
              <a:off x="946175" y="3253275"/>
              <a:ext cx="209550" cy="261500"/>
            </a:xfrm>
            <a:custGeom>
              <a:rect b="b" l="l" r="r" t="t"/>
              <a:pathLst>
                <a:path extrusionOk="0" h="10460" w="8382">
                  <a:moveTo>
                    <a:pt x="348" y="0"/>
                  </a:moveTo>
                  <a:cubicBezTo>
                    <a:pt x="158" y="0"/>
                    <a:pt x="1" y="158"/>
                    <a:pt x="1" y="347"/>
                  </a:cubicBezTo>
                  <a:lnTo>
                    <a:pt x="1" y="10113"/>
                  </a:lnTo>
                  <a:cubicBezTo>
                    <a:pt x="1" y="10302"/>
                    <a:pt x="158" y="10460"/>
                    <a:pt x="348" y="10460"/>
                  </a:cubicBezTo>
                  <a:lnTo>
                    <a:pt x="694" y="10460"/>
                  </a:lnTo>
                  <a:lnTo>
                    <a:pt x="694" y="3875"/>
                  </a:lnTo>
                  <a:cubicBezTo>
                    <a:pt x="694" y="3623"/>
                    <a:pt x="820" y="3340"/>
                    <a:pt x="1009" y="3151"/>
                  </a:cubicBezTo>
                  <a:lnTo>
                    <a:pt x="3151" y="1008"/>
                  </a:lnTo>
                  <a:cubicBezTo>
                    <a:pt x="3340" y="819"/>
                    <a:pt x="3624" y="693"/>
                    <a:pt x="3908" y="693"/>
                  </a:cubicBezTo>
                  <a:lnTo>
                    <a:pt x="8381" y="693"/>
                  </a:lnTo>
                  <a:lnTo>
                    <a:pt x="8381" y="347"/>
                  </a:lnTo>
                  <a:cubicBezTo>
                    <a:pt x="8381" y="158"/>
                    <a:pt x="8224" y="0"/>
                    <a:pt x="803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5"/>
            <p:cNvSpPr/>
            <p:nvPr/>
          </p:nvSpPr>
          <p:spPr>
            <a:xfrm>
              <a:off x="986350" y="3293425"/>
              <a:ext cx="47300" cy="48075"/>
            </a:xfrm>
            <a:custGeom>
              <a:rect b="b" l="l" r="r" t="t"/>
              <a:pathLst>
                <a:path extrusionOk="0" h="1923" w="1892">
                  <a:moveTo>
                    <a:pt x="1891" y="1"/>
                  </a:moveTo>
                  <a:lnTo>
                    <a:pt x="1" y="1923"/>
                  </a:lnTo>
                  <a:lnTo>
                    <a:pt x="1891" y="1923"/>
                  </a:lnTo>
                  <a:lnTo>
                    <a:pt x="189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5"/>
            <p:cNvSpPr/>
            <p:nvPr/>
          </p:nvSpPr>
          <p:spPr>
            <a:xfrm>
              <a:off x="1051725" y="3359600"/>
              <a:ext cx="122100" cy="121325"/>
            </a:xfrm>
            <a:custGeom>
              <a:rect b="b" l="l" r="r" t="t"/>
              <a:pathLst>
                <a:path extrusionOk="0" h="4853" w="4884">
                  <a:moveTo>
                    <a:pt x="2427" y="0"/>
                  </a:moveTo>
                  <a:cubicBezTo>
                    <a:pt x="1103" y="0"/>
                    <a:pt x="1" y="1103"/>
                    <a:pt x="1" y="2426"/>
                  </a:cubicBezTo>
                  <a:cubicBezTo>
                    <a:pt x="1" y="3749"/>
                    <a:pt x="1103" y="4852"/>
                    <a:pt x="2427" y="4852"/>
                  </a:cubicBezTo>
                  <a:cubicBezTo>
                    <a:pt x="3781" y="4852"/>
                    <a:pt x="4884" y="3749"/>
                    <a:pt x="4884" y="2426"/>
                  </a:cubicBezTo>
                  <a:cubicBezTo>
                    <a:pt x="4884" y="1103"/>
                    <a:pt x="3781" y="0"/>
                    <a:pt x="2427"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5"/>
            <p:cNvSpPr/>
            <p:nvPr/>
          </p:nvSpPr>
          <p:spPr>
            <a:xfrm>
              <a:off x="980050" y="3289500"/>
              <a:ext cx="192200" cy="242600"/>
            </a:xfrm>
            <a:custGeom>
              <a:rect b="b" l="l" r="r" t="t"/>
              <a:pathLst>
                <a:path extrusionOk="0" h="9704" w="7688">
                  <a:moveTo>
                    <a:pt x="2868" y="0"/>
                  </a:moveTo>
                  <a:lnTo>
                    <a:pt x="2868" y="2426"/>
                  </a:lnTo>
                  <a:cubicBezTo>
                    <a:pt x="2868" y="2647"/>
                    <a:pt x="2679" y="2804"/>
                    <a:pt x="2490" y="2804"/>
                  </a:cubicBezTo>
                  <a:lnTo>
                    <a:pt x="1" y="2804"/>
                  </a:lnTo>
                  <a:lnTo>
                    <a:pt x="1" y="9357"/>
                  </a:lnTo>
                  <a:cubicBezTo>
                    <a:pt x="1" y="9578"/>
                    <a:pt x="190" y="9704"/>
                    <a:pt x="379" y="9704"/>
                  </a:cubicBezTo>
                  <a:lnTo>
                    <a:pt x="7341" y="9704"/>
                  </a:lnTo>
                  <a:cubicBezTo>
                    <a:pt x="7467" y="9704"/>
                    <a:pt x="7593" y="9641"/>
                    <a:pt x="7625" y="9578"/>
                  </a:cubicBezTo>
                  <a:lnTo>
                    <a:pt x="6239" y="8192"/>
                  </a:lnTo>
                  <a:cubicBezTo>
                    <a:pt x="5924" y="8318"/>
                    <a:pt x="5609" y="8349"/>
                    <a:pt x="5262" y="8349"/>
                  </a:cubicBezTo>
                  <a:cubicBezTo>
                    <a:pt x="3529" y="8349"/>
                    <a:pt x="2143" y="6931"/>
                    <a:pt x="2143" y="5230"/>
                  </a:cubicBezTo>
                  <a:cubicBezTo>
                    <a:pt x="2143" y="3529"/>
                    <a:pt x="3561" y="2111"/>
                    <a:pt x="5262" y="2111"/>
                  </a:cubicBezTo>
                  <a:cubicBezTo>
                    <a:pt x="6239" y="2111"/>
                    <a:pt x="7121" y="2584"/>
                    <a:pt x="7688" y="3308"/>
                  </a:cubicBezTo>
                  <a:lnTo>
                    <a:pt x="7688" y="347"/>
                  </a:lnTo>
                  <a:cubicBezTo>
                    <a:pt x="7688" y="158"/>
                    <a:pt x="7530" y="0"/>
                    <a:pt x="734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5"/>
            <p:cNvSpPr/>
            <p:nvPr/>
          </p:nvSpPr>
          <p:spPr>
            <a:xfrm>
              <a:off x="1154125" y="3460400"/>
              <a:ext cx="90600" cy="89025"/>
            </a:xfrm>
            <a:custGeom>
              <a:rect b="b" l="l" r="r" t="t"/>
              <a:pathLst>
                <a:path extrusionOk="0" h="3561" w="3624">
                  <a:moveTo>
                    <a:pt x="977" y="1"/>
                  </a:moveTo>
                  <a:cubicBezTo>
                    <a:pt x="693" y="410"/>
                    <a:pt x="378" y="757"/>
                    <a:pt x="0" y="1009"/>
                  </a:cubicBezTo>
                  <a:lnTo>
                    <a:pt x="2363" y="3372"/>
                  </a:lnTo>
                  <a:cubicBezTo>
                    <a:pt x="2489" y="3498"/>
                    <a:pt x="2662" y="3561"/>
                    <a:pt x="2840" y="3561"/>
                  </a:cubicBezTo>
                  <a:cubicBezTo>
                    <a:pt x="3017" y="3561"/>
                    <a:pt x="3198" y="3498"/>
                    <a:pt x="3340" y="3372"/>
                  </a:cubicBezTo>
                  <a:cubicBezTo>
                    <a:pt x="3623" y="3088"/>
                    <a:pt x="3623" y="2647"/>
                    <a:pt x="3340" y="2364"/>
                  </a:cubicBezTo>
                  <a:lnTo>
                    <a:pt x="977"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9" name="Google Shape;219;p15"/>
          <p:cNvGrpSpPr/>
          <p:nvPr/>
        </p:nvGrpSpPr>
        <p:grpSpPr>
          <a:xfrm>
            <a:off x="129528" y="4107195"/>
            <a:ext cx="351941" cy="351675"/>
            <a:chOff x="1310075" y="3980250"/>
            <a:chExt cx="297750" cy="297525"/>
          </a:xfrm>
        </p:grpSpPr>
        <p:sp>
          <p:nvSpPr>
            <p:cNvPr id="220" name="Google Shape;220;p15"/>
            <p:cNvSpPr/>
            <p:nvPr/>
          </p:nvSpPr>
          <p:spPr>
            <a:xfrm>
              <a:off x="1310075" y="3980250"/>
              <a:ext cx="297750" cy="297525"/>
            </a:xfrm>
            <a:custGeom>
              <a:rect b="b" l="l" r="r" t="t"/>
              <a:pathLst>
                <a:path extrusionOk="0" h="11901" w="11910">
                  <a:moveTo>
                    <a:pt x="3844" y="4946"/>
                  </a:moveTo>
                  <a:cubicBezTo>
                    <a:pt x="4033" y="4946"/>
                    <a:pt x="4190" y="5104"/>
                    <a:pt x="4190" y="5293"/>
                  </a:cubicBezTo>
                  <a:lnTo>
                    <a:pt x="4190" y="6679"/>
                  </a:lnTo>
                  <a:cubicBezTo>
                    <a:pt x="4190" y="6868"/>
                    <a:pt x="4033" y="7026"/>
                    <a:pt x="3844" y="7026"/>
                  </a:cubicBezTo>
                  <a:lnTo>
                    <a:pt x="2458" y="7026"/>
                  </a:lnTo>
                  <a:cubicBezTo>
                    <a:pt x="2269" y="7026"/>
                    <a:pt x="2111" y="6868"/>
                    <a:pt x="2111" y="6679"/>
                  </a:cubicBezTo>
                  <a:lnTo>
                    <a:pt x="2111" y="5293"/>
                  </a:lnTo>
                  <a:cubicBezTo>
                    <a:pt x="2111" y="5104"/>
                    <a:pt x="2269" y="4946"/>
                    <a:pt x="2458" y="4946"/>
                  </a:cubicBezTo>
                  <a:close/>
                  <a:moveTo>
                    <a:pt x="6616" y="3560"/>
                  </a:moveTo>
                  <a:cubicBezTo>
                    <a:pt x="6837" y="3560"/>
                    <a:pt x="6994" y="3718"/>
                    <a:pt x="6994" y="3907"/>
                  </a:cubicBezTo>
                  <a:lnTo>
                    <a:pt x="6994" y="6679"/>
                  </a:lnTo>
                  <a:cubicBezTo>
                    <a:pt x="6994" y="6868"/>
                    <a:pt x="6837" y="7026"/>
                    <a:pt x="6616" y="7026"/>
                  </a:cubicBezTo>
                  <a:lnTo>
                    <a:pt x="5262" y="7026"/>
                  </a:lnTo>
                  <a:cubicBezTo>
                    <a:pt x="5041" y="7026"/>
                    <a:pt x="4884" y="6868"/>
                    <a:pt x="4884" y="6679"/>
                  </a:cubicBezTo>
                  <a:lnTo>
                    <a:pt x="4884" y="3907"/>
                  </a:lnTo>
                  <a:cubicBezTo>
                    <a:pt x="4884" y="3718"/>
                    <a:pt x="5041" y="3560"/>
                    <a:pt x="5262" y="3560"/>
                  </a:cubicBezTo>
                  <a:close/>
                  <a:moveTo>
                    <a:pt x="9389" y="2174"/>
                  </a:moveTo>
                  <a:cubicBezTo>
                    <a:pt x="9578" y="2174"/>
                    <a:pt x="9735" y="2331"/>
                    <a:pt x="9735" y="2520"/>
                  </a:cubicBezTo>
                  <a:lnTo>
                    <a:pt x="9735" y="6679"/>
                  </a:lnTo>
                  <a:cubicBezTo>
                    <a:pt x="9735" y="6868"/>
                    <a:pt x="9578" y="7026"/>
                    <a:pt x="9389" y="7026"/>
                  </a:cubicBezTo>
                  <a:lnTo>
                    <a:pt x="8003" y="7026"/>
                  </a:lnTo>
                  <a:cubicBezTo>
                    <a:pt x="7813" y="7026"/>
                    <a:pt x="7656" y="6868"/>
                    <a:pt x="7656" y="6679"/>
                  </a:cubicBezTo>
                  <a:lnTo>
                    <a:pt x="7656" y="2520"/>
                  </a:lnTo>
                  <a:cubicBezTo>
                    <a:pt x="7656" y="2331"/>
                    <a:pt x="7813" y="2174"/>
                    <a:pt x="8003" y="2174"/>
                  </a:cubicBezTo>
                  <a:close/>
                  <a:moveTo>
                    <a:pt x="5577" y="8412"/>
                  </a:moveTo>
                  <a:lnTo>
                    <a:pt x="5577" y="9105"/>
                  </a:lnTo>
                  <a:lnTo>
                    <a:pt x="5167" y="9105"/>
                  </a:lnTo>
                  <a:lnTo>
                    <a:pt x="5451" y="8412"/>
                  </a:lnTo>
                  <a:close/>
                  <a:moveTo>
                    <a:pt x="6396" y="8412"/>
                  </a:moveTo>
                  <a:lnTo>
                    <a:pt x="6679" y="9105"/>
                  </a:lnTo>
                  <a:lnTo>
                    <a:pt x="6270" y="9105"/>
                  </a:lnTo>
                  <a:lnTo>
                    <a:pt x="6270" y="8412"/>
                  </a:lnTo>
                  <a:close/>
                  <a:moveTo>
                    <a:pt x="5955" y="0"/>
                  </a:moveTo>
                  <a:cubicBezTo>
                    <a:pt x="5766" y="0"/>
                    <a:pt x="5608" y="158"/>
                    <a:pt x="5608" y="378"/>
                  </a:cubicBezTo>
                  <a:lnTo>
                    <a:pt x="5608" y="725"/>
                  </a:lnTo>
                  <a:lnTo>
                    <a:pt x="347" y="725"/>
                  </a:lnTo>
                  <a:cubicBezTo>
                    <a:pt x="158" y="725"/>
                    <a:pt x="0" y="882"/>
                    <a:pt x="0" y="1071"/>
                  </a:cubicBezTo>
                  <a:cubicBezTo>
                    <a:pt x="0" y="1260"/>
                    <a:pt x="158" y="1418"/>
                    <a:pt x="347" y="1418"/>
                  </a:cubicBezTo>
                  <a:lnTo>
                    <a:pt x="725" y="1418"/>
                  </a:lnTo>
                  <a:lnTo>
                    <a:pt x="725" y="7719"/>
                  </a:lnTo>
                  <a:lnTo>
                    <a:pt x="378" y="7719"/>
                  </a:lnTo>
                  <a:cubicBezTo>
                    <a:pt x="158" y="7719"/>
                    <a:pt x="0" y="7876"/>
                    <a:pt x="0" y="8097"/>
                  </a:cubicBezTo>
                  <a:cubicBezTo>
                    <a:pt x="0" y="8286"/>
                    <a:pt x="158" y="8443"/>
                    <a:pt x="378" y="8443"/>
                  </a:cubicBezTo>
                  <a:lnTo>
                    <a:pt x="4726" y="8443"/>
                  </a:lnTo>
                  <a:lnTo>
                    <a:pt x="3560" y="11436"/>
                  </a:lnTo>
                  <a:cubicBezTo>
                    <a:pt x="3466" y="11625"/>
                    <a:pt x="3560" y="11814"/>
                    <a:pt x="3749" y="11877"/>
                  </a:cubicBezTo>
                  <a:cubicBezTo>
                    <a:pt x="3788" y="11893"/>
                    <a:pt x="3831" y="11901"/>
                    <a:pt x="3876" y="11901"/>
                  </a:cubicBezTo>
                  <a:cubicBezTo>
                    <a:pt x="4016" y="11901"/>
                    <a:pt x="4167" y="11824"/>
                    <a:pt x="4190" y="11657"/>
                  </a:cubicBezTo>
                  <a:lnTo>
                    <a:pt x="4947" y="9830"/>
                  </a:lnTo>
                  <a:lnTo>
                    <a:pt x="5608" y="9830"/>
                  </a:lnTo>
                  <a:lnTo>
                    <a:pt x="5608" y="10838"/>
                  </a:lnTo>
                  <a:cubicBezTo>
                    <a:pt x="5608" y="11027"/>
                    <a:pt x="5766" y="11184"/>
                    <a:pt x="5955" y="11184"/>
                  </a:cubicBezTo>
                  <a:cubicBezTo>
                    <a:pt x="6144" y="11184"/>
                    <a:pt x="6301" y="11027"/>
                    <a:pt x="6301" y="10838"/>
                  </a:cubicBezTo>
                  <a:lnTo>
                    <a:pt x="6301" y="9830"/>
                  </a:lnTo>
                  <a:lnTo>
                    <a:pt x="6994" y="9830"/>
                  </a:lnTo>
                  <a:lnTo>
                    <a:pt x="7719" y="11657"/>
                  </a:lnTo>
                  <a:cubicBezTo>
                    <a:pt x="7791" y="11824"/>
                    <a:pt x="7916" y="11901"/>
                    <a:pt x="8042" y="11901"/>
                  </a:cubicBezTo>
                  <a:cubicBezTo>
                    <a:pt x="8082" y="11901"/>
                    <a:pt x="8122" y="11893"/>
                    <a:pt x="8160" y="11877"/>
                  </a:cubicBezTo>
                  <a:cubicBezTo>
                    <a:pt x="8349" y="11783"/>
                    <a:pt x="8444" y="11594"/>
                    <a:pt x="8349" y="11436"/>
                  </a:cubicBezTo>
                  <a:lnTo>
                    <a:pt x="7183" y="8443"/>
                  </a:lnTo>
                  <a:lnTo>
                    <a:pt x="11531" y="8443"/>
                  </a:lnTo>
                  <a:cubicBezTo>
                    <a:pt x="11752" y="8443"/>
                    <a:pt x="11909" y="8286"/>
                    <a:pt x="11909" y="8097"/>
                  </a:cubicBezTo>
                  <a:cubicBezTo>
                    <a:pt x="11909" y="7876"/>
                    <a:pt x="11752" y="7719"/>
                    <a:pt x="11531" y="7719"/>
                  </a:cubicBezTo>
                  <a:lnTo>
                    <a:pt x="11185" y="7719"/>
                  </a:lnTo>
                  <a:lnTo>
                    <a:pt x="11185" y="1418"/>
                  </a:lnTo>
                  <a:lnTo>
                    <a:pt x="11531" y="1418"/>
                  </a:lnTo>
                  <a:cubicBezTo>
                    <a:pt x="11752" y="1418"/>
                    <a:pt x="11909" y="1260"/>
                    <a:pt x="11909" y="1071"/>
                  </a:cubicBezTo>
                  <a:cubicBezTo>
                    <a:pt x="11909" y="882"/>
                    <a:pt x="11752" y="725"/>
                    <a:pt x="11531" y="725"/>
                  </a:cubicBezTo>
                  <a:lnTo>
                    <a:pt x="6301" y="725"/>
                  </a:lnTo>
                  <a:lnTo>
                    <a:pt x="6301" y="378"/>
                  </a:lnTo>
                  <a:cubicBezTo>
                    <a:pt x="6301" y="158"/>
                    <a:pt x="6144" y="0"/>
                    <a:pt x="595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15"/>
            <p:cNvSpPr/>
            <p:nvPr/>
          </p:nvSpPr>
          <p:spPr>
            <a:xfrm>
              <a:off x="1449475" y="4086575"/>
              <a:ext cx="17350" cy="52000"/>
            </a:xfrm>
            <a:custGeom>
              <a:rect b="b" l="l" r="r" t="t"/>
              <a:pathLst>
                <a:path extrusionOk="0" h="2080" w="694">
                  <a:moveTo>
                    <a:pt x="1" y="0"/>
                  </a:moveTo>
                  <a:lnTo>
                    <a:pt x="1" y="2080"/>
                  </a:lnTo>
                  <a:lnTo>
                    <a:pt x="694" y="2080"/>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5"/>
            <p:cNvSpPr/>
            <p:nvPr/>
          </p:nvSpPr>
          <p:spPr>
            <a:xfrm>
              <a:off x="1380175" y="4121225"/>
              <a:ext cx="17350" cy="17350"/>
            </a:xfrm>
            <a:custGeom>
              <a:rect b="b" l="l" r="r" t="t"/>
              <a:pathLst>
                <a:path extrusionOk="0" h="694" w="694">
                  <a:moveTo>
                    <a:pt x="0" y="0"/>
                  </a:moveTo>
                  <a:lnTo>
                    <a:pt x="0" y="694"/>
                  </a:lnTo>
                  <a:lnTo>
                    <a:pt x="693" y="694"/>
                  </a:lnTo>
                  <a:lnTo>
                    <a:pt x="69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5"/>
            <p:cNvSpPr/>
            <p:nvPr/>
          </p:nvSpPr>
          <p:spPr>
            <a:xfrm>
              <a:off x="1518800" y="4051925"/>
              <a:ext cx="18125" cy="86650"/>
            </a:xfrm>
            <a:custGeom>
              <a:rect b="b" l="l" r="r" t="t"/>
              <a:pathLst>
                <a:path extrusionOk="0" h="3466" w="725">
                  <a:moveTo>
                    <a:pt x="0" y="0"/>
                  </a:moveTo>
                  <a:lnTo>
                    <a:pt x="0" y="3466"/>
                  </a:lnTo>
                  <a:lnTo>
                    <a:pt x="725" y="3466"/>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4" name="Google Shape;224;p15"/>
          <p:cNvGrpSpPr/>
          <p:nvPr/>
        </p:nvGrpSpPr>
        <p:grpSpPr>
          <a:xfrm>
            <a:off x="108598" y="3529203"/>
            <a:ext cx="393805" cy="428342"/>
            <a:chOff x="2104275" y="3806450"/>
            <a:chExt cx="442975" cy="481825"/>
          </a:xfrm>
        </p:grpSpPr>
        <p:sp>
          <p:nvSpPr>
            <p:cNvPr id="225" name="Google Shape;225;p15"/>
            <p:cNvSpPr/>
            <p:nvPr/>
          </p:nvSpPr>
          <p:spPr>
            <a:xfrm>
              <a:off x="2104275" y="3806450"/>
              <a:ext cx="442975" cy="481825"/>
            </a:xfrm>
            <a:custGeom>
              <a:rect b="b" l="l" r="r" t="t"/>
              <a:pathLst>
                <a:path extrusionOk="0" h="19273" w="17719">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226" name="Google Shape;226;p15"/>
            <p:cNvSpPr/>
            <p:nvPr/>
          </p:nvSpPr>
          <p:spPr>
            <a:xfrm>
              <a:off x="2284200" y="4005050"/>
              <a:ext cx="84700" cy="84700"/>
            </a:xfrm>
            <a:custGeom>
              <a:rect b="b" l="l" r="r" t="t"/>
              <a:pathLst>
                <a:path extrusionOk="0" h="3388" w="3388">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sp>
        <p:nvSpPr>
          <p:cNvPr id="227" name="Google Shape;227;p15"/>
          <p:cNvSpPr txBox="1"/>
          <p:nvPr>
            <p:ph idx="12" type="sldNum"/>
          </p:nvPr>
        </p:nvSpPr>
        <p:spPr>
          <a:xfrm>
            <a:off x="8429659" y="460490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US"/>
              <a:t>‹#›</a:t>
            </a:fld>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6"/>
          <p:cNvSpPr txBox="1"/>
          <p:nvPr>
            <p:ph type="title"/>
          </p:nvPr>
        </p:nvSpPr>
        <p:spPr>
          <a:xfrm>
            <a:off x="325450" y="0"/>
            <a:ext cx="4479900" cy="465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800"/>
              <a:t>End to End </a:t>
            </a:r>
            <a:r>
              <a:rPr b="1" lang="en-US" sz="2800"/>
              <a:t>Workflow</a:t>
            </a:r>
            <a:endParaRPr sz="2800"/>
          </a:p>
        </p:txBody>
      </p:sp>
      <p:pic>
        <p:nvPicPr>
          <p:cNvPr id="233" name="Google Shape;233;p16"/>
          <p:cNvPicPr preferRelativeResize="0"/>
          <p:nvPr/>
        </p:nvPicPr>
        <p:blipFill>
          <a:blip r:embed="rId3">
            <a:alphaModFix/>
          </a:blip>
          <a:stretch>
            <a:fillRect/>
          </a:stretch>
        </p:blipFill>
        <p:spPr>
          <a:xfrm>
            <a:off x="325450" y="446100"/>
            <a:ext cx="8244500" cy="4568237"/>
          </a:xfrm>
          <a:prstGeom prst="rect">
            <a:avLst/>
          </a:prstGeom>
          <a:noFill/>
          <a:ln>
            <a:noFill/>
          </a:ln>
        </p:spPr>
      </p:pic>
      <p:sp>
        <p:nvSpPr>
          <p:cNvPr id="234" name="Google Shape;234;p16"/>
          <p:cNvSpPr txBox="1"/>
          <p:nvPr>
            <p:ph idx="12" type="sldNum"/>
          </p:nvPr>
        </p:nvSpPr>
        <p:spPr>
          <a:xfrm>
            <a:off x="8696725" y="4716125"/>
            <a:ext cx="325500" cy="298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7"/>
          <p:cNvSpPr txBox="1"/>
          <p:nvPr>
            <p:ph idx="1" type="subTitle"/>
          </p:nvPr>
        </p:nvSpPr>
        <p:spPr>
          <a:xfrm>
            <a:off x="46975" y="593250"/>
            <a:ext cx="5775300" cy="579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Sora SemiBold"/>
                <a:ea typeface="Sora SemiBold"/>
                <a:cs typeface="Sora SemiBold"/>
                <a:sym typeface="Sora SemiBold"/>
              </a:rPr>
              <a:t>Research Questions</a:t>
            </a:r>
            <a:endParaRPr>
              <a:latin typeface="Sora SemiBold"/>
              <a:ea typeface="Sora SemiBold"/>
              <a:cs typeface="Sora SemiBold"/>
              <a:sym typeface="Sora SemiBold"/>
            </a:endParaRPr>
          </a:p>
        </p:txBody>
      </p:sp>
      <p:sp>
        <p:nvSpPr>
          <p:cNvPr id="240" name="Google Shape;240;p17"/>
          <p:cNvSpPr txBox="1"/>
          <p:nvPr/>
        </p:nvSpPr>
        <p:spPr>
          <a:xfrm>
            <a:off x="637350" y="1375375"/>
            <a:ext cx="7869300" cy="34779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1400"/>
              </a:spcBef>
              <a:spcAft>
                <a:spcPts val="0"/>
              </a:spcAft>
              <a:buSzPts val="1300"/>
              <a:buFont typeface="Times New Roman"/>
              <a:buAutoNum type="arabicPeriod"/>
            </a:pPr>
            <a:r>
              <a:rPr b="1" lang="en-US" sz="1300">
                <a:latin typeface="Times New Roman"/>
                <a:ea typeface="Times New Roman"/>
                <a:cs typeface="Times New Roman"/>
                <a:sym typeface="Times New Roman"/>
              </a:rPr>
              <a:t> How do separate models compare to one unified model?</a:t>
            </a:r>
            <a:endParaRPr b="1" sz="13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1300">
                <a:latin typeface="Times New Roman"/>
                <a:ea typeface="Times New Roman"/>
                <a:cs typeface="Times New Roman"/>
                <a:sym typeface="Times New Roman"/>
              </a:rPr>
              <a:t>If we train three different transformer models—one for detecting fake news, one for hate speech, and one for toxic comments—do they work better than a single model that tries to do everything at once?</a:t>
            </a:r>
            <a:endParaRPr sz="1300">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1300">
                <a:latin typeface="Times New Roman"/>
                <a:ea typeface="Times New Roman"/>
                <a:cs typeface="Times New Roman"/>
                <a:sym typeface="Times New Roman"/>
              </a:rPr>
              <a:t>Hypotheses:</a:t>
            </a:r>
            <a:endParaRPr sz="1300">
              <a:latin typeface="Times New Roman"/>
              <a:ea typeface="Times New Roman"/>
              <a:cs typeface="Times New Roman"/>
              <a:sym typeface="Times New Roman"/>
            </a:endParaRPr>
          </a:p>
          <a:p>
            <a:pPr indent="-311150" lvl="0" marL="457200" rtl="0" algn="l">
              <a:lnSpc>
                <a:spcPct val="115000"/>
              </a:lnSpc>
              <a:spcBef>
                <a:spcPts val="1200"/>
              </a:spcBef>
              <a:spcAft>
                <a:spcPts val="0"/>
              </a:spcAft>
              <a:buSzPts val="1300"/>
              <a:buChar char="●"/>
            </a:pPr>
            <a:r>
              <a:rPr b="1" lang="en-US" sz="1300">
                <a:latin typeface="Times New Roman"/>
                <a:ea typeface="Times New Roman"/>
                <a:cs typeface="Times New Roman"/>
                <a:sym typeface="Times New Roman"/>
              </a:rPr>
              <a:t>Separate models might be better</a:t>
            </a:r>
            <a:r>
              <a:rPr lang="en-US" sz="1300">
                <a:latin typeface="Times New Roman"/>
                <a:ea typeface="Times New Roman"/>
                <a:cs typeface="Times New Roman"/>
                <a:sym typeface="Times New Roman"/>
              </a:rPr>
              <a:t> because they focus on just one task and learn specific details more effectively.</a:t>
            </a:r>
            <a:endParaRPr sz="1300">
              <a:latin typeface="Times New Roman"/>
              <a:ea typeface="Times New Roman"/>
              <a:cs typeface="Times New Roman"/>
              <a:sym typeface="Times New Roman"/>
            </a:endParaRPr>
          </a:p>
          <a:p>
            <a:pPr indent="-311150" lvl="0" marL="457200" rtl="0" algn="l">
              <a:lnSpc>
                <a:spcPct val="115000"/>
              </a:lnSpc>
              <a:spcBef>
                <a:spcPts val="0"/>
              </a:spcBef>
              <a:spcAft>
                <a:spcPts val="0"/>
              </a:spcAft>
              <a:buSzPts val="1300"/>
              <a:buChar char="●"/>
            </a:pPr>
            <a:r>
              <a:rPr b="1" lang="en-US" sz="1300">
                <a:latin typeface="Times New Roman"/>
                <a:ea typeface="Times New Roman"/>
                <a:cs typeface="Times New Roman"/>
                <a:sym typeface="Times New Roman"/>
              </a:rPr>
              <a:t>A unified model might be better</a:t>
            </a:r>
            <a:r>
              <a:rPr lang="en-US" sz="1300">
                <a:latin typeface="Times New Roman"/>
                <a:ea typeface="Times New Roman"/>
                <a:cs typeface="Times New Roman"/>
                <a:sym typeface="Times New Roman"/>
              </a:rPr>
              <a:t> because it can find connections between fake news, hate speech, and toxicity, improving overall detection.</a:t>
            </a:r>
            <a:endParaRPr sz="1300">
              <a:latin typeface="Times New Roman"/>
              <a:ea typeface="Times New Roman"/>
              <a:cs typeface="Times New Roman"/>
              <a:sym typeface="Times New Roman"/>
            </a:endParaRPr>
          </a:p>
          <a:p>
            <a:pPr indent="-311150" lvl="0" marL="457200" rtl="0" algn="l">
              <a:lnSpc>
                <a:spcPct val="115000"/>
              </a:lnSpc>
              <a:spcBef>
                <a:spcPts val="0"/>
              </a:spcBef>
              <a:spcAft>
                <a:spcPts val="0"/>
              </a:spcAft>
              <a:buSzPts val="1300"/>
              <a:buFont typeface="Times New Roman"/>
              <a:buAutoNum type="arabicPeriod"/>
            </a:pPr>
            <a:r>
              <a:rPr b="1" lang="en-US" sz="1300">
                <a:latin typeface="Times New Roman"/>
                <a:ea typeface="Times New Roman"/>
                <a:cs typeface="Times New Roman"/>
                <a:sym typeface="Times New Roman"/>
              </a:rPr>
              <a:t>What conclusions can be drawn from the combined detection of fake news, toxicity, and hate speech? How can this contribute to fostering informed public engagement and improving the quality of social media?</a:t>
            </a:r>
            <a:endParaRPr b="1" sz="1300">
              <a:solidFill>
                <a:schemeClr val="dk1"/>
              </a:solidFill>
              <a:latin typeface="Times New Roman"/>
              <a:ea typeface="Times New Roman"/>
              <a:cs typeface="Times New Roman"/>
              <a:sym typeface="Times New Roman"/>
            </a:endParaRPr>
          </a:p>
        </p:txBody>
      </p:sp>
      <p:sp>
        <p:nvSpPr>
          <p:cNvPr id="241" name="Google Shape;241;p17"/>
          <p:cNvSpPr txBox="1"/>
          <p:nvPr>
            <p:ph idx="12" type="sldNum"/>
          </p:nvPr>
        </p:nvSpPr>
        <p:spPr>
          <a:xfrm>
            <a:off x="8168725" y="4457900"/>
            <a:ext cx="548700" cy="579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8"/>
          <p:cNvSpPr txBox="1"/>
          <p:nvPr>
            <p:ph type="ctrTitle"/>
          </p:nvPr>
        </p:nvSpPr>
        <p:spPr>
          <a:xfrm>
            <a:off x="1355250" y="1696500"/>
            <a:ext cx="6433500" cy="17505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US" sz="2500">
                <a:solidFill>
                  <a:schemeClr val="dk2"/>
                </a:solidFill>
              </a:rPr>
              <a:t>MODEL  ARCHITECTURE</a:t>
            </a:r>
            <a:endParaRPr sz="2500">
              <a:solidFill>
                <a:schemeClr val="dk2"/>
              </a:solidFill>
            </a:endParaRPr>
          </a:p>
        </p:txBody>
      </p:sp>
      <p:sp>
        <p:nvSpPr>
          <p:cNvPr id="247" name="Google Shape;247;p18"/>
          <p:cNvSpPr txBox="1"/>
          <p:nvPr>
            <p:ph idx="12" type="sldNum"/>
          </p:nvPr>
        </p:nvSpPr>
        <p:spPr>
          <a:xfrm>
            <a:off x="8215759" y="467930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246"/>
                                        </p:tgtEl>
                                        <p:attrNameLst>
                                          <p:attrName>style.visibility</p:attrName>
                                        </p:attrNameLst>
                                      </p:cBhvr>
                                      <p:to>
                                        <p:strVal val="visible"/>
                                      </p:to>
                                    </p:set>
                                    <p:anim calcmode="lin" valueType="num">
                                      <p:cBhvr additive="base">
                                        <p:cTn dur="1000"/>
                                        <p:tgtEl>
                                          <p:spTgt spid="246"/>
                                        </p:tgtEl>
                                        <p:attrNameLst>
                                          <p:attrName>ppt_w</p:attrName>
                                        </p:attrNameLst>
                                      </p:cBhvr>
                                      <p:tavLst>
                                        <p:tav fmla="" tm="0">
                                          <p:val>
                                            <p:strVal val="0"/>
                                          </p:val>
                                        </p:tav>
                                        <p:tav fmla="" tm="100000">
                                          <p:val>
                                            <p:strVal val="#ppt_w"/>
                                          </p:val>
                                        </p:tav>
                                      </p:tavLst>
                                    </p:anim>
                                    <p:anim calcmode="lin" valueType="num">
                                      <p:cBhvr additive="base">
                                        <p:cTn dur="1000"/>
                                        <p:tgtEl>
                                          <p:spTgt spid="24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9"/>
          <p:cNvSpPr txBox="1"/>
          <p:nvPr>
            <p:ph idx="4294967295" type="title"/>
          </p:nvPr>
        </p:nvSpPr>
        <p:spPr>
          <a:xfrm>
            <a:off x="552400" y="586750"/>
            <a:ext cx="8004300" cy="5730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Clr>
                <a:schemeClr val="dk1"/>
              </a:buClr>
              <a:buSzPts val="3000"/>
              <a:buFont typeface="Sora"/>
              <a:buNone/>
            </a:pPr>
            <a:r>
              <a:rPr b="1" lang="en-US" sz="2800">
                <a:solidFill>
                  <a:schemeClr val="dk2"/>
                </a:solidFill>
              </a:rPr>
              <a:t>D</a:t>
            </a:r>
            <a:r>
              <a:rPr lang="en-US" sz="2800">
                <a:solidFill>
                  <a:schemeClr val="dk2"/>
                </a:solidFill>
              </a:rPr>
              <a:t>ATASETS :</a:t>
            </a:r>
            <a:r>
              <a:rPr lang="en-US" sz="2800">
                <a:solidFill>
                  <a:schemeClr val="dk2"/>
                </a:solidFill>
              </a:rPr>
              <a:t> For Individual Models Training</a:t>
            </a:r>
            <a:endParaRPr sz="2800">
              <a:solidFill>
                <a:schemeClr val="dk2"/>
              </a:solidFill>
            </a:endParaRPr>
          </a:p>
        </p:txBody>
      </p:sp>
      <p:sp>
        <p:nvSpPr>
          <p:cNvPr id="253" name="Google Shape;253;p19"/>
          <p:cNvSpPr txBox="1"/>
          <p:nvPr>
            <p:ph idx="4294967295" type="body"/>
          </p:nvPr>
        </p:nvSpPr>
        <p:spPr>
          <a:xfrm>
            <a:off x="483649" y="1314413"/>
            <a:ext cx="8115300" cy="3673500"/>
          </a:xfrm>
          <a:prstGeom prst="rect">
            <a:avLst/>
          </a:prstGeom>
          <a:noFill/>
          <a:ln>
            <a:noFill/>
          </a:ln>
        </p:spPr>
        <p:txBody>
          <a:bodyPr anchorCtr="0" anchor="t" bIns="91425" lIns="91425" spcFirstLastPara="1" rIns="91425" wrap="square" tIns="91425">
            <a:noAutofit/>
          </a:bodyPr>
          <a:lstStyle/>
          <a:p>
            <a:pPr indent="0" lvl="0" marL="139700" rtl="0" algn="l">
              <a:lnSpc>
                <a:spcPct val="150000"/>
              </a:lnSpc>
              <a:spcBef>
                <a:spcPts val="0"/>
              </a:spcBef>
              <a:spcAft>
                <a:spcPts val="0"/>
              </a:spcAft>
              <a:buSzPts val="1400"/>
              <a:buNone/>
            </a:pPr>
            <a:r>
              <a:rPr b="1" lang="en-US">
                <a:latin typeface="Calibri"/>
                <a:ea typeface="Calibri"/>
                <a:cs typeface="Calibri"/>
                <a:sym typeface="Calibri"/>
              </a:rPr>
              <a:t>Datasets</a:t>
            </a:r>
            <a:r>
              <a:rPr lang="en-US">
                <a:latin typeface="Calibri"/>
                <a:ea typeface="Calibri"/>
                <a:cs typeface="Calibri"/>
                <a:sym typeface="Calibri"/>
              </a:rPr>
              <a:t>:</a:t>
            </a:r>
            <a:endParaRPr/>
          </a:p>
          <a:p>
            <a:pPr indent="-285750" lvl="1" marL="628650" rtl="0" algn="l">
              <a:lnSpc>
                <a:spcPct val="150000"/>
              </a:lnSpc>
              <a:spcBef>
                <a:spcPts val="0"/>
              </a:spcBef>
              <a:spcAft>
                <a:spcPts val="0"/>
              </a:spcAft>
              <a:buSzPts val="1400"/>
              <a:buFont typeface="Calibri"/>
              <a:buChar char="⌂"/>
            </a:pPr>
            <a:r>
              <a:rPr b="1" lang="en-US">
                <a:latin typeface="Calibri"/>
                <a:ea typeface="Calibri"/>
                <a:cs typeface="Calibri"/>
                <a:sym typeface="Calibri"/>
              </a:rPr>
              <a:t>DeFaktS</a:t>
            </a:r>
            <a:r>
              <a:rPr lang="en-US">
                <a:latin typeface="Calibri"/>
                <a:ea typeface="Calibri"/>
                <a:cs typeface="Calibri"/>
                <a:sym typeface="Calibri"/>
              </a:rPr>
              <a:t>: For </a:t>
            </a:r>
            <a:r>
              <a:rPr i="1" lang="en-US">
                <a:latin typeface="Calibri"/>
                <a:ea typeface="Calibri"/>
                <a:cs typeface="Calibri"/>
                <a:sym typeface="Calibri"/>
              </a:rPr>
              <a:t>fake news</a:t>
            </a:r>
            <a:r>
              <a:rPr lang="en-US">
                <a:latin typeface="Calibri"/>
                <a:ea typeface="Calibri"/>
                <a:cs typeface="Calibri"/>
                <a:sym typeface="Calibri"/>
              </a:rPr>
              <a:t> detection.</a:t>
            </a:r>
            <a:endParaRPr/>
          </a:p>
          <a:p>
            <a:pPr indent="-285750" lvl="1" marL="628650" rtl="0" algn="l">
              <a:lnSpc>
                <a:spcPct val="150000"/>
              </a:lnSpc>
              <a:spcBef>
                <a:spcPts val="0"/>
              </a:spcBef>
              <a:spcAft>
                <a:spcPts val="0"/>
              </a:spcAft>
              <a:buSzPts val="1400"/>
              <a:buFont typeface="Calibri"/>
              <a:buChar char="⌂"/>
            </a:pPr>
            <a:r>
              <a:rPr b="1" lang="en-US">
                <a:latin typeface="Calibri"/>
                <a:ea typeface="Calibri"/>
                <a:cs typeface="Calibri"/>
                <a:sym typeface="Calibri"/>
              </a:rPr>
              <a:t>GAHD</a:t>
            </a:r>
            <a:r>
              <a:rPr lang="en-US">
                <a:latin typeface="Calibri"/>
                <a:ea typeface="Calibri"/>
                <a:cs typeface="Calibri"/>
                <a:sym typeface="Calibri"/>
              </a:rPr>
              <a:t>: For </a:t>
            </a:r>
            <a:r>
              <a:rPr i="1" lang="en-US">
                <a:latin typeface="Calibri"/>
                <a:ea typeface="Calibri"/>
                <a:cs typeface="Calibri"/>
                <a:sym typeface="Calibri"/>
              </a:rPr>
              <a:t>hate speech</a:t>
            </a:r>
            <a:r>
              <a:rPr lang="en-US">
                <a:latin typeface="Calibri"/>
                <a:ea typeface="Calibri"/>
                <a:cs typeface="Calibri"/>
                <a:sym typeface="Calibri"/>
              </a:rPr>
              <a:t>.</a:t>
            </a:r>
            <a:endParaRPr/>
          </a:p>
          <a:p>
            <a:pPr indent="-285750" lvl="1" marL="628650" rtl="0" algn="l">
              <a:lnSpc>
                <a:spcPct val="150000"/>
              </a:lnSpc>
              <a:spcBef>
                <a:spcPts val="0"/>
              </a:spcBef>
              <a:spcAft>
                <a:spcPts val="0"/>
              </a:spcAft>
              <a:buSzPts val="1400"/>
              <a:buFont typeface="Calibri"/>
              <a:buChar char="⌂"/>
            </a:pPr>
            <a:r>
              <a:rPr b="1" lang="en-US">
                <a:latin typeface="Calibri"/>
                <a:ea typeface="Calibri"/>
                <a:cs typeface="Calibri"/>
                <a:sym typeface="Calibri"/>
              </a:rPr>
              <a:t>DeTox</a:t>
            </a:r>
            <a:r>
              <a:rPr lang="en-US">
                <a:latin typeface="Calibri"/>
                <a:ea typeface="Calibri"/>
                <a:cs typeface="Calibri"/>
                <a:sym typeface="Calibri"/>
              </a:rPr>
              <a:t>: For </a:t>
            </a:r>
            <a:r>
              <a:rPr i="1" lang="en-US">
                <a:latin typeface="Calibri"/>
                <a:ea typeface="Calibri"/>
                <a:cs typeface="Calibri"/>
                <a:sym typeface="Calibri"/>
              </a:rPr>
              <a:t>toxicity</a:t>
            </a:r>
            <a:r>
              <a:rPr lang="en-US">
                <a:latin typeface="Calibri"/>
                <a:ea typeface="Calibri"/>
                <a:cs typeface="Calibri"/>
                <a:sym typeface="Calibri"/>
              </a:rPr>
              <a:t>.</a:t>
            </a:r>
            <a:endParaRPr>
              <a:latin typeface="Calibri"/>
              <a:ea typeface="Calibri"/>
              <a:cs typeface="Calibri"/>
              <a:sym typeface="Calibri"/>
            </a:endParaRPr>
          </a:p>
          <a:p>
            <a:pPr indent="0" lvl="0" marL="914400" rtl="0" algn="l">
              <a:lnSpc>
                <a:spcPct val="150000"/>
              </a:lnSpc>
              <a:spcBef>
                <a:spcPts val="0"/>
              </a:spcBef>
              <a:spcAft>
                <a:spcPts val="0"/>
              </a:spcAft>
              <a:buNone/>
            </a:pPr>
            <a:r>
              <a:t/>
            </a:r>
            <a:endParaRPr>
              <a:latin typeface="Calibri"/>
              <a:ea typeface="Calibri"/>
              <a:cs typeface="Calibri"/>
              <a:sym typeface="Calibri"/>
            </a:endParaRPr>
          </a:p>
          <a:p>
            <a:pPr indent="0" lvl="0" marL="139700" rtl="0" algn="l">
              <a:lnSpc>
                <a:spcPct val="150000"/>
              </a:lnSpc>
              <a:spcBef>
                <a:spcPts val="0"/>
              </a:spcBef>
              <a:spcAft>
                <a:spcPts val="0"/>
              </a:spcAft>
              <a:buSzPts val="1400"/>
              <a:buNone/>
            </a:pPr>
            <a:r>
              <a:rPr b="1" lang="en-US">
                <a:latin typeface="Calibri"/>
                <a:ea typeface="Calibri"/>
                <a:cs typeface="Calibri"/>
                <a:sym typeface="Calibri"/>
              </a:rPr>
              <a:t>Preprocessing</a:t>
            </a:r>
            <a:r>
              <a:rPr lang="en-US">
                <a:latin typeface="Calibri"/>
                <a:ea typeface="Calibri"/>
                <a:cs typeface="Calibri"/>
                <a:sym typeface="Calibri"/>
              </a:rPr>
              <a:t>:</a:t>
            </a:r>
            <a:endParaRPr/>
          </a:p>
          <a:p>
            <a:pPr indent="0" lvl="1" marL="342900" rtl="0" algn="l">
              <a:lnSpc>
                <a:spcPct val="150000"/>
              </a:lnSpc>
              <a:spcBef>
                <a:spcPts val="0"/>
              </a:spcBef>
              <a:spcAft>
                <a:spcPts val="0"/>
              </a:spcAft>
              <a:buSzPts val="1400"/>
              <a:buNone/>
            </a:pPr>
            <a:r>
              <a:rPr lang="en-US">
                <a:latin typeface="Calibri"/>
                <a:ea typeface="Calibri"/>
                <a:cs typeface="Calibri"/>
                <a:sym typeface="Calibri"/>
              </a:rPr>
              <a:t>Text normalization, tokenization, Replace URL, Resample minority class, combine &amp; shuffle, Padding, Convert labels to integer, Drop missing values.</a:t>
            </a:r>
            <a:endParaRPr>
              <a:latin typeface="Calibri"/>
              <a:ea typeface="Calibri"/>
              <a:cs typeface="Calibri"/>
              <a:sym typeface="Calibri"/>
            </a:endParaRPr>
          </a:p>
          <a:p>
            <a:pPr indent="0" lvl="1" marL="342900" rtl="0" algn="l">
              <a:lnSpc>
                <a:spcPct val="150000"/>
              </a:lnSpc>
              <a:spcBef>
                <a:spcPts val="0"/>
              </a:spcBef>
              <a:spcAft>
                <a:spcPts val="0"/>
              </a:spcAft>
              <a:buSzPts val="1400"/>
              <a:buNone/>
            </a:pPr>
            <a:r>
              <a:t/>
            </a:r>
            <a:endParaRPr>
              <a:latin typeface="Calibri"/>
              <a:ea typeface="Calibri"/>
              <a:cs typeface="Calibri"/>
              <a:sym typeface="Calibri"/>
            </a:endParaRPr>
          </a:p>
        </p:txBody>
      </p:sp>
      <p:sp>
        <p:nvSpPr>
          <p:cNvPr id="254" name="Google Shape;254;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0"/>
          <p:cNvSpPr txBox="1"/>
          <p:nvPr>
            <p:ph idx="4294967295" type="title"/>
          </p:nvPr>
        </p:nvSpPr>
        <p:spPr>
          <a:xfrm>
            <a:off x="509286" y="288131"/>
            <a:ext cx="7718425" cy="573088"/>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3000"/>
              <a:buFont typeface="Sora"/>
              <a:buNone/>
            </a:pPr>
            <a:r>
              <a:rPr b="1" lang="en-US"/>
              <a:t>Model Training</a:t>
            </a:r>
            <a:endParaRPr/>
          </a:p>
        </p:txBody>
      </p:sp>
      <p:sp>
        <p:nvSpPr>
          <p:cNvPr id="260" name="Google Shape;260;p20"/>
          <p:cNvSpPr txBox="1"/>
          <p:nvPr>
            <p:ph idx="4294967295" type="body"/>
          </p:nvPr>
        </p:nvSpPr>
        <p:spPr>
          <a:xfrm>
            <a:off x="713425" y="1144976"/>
            <a:ext cx="7856400" cy="3770100"/>
          </a:xfrm>
          <a:prstGeom prst="rect">
            <a:avLst/>
          </a:prstGeom>
          <a:noFill/>
          <a:ln>
            <a:noFill/>
          </a:ln>
        </p:spPr>
        <p:txBody>
          <a:bodyPr anchorCtr="0" anchor="t" bIns="91425" lIns="91425" spcFirstLastPara="1" rIns="91425" wrap="square" tIns="91425">
            <a:noAutofit/>
          </a:bodyPr>
          <a:lstStyle/>
          <a:p>
            <a:pPr indent="0" lvl="1" marL="342900" rtl="0" algn="l">
              <a:lnSpc>
                <a:spcPct val="150000"/>
              </a:lnSpc>
              <a:spcBef>
                <a:spcPts val="0"/>
              </a:spcBef>
              <a:spcAft>
                <a:spcPts val="0"/>
              </a:spcAft>
              <a:buSzPts val="1400"/>
              <a:buNone/>
            </a:pPr>
            <a:r>
              <a:rPr b="1" lang="en-US" sz="1600" u="sng">
                <a:latin typeface="Calibri"/>
                <a:ea typeface="Calibri"/>
                <a:cs typeface="Calibri"/>
                <a:sym typeface="Calibri"/>
              </a:rPr>
              <a:t>Individual Models</a:t>
            </a:r>
            <a:endParaRPr b="1" sz="1600" u="sng">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Char char="Ꙩ"/>
            </a:pPr>
            <a:r>
              <a:rPr lang="en-US">
                <a:latin typeface="Calibri"/>
                <a:ea typeface="Calibri"/>
                <a:cs typeface="Calibri"/>
                <a:sym typeface="Calibri"/>
              </a:rPr>
              <a:t>Individual learning for Fake News, Hate Speech, and Toxicity detection.</a:t>
            </a:r>
            <a:endParaRPr/>
          </a:p>
          <a:p>
            <a:pPr indent="-317500" lvl="0" marL="457200" rtl="0" algn="l">
              <a:lnSpc>
                <a:spcPct val="150000"/>
              </a:lnSpc>
              <a:spcBef>
                <a:spcPts val="0"/>
              </a:spcBef>
              <a:spcAft>
                <a:spcPts val="0"/>
              </a:spcAft>
              <a:buSzPts val="1400"/>
              <a:buFont typeface="Calibri"/>
              <a:buChar char="Ꙩ"/>
            </a:pPr>
            <a:r>
              <a:rPr lang="en-US">
                <a:latin typeface="Calibri"/>
                <a:ea typeface="Calibri"/>
                <a:cs typeface="Calibri"/>
                <a:sym typeface="Calibri"/>
              </a:rPr>
              <a:t>Model Used</a:t>
            </a:r>
            <a:r>
              <a:rPr lang="en-US">
                <a:latin typeface="Calibri"/>
                <a:ea typeface="Calibri"/>
                <a:cs typeface="Calibri"/>
                <a:sym typeface="Calibri"/>
              </a:rPr>
              <a:t> :	</a:t>
            </a:r>
            <a:br>
              <a:rPr lang="en-US">
                <a:latin typeface="Calibri"/>
                <a:ea typeface="Calibri"/>
                <a:cs typeface="Calibri"/>
                <a:sym typeface="Calibri"/>
              </a:rPr>
            </a:br>
            <a:r>
              <a:rPr lang="en-US">
                <a:latin typeface="Calibri"/>
                <a:ea typeface="Calibri"/>
                <a:cs typeface="Calibri"/>
                <a:sym typeface="Calibri"/>
              </a:rPr>
              <a:t>	1. </a:t>
            </a:r>
            <a:r>
              <a:rPr lang="en-US">
                <a:latin typeface="Calibri"/>
                <a:ea typeface="Calibri"/>
                <a:cs typeface="Calibri"/>
                <a:sym typeface="Calibri"/>
              </a:rPr>
              <a:t>distilbert-base-german-cased (DefaktS_Twitter_dataset) for Fake News.</a:t>
            </a:r>
            <a:endParaRPr>
              <a:latin typeface="Calibri"/>
              <a:ea typeface="Calibri"/>
              <a:cs typeface="Calibri"/>
              <a:sym typeface="Calibri"/>
            </a:endParaRPr>
          </a:p>
          <a:p>
            <a:pPr indent="0" lvl="0" marL="914400" rtl="0" algn="l">
              <a:lnSpc>
                <a:spcPct val="150000"/>
              </a:lnSpc>
              <a:spcBef>
                <a:spcPts val="0"/>
              </a:spcBef>
              <a:spcAft>
                <a:spcPts val="0"/>
              </a:spcAft>
              <a:buNone/>
            </a:pPr>
            <a:r>
              <a:rPr lang="en-US">
                <a:latin typeface="Calibri"/>
                <a:ea typeface="Calibri"/>
                <a:cs typeface="Calibri"/>
                <a:sym typeface="Calibri"/>
              </a:rPr>
              <a:t>2.  xlm-roberta-base-multilingual (GAHD) for hate speech.</a:t>
            </a:r>
            <a:endParaRPr>
              <a:latin typeface="Calibri"/>
              <a:ea typeface="Calibri"/>
              <a:cs typeface="Calibri"/>
              <a:sym typeface="Calibri"/>
            </a:endParaRPr>
          </a:p>
          <a:p>
            <a:pPr indent="0" lvl="0" marL="914400" rtl="0" algn="l">
              <a:lnSpc>
                <a:spcPct val="150000"/>
              </a:lnSpc>
              <a:spcBef>
                <a:spcPts val="0"/>
              </a:spcBef>
              <a:spcAft>
                <a:spcPts val="0"/>
              </a:spcAft>
              <a:buNone/>
            </a:pPr>
            <a:r>
              <a:rPr lang="en-US">
                <a:latin typeface="Calibri"/>
                <a:ea typeface="Calibri"/>
                <a:cs typeface="Calibri"/>
                <a:sym typeface="Calibri"/>
              </a:rPr>
              <a:t>3. bert-base-multilingual-cased (DeTOX) for toxicity.</a:t>
            </a:r>
            <a:endParaRPr/>
          </a:p>
          <a:p>
            <a:pPr indent="-317500" lvl="0" marL="457200" rtl="0" algn="l">
              <a:lnSpc>
                <a:spcPct val="150000"/>
              </a:lnSpc>
              <a:spcBef>
                <a:spcPts val="0"/>
              </a:spcBef>
              <a:spcAft>
                <a:spcPts val="0"/>
              </a:spcAft>
              <a:buSzPts val="1400"/>
              <a:buFont typeface="Calibri"/>
              <a:buChar char="Ꙩ"/>
            </a:pPr>
            <a:r>
              <a:rPr lang="en-US">
                <a:latin typeface="Calibri"/>
                <a:ea typeface="Calibri"/>
                <a:cs typeface="Calibri"/>
                <a:sym typeface="Calibri"/>
              </a:rPr>
              <a:t>Evaluation Metrics: Precision, Recall, F1-score, Accuracy.</a:t>
            </a:r>
            <a:endParaRPr>
              <a:latin typeface="Calibri"/>
              <a:ea typeface="Calibri"/>
              <a:cs typeface="Calibri"/>
              <a:sym typeface="Calibri"/>
            </a:endParaRPr>
          </a:p>
          <a:p>
            <a:pPr indent="0" lvl="0" marL="0" rtl="0" algn="l">
              <a:lnSpc>
                <a:spcPct val="150000"/>
              </a:lnSpc>
              <a:spcBef>
                <a:spcPts val="0"/>
              </a:spcBef>
              <a:spcAft>
                <a:spcPts val="0"/>
              </a:spcAft>
              <a:buNone/>
            </a:pPr>
            <a:r>
              <a:t/>
            </a:r>
            <a:endParaRPr>
              <a:latin typeface="Calibri"/>
              <a:ea typeface="Calibri"/>
              <a:cs typeface="Calibri"/>
              <a:sym typeface="Calibri"/>
            </a:endParaRPr>
          </a:p>
          <a:p>
            <a:pPr indent="-228600" lvl="0" marL="457200" rtl="0" algn="l">
              <a:lnSpc>
                <a:spcPct val="150000"/>
              </a:lnSpc>
              <a:spcBef>
                <a:spcPts val="0"/>
              </a:spcBef>
              <a:spcAft>
                <a:spcPts val="0"/>
              </a:spcAft>
              <a:buSzPts val="1400"/>
              <a:buFont typeface="Calibri"/>
              <a:buNone/>
            </a:pPr>
            <a:r>
              <a:t/>
            </a:r>
            <a:endParaRPr>
              <a:latin typeface="Calibri"/>
              <a:ea typeface="Calibri"/>
              <a:cs typeface="Calibri"/>
              <a:sym typeface="Calibri"/>
            </a:endParaRPr>
          </a:p>
          <a:p>
            <a:pPr indent="-125412" lvl="1" marL="557213" rtl="0" algn="l">
              <a:lnSpc>
                <a:spcPct val="150000"/>
              </a:lnSpc>
              <a:spcBef>
                <a:spcPts val="0"/>
              </a:spcBef>
              <a:spcAft>
                <a:spcPts val="0"/>
              </a:spcAft>
              <a:buSzPts val="1400"/>
              <a:buFont typeface="Arial"/>
              <a:buNone/>
            </a:pPr>
            <a:r>
              <a:t/>
            </a:r>
            <a:endParaRPr>
              <a:latin typeface="Calibri"/>
              <a:ea typeface="Calibri"/>
              <a:cs typeface="Calibri"/>
              <a:sym typeface="Calibri"/>
            </a:endParaRPr>
          </a:p>
        </p:txBody>
      </p:sp>
      <p:sp>
        <p:nvSpPr>
          <p:cNvPr id="261" name="Google Shape;261;p20"/>
          <p:cNvSpPr txBox="1"/>
          <p:nvPr/>
        </p:nvSpPr>
        <p:spPr>
          <a:xfrm>
            <a:off x="5421325" y="2151075"/>
            <a:ext cx="373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Lato"/>
              <a:ea typeface="Lato"/>
              <a:cs typeface="Lato"/>
              <a:sym typeface="Lato"/>
            </a:endParaRPr>
          </a:p>
        </p:txBody>
      </p:sp>
      <p:sp>
        <p:nvSpPr>
          <p:cNvPr id="262" name="Google Shape;262;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1"/>
          <p:cNvSpPr txBox="1"/>
          <p:nvPr>
            <p:ph type="title"/>
          </p:nvPr>
        </p:nvSpPr>
        <p:spPr>
          <a:xfrm>
            <a:off x="286625" y="0"/>
            <a:ext cx="6905700" cy="45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800"/>
              <a:t>Individual</a:t>
            </a:r>
            <a:r>
              <a:rPr lang="en-US" sz="2800"/>
              <a:t> Model Workflow </a:t>
            </a:r>
            <a:endParaRPr sz="2800"/>
          </a:p>
        </p:txBody>
      </p:sp>
      <p:pic>
        <p:nvPicPr>
          <p:cNvPr id="268" name="Google Shape;268;p21"/>
          <p:cNvPicPr preferRelativeResize="0"/>
          <p:nvPr/>
        </p:nvPicPr>
        <p:blipFill rotWithShape="1">
          <a:blip r:embed="rId3">
            <a:alphaModFix/>
          </a:blip>
          <a:srcRect b="4108" l="2851" r="2091" t="6565"/>
          <a:stretch/>
        </p:blipFill>
        <p:spPr>
          <a:xfrm>
            <a:off x="426850" y="650950"/>
            <a:ext cx="8154726" cy="4429002"/>
          </a:xfrm>
          <a:prstGeom prst="rect">
            <a:avLst/>
          </a:prstGeom>
          <a:noFill/>
          <a:ln>
            <a:noFill/>
          </a:ln>
        </p:spPr>
      </p:pic>
      <p:sp>
        <p:nvSpPr>
          <p:cNvPr id="269" name="Google Shape;269;p21"/>
          <p:cNvSpPr txBox="1"/>
          <p:nvPr>
            <p:ph idx="12" type="sldNum"/>
          </p:nvPr>
        </p:nvSpPr>
        <p:spPr>
          <a:xfrm>
            <a:off x="8531475" y="4780550"/>
            <a:ext cx="396900" cy="299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
        <p:nvSpPr>
          <p:cNvPr id="270" name="Google Shape;270;p21"/>
          <p:cNvSpPr/>
          <p:nvPr/>
        </p:nvSpPr>
        <p:spPr>
          <a:xfrm>
            <a:off x="5707875" y="1507375"/>
            <a:ext cx="3185100" cy="1466100"/>
          </a:xfrm>
          <a:prstGeom prst="rect">
            <a:avLst/>
          </a:pr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1" name="Google Shape;271;p21"/>
          <p:cNvSpPr/>
          <p:nvPr/>
        </p:nvSpPr>
        <p:spPr>
          <a:xfrm>
            <a:off x="5807175" y="3390075"/>
            <a:ext cx="2724300" cy="1689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72" name="Google Shape;272;p21"/>
          <p:cNvPicPr preferRelativeResize="0"/>
          <p:nvPr/>
        </p:nvPicPr>
        <p:blipFill>
          <a:blip r:embed="rId4">
            <a:alphaModFix/>
          </a:blip>
          <a:stretch>
            <a:fillRect/>
          </a:stretch>
        </p:blipFill>
        <p:spPr>
          <a:xfrm>
            <a:off x="5686725" y="3333074"/>
            <a:ext cx="3185101" cy="1592551"/>
          </a:xfrm>
          <a:prstGeom prst="rect">
            <a:avLst/>
          </a:prstGeom>
          <a:noFill/>
          <a:ln>
            <a:noFill/>
          </a:ln>
        </p:spPr>
      </p:pic>
      <p:pic>
        <p:nvPicPr>
          <p:cNvPr id="273" name="Google Shape;273;p21"/>
          <p:cNvPicPr preferRelativeResize="0"/>
          <p:nvPr/>
        </p:nvPicPr>
        <p:blipFill>
          <a:blip r:embed="rId5">
            <a:alphaModFix/>
          </a:blip>
          <a:stretch>
            <a:fillRect/>
          </a:stretch>
        </p:blipFill>
        <p:spPr>
          <a:xfrm>
            <a:off x="5411896" y="1325785"/>
            <a:ext cx="3469802" cy="1730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2"/>
          <p:cNvSpPr txBox="1"/>
          <p:nvPr>
            <p:ph idx="4294967295" type="title"/>
          </p:nvPr>
        </p:nvSpPr>
        <p:spPr>
          <a:xfrm>
            <a:off x="774150" y="223915"/>
            <a:ext cx="7718400" cy="573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3000"/>
              <a:buFont typeface="Sora"/>
              <a:buNone/>
            </a:pPr>
            <a:r>
              <a:rPr b="1" lang="en-US" sz="2800"/>
              <a:t>D</a:t>
            </a:r>
            <a:r>
              <a:rPr lang="en-US" sz="2800"/>
              <a:t>ATASET: For Unified Model</a:t>
            </a:r>
            <a:endParaRPr sz="2800"/>
          </a:p>
        </p:txBody>
      </p:sp>
      <p:sp>
        <p:nvSpPr>
          <p:cNvPr id="279" name="Google Shape;279;p22"/>
          <p:cNvSpPr txBox="1"/>
          <p:nvPr>
            <p:ph idx="4294967295" type="body"/>
          </p:nvPr>
        </p:nvSpPr>
        <p:spPr>
          <a:xfrm>
            <a:off x="639750" y="885701"/>
            <a:ext cx="8115300" cy="4102200"/>
          </a:xfrm>
          <a:prstGeom prst="rect">
            <a:avLst/>
          </a:prstGeom>
          <a:noFill/>
          <a:ln>
            <a:noFill/>
          </a:ln>
        </p:spPr>
        <p:txBody>
          <a:bodyPr anchorCtr="0" anchor="t" bIns="91425" lIns="91425" spcFirstLastPara="1" rIns="91425" wrap="square" tIns="91425">
            <a:noAutofit/>
          </a:bodyPr>
          <a:lstStyle/>
          <a:p>
            <a:pPr indent="0" lvl="0" marL="139700" rtl="0" algn="l">
              <a:lnSpc>
                <a:spcPct val="150000"/>
              </a:lnSpc>
              <a:spcBef>
                <a:spcPts val="0"/>
              </a:spcBef>
              <a:spcAft>
                <a:spcPts val="0"/>
              </a:spcAft>
              <a:buSzPts val="1400"/>
              <a:buNone/>
            </a:pPr>
            <a:r>
              <a:rPr b="1" lang="en-US">
                <a:latin typeface="Calibri"/>
                <a:ea typeface="Calibri"/>
                <a:cs typeface="Calibri"/>
                <a:sym typeface="Calibri"/>
              </a:rPr>
              <a:t>Datasets</a:t>
            </a:r>
            <a:r>
              <a:rPr lang="en-US">
                <a:latin typeface="Calibri"/>
                <a:ea typeface="Calibri"/>
                <a:cs typeface="Calibri"/>
                <a:sym typeface="Calibri"/>
              </a:rPr>
              <a:t>:</a:t>
            </a:r>
            <a:endParaRPr/>
          </a:p>
          <a:p>
            <a:pPr indent="-285750" lvl="1" marL="628650" rtl="0" algn="l">
              <a:lnSpc>
                <a:spcPct val="150000"/>
              </a:lnSpc>
              <a:spcBef>
                <a:spcPts val="0"/>
              </a:spcBef>
              <a:spcAft>
                <a:spcPts val="0"/>
              </a:spcAft>
              <a:buSzPts val="1400"/>
              <a:buFont typeface="Calibri"/>
              <a:buChar char="⌂"/>
            </a:pPr>
            <a:r>
              <a:rPr b="1" lang="en-US">
                <a:latin typeface="Calibri"/>
                <a:ea typeface="Calibri"/>
                <a:cs typeface="Calibri"/>
                <a:sym typeface="Calibri"/>
              </a:rPr>
              <a:t>DeFaktS</a:t>
            </a:r>
            <a:r>
              <a:rPr lang="en-US">
                <a:latin typeface="Calibri"/>
                <a:ea typeface="Calibri"/>
                <a:cs typeface="Calibri"/>
                <a:sym typeface="Calibri"/>
              </a:rPr>
              <a:t>: For fake news detection.</a:t>
            </a:r>
            <a:endParaRPr/>
          </a:p>
          <a:p>
            <a:pPr indent="-285750" lvl="1" marL="628650" rtl="0" algn="l">
              <a:lnSpc>
                <a:spcPct val="150000"/>
              </a:lnSpc>
              <a:spcBef>
                <a:spcPts val="0"/>
              </a:spcBef>
              <a:spcAft>
                <a:spcPts val="0"/>
              </a:spcAft>
              <a:buSzPts val="1400"/>
              <a:buFont typeface="Calibri"/>
              <a:buChar char="⌂"/>
            </a:pPr>
            <a:r>
              <a:rPr b="1" lang="en-US">
                <a:latin typeface="Calibri"/>
                <a:ea typeface="Calibri"/>
                <a:cs typeface="Calibri"/>
                <a:sym typeface="Calibri"/>
              </a:rPr>
              <a:t>GAHD</a:t>
            </a:r>
            <a:r>
              <a:rPr lang="en-US">
                <a:latin typeface="Calibri"/>
                <a:ea typeface="Calibri"/>
                <a:cs typeface="Calibri"/>
                <a:sym typeface="Calibri"/>
              </a:rPr>
              <a:t>: For hate speech classification.</a:t>
            </a:r>
            <a:endParaRPr/>
          </a:p>
          <a:p>
            <a:pPr indent="-285750" lvl="1" marL="628650" rtl="0" algn="l">
              <a:lnSpc>
                <a:spcPct val="150000"/>
              </a:lnSpc>
              <a:spcBef>
                <a:spcPts val="0"/>
              </a:spcBef>
              <a:spcAft>
                <a:spcPts val="0"/>
              </a:spcAft>
              <a:buSzPts val="1400"/>
              <a:buFont typeface="Calibri"/>
              <a:buChar char="⌂"/>
            </a:pPr>
            <a:r>
              <a:rPr b="1" lang="en-US">
                <a:latin typeface="Calibri"/>
                <a:ea typeface="Calibri"/>
                <a:cs typeface="Calibri"/>
                <a:sym typeface="Calibri"/>
              </a:rPr>
              <a:t>DeTox</a:t>
            </a:r>
            <a:r>
              <a:rPr lang="en-US">
                <a:latin typeface="Calibri"/>
                <a:ea typeface="Calibri"/>
                <a:cs typeface="Calibri"/>
                <a:sym typeface="Calibri"/>
              </a:rPr>
              <a:t>: For toxicity detection.</a:t>
            </a:r>
            <a:endParaRPr>
              <a:latin typeface="Calibri"/>
              <a:ea typeface="Calibri"/>
              <a:cs typeface="Calibri"/>
              <a:sym typeface="Calibri"/>
            </a:endParaRPr>
          </a:p>
          <a:p>
            <a:pPr indent="-285750" lvl="1" marL="628650" rtl="0" algn="l">
              <a:lnSpc>
                <a:spcPct val="150000"/>
              </a:lnSpc>
              <a:spcBef>
                <a:spcPts val="0"/>
              </a:spcBef>
              <a:spcAft>
                <a:spcPts val="0"/>
              </a:spcAft>
              <a:buSzPts val="1400"/>
              <a:buFont typeface="Calibri"/>
              <a:buChar char="⌂"/>
            </a:pPr>
            <a:r>
              <a:rPr lang="en-US">
                <a:latin typeface="Calibri"/>
                <a:ea typeface="Calibri"/>
                <a:cs typeface="Calibri"/>
                <a:sym typeface="Calibri"/>
              </a:rPr>
              <a:t>Combined all the above </a:t>
            </a:r>
            <a:r>
              <a:rPr lang="en-US">
                <a:latin typeface="Calibri"/>
                <a:ea typeface="Calibri"/>
                <a:cs typeface="Calibri"/>
                <a:sym typeface="Calibri"/>
              </a:rPr>
              <a:t>dataset to create a unified dataset.</a:t>
            </a:r>
            <a:endParaRPr>
              <a:latin typeface="Calibri"/>
              <a:ea typeface="Calibri"/>
              <a:cs typeface="Calibri"/>
              <a:sym typeface="Calibri"/>
            </a:endParaRPr>
          </a:p>
          <a:p>
            <a:pPr indent="0" lvl="0" marL="139700" rtl="0" algn="l">
              <a:lnSpc>
                <a:spcPct val="150000"/>
              </a:lnSpc>
              <a:spcBef>
                <a:spcPts val="0"/>
              </a:spcBef>
              <a:spcAft>
                <a:spcPts val="0"/>
              </a:spcAft>
              <a:buSzPts val="1400"/>
              <a:buNone/>
            </a:pPr>
            <a:r>
              <a:rPr b="1" lang="en-US">
                <a:latin typeface="Calibri"/>
                <a:ea typeface="Calibri"/>
                <a:cs typeface="Calibri"/>
                <a:sym typeface="Calibri"/>
              </a:rPr>
              <a:t>Preprocessing</a:t>
            </a:r>
            <a:r>
              <a:rPr lang="en-US">
                <a:latin typeface="Calibri"/>
                <a:ea typeface="Calibri"/>
                <a:cs typeface="Calibri"/>
                <a:sym typeface="Calibri"/>
              </a:rPr>
              <a:t>:</a:t>
            </a:r>
            <a:endParaRPr/>
          </a:p>
          <a:p>
            <a:pPr indent="0" lvl="1" marL="457200" rtl="0" algn="l">
              <a:lnSpc>
                <a:spcPct val="150000"/>
              </a:lnSpc>
              <a:spcBef>
                <a:spcPts val="0"/>
              </a:spcBef>
              <a:spcAft>
                <a:spcPts val="0"/>
              </a:spcAft>
              <a:buSzPts val="1400"/>
              <a:buNone/>
            </a:pPr>
            <a:r>
              <a:rPr lang="en-US" sz="1350">
                <a:solidFill>
                  <a:srgbClr val="3F4350"/>
                </a:solidFill>
                <a:latin typeface="Calibri"/>
                <a:ea typeface="Calibri"/>
                <a:cs typeface="Calibri"/>
                <a:sym typeface="Calibri"/>
              </a:rPr>
              <a:t>Remove emails </a:t>
            </a:r>
            <a:r>
              <a:rPr lang="en-US" sz="1700">
                <a:latin typeface="Calibri"/>
                <a:ea typeface="Calibri"/>
                <a:cs typeface="Calibri"/>
                <a:sym typeface="Calibri"/>
              </a:rPr>
              <a:t>, </a:t>
            </a:r>
            <a:r>
              <a:rPr lang="en-US" sz="1350">
                <a:solidFill>
                  <a:srgbClr val="3F4350"/>
                </a:solidFill>
                <a:latin typeface="Calibri"/>
                <a:ea typeface="Calibri"/>
                <a:cs typeface="Calibri"/>
                <a:sym typeface="Calibri"/>
              </a:rPr>
              <a:t>Convert text to lowercase, Replace Emojis, Drop rows with missing values, Convert labels to integer.</a:t>
            </a:r>
            <a:endParaRPr sz="1700">
              <a:latin typeface="Calibri"/>
              <a:ea typeface="Calibri"/>
              <a:cs typeface="Calibri"/>
              <a:sym typeface="Calibri"/>
            </a:endParaRPr>
          </a:p>
          <a:p>
            <a:pPr indent="0" lvl="1" marL="342900" rtl="0" algn="l">
              <a:lnSpc>
                <a:spcPct val="150000"/>
              </a:lnSpc>
              <a:spcBef>
                <a:spcPts val="0"/>
              </a:spcBef>
              <a:spcAft>
                <a:spcPts val="0"/>
              </a:spcAft>
              <a:buSzPts val="1400"/>
              <a:buNone/>
            </a:pPr>
            <a:r>
              <a:t/>
            </a:r>
            <a:endParaRPr>
              <a:latin typeface="Calibri"/>
              <a:ea typeface="Calibri"/>
              <a:cs typeface="Calibri"/>
              <a:sym typeface="Calibri"/>
            </a:endParaRPr>
          </a:p>
          <a:p>
            <a:pPr indent="0" lvl="1" marL="342900" rtl="0" algn="l">
              <a:lnSpc>
                <a:spcPct val="150000"/>
              </a:lnSpc>
              <a:spcBef>
                <a:spcPts val="0"/>
              </a:spcBef>
              <a:spcAft>
                <a:spcPts val="0"/>
              </a:spcAft>
              <a:buSzPts val="1400"/>
              <a:buNone/>
            </a:pPr>
            <a:r>
              <a:t/>
            </a:r>
            <a:endParaRPr>
              <a:latin typeface="Calibri"/>
              <a:ea typeface="Calibri"/>
              <a:cs typeface="Calibri"/>
              <a:sym typeface="Calibri"/>
            </a:endParaRPr>
          </a:p>
        </p:txBody>
      </p:sp>
      <p:sp>
        <p:nvSpPr>
          <p:cNvPr id="280" name="Google Shape;280;p22"/>
          <p:cNvSpPr txBox="1"/>
          <p:nvPr>
            <p:ph idx="12" type="sldNum"/>
          </p:nvPr>
        </p:nvSpPr>
        <p:spPr>
          <a:xfrm>
            <a:off x="8392909" y="4667926"/>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281" name="Google Shape;281;p22"/>
          <p:cNvPicPr preferRelativeResize="0"/>
          <p:nvPr/>
        </p:nvPicPr>
        <p:blipFill>
          <a:blip r:embed="rId3">
            <a:alphaModFix/>
          </a:blip>
          <a:stretch>
            <a:fillRect/>
          </a:stretch>
        </p:blipFill>
        <p:spPr>
          <a:xfrm>
            <a:off x="2196975" y="3647946"/>
            <a:ext cx="4621326" cy="1249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3"/>
          <p:cNvSpPr txBox="1"/>
          <p:nvPr>
            <p:ph idx="4294967295" type="title"/>
          </p:nvPr>
        </p:nvSpPr>
        <p:spPr>
          <a:xfrm>
            <a:off x="509286" y="288131"/>
            <a:ext cx="7718400" cy="573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3000"/>
              <a:buFont typeface="Sora"/>
              <a:buNone/>
            </a:pPr>
            <a:r>
              <a:rPr b="1" lang="en-US"/>
              <a:t>Model Training</a:t>
            </a:r>
            <a:endParaRPr/>
          </a:p>
        </p:txBody>
      </p:sp>
      <p:sp>
        <p:nvSpPr>
          <p:cNvPr id="287" name="Google Shape;287;p23"/>
          <p:cNvSpPr txBox="1"/>
          <p:nvPr>
            <p:ph idx="4294967295" type="body"/>
          </p:nvPr>
        </p:nvSpPr>
        <p:spPr>
          <a:xfrm>
            <a:off x="713425" y="861125"/>
            <a:ext cx="7856400" cy="3503400"/>
          </a:xfrm>
          <a:prstGeom prst="rect">
            <a:avLst/>
          </a:prstGeom>
          <a:noFill/>
          <a:ln>
            <a:noFill/>
          </a:ln>
        </p:spPr>
        <p:txBody>
          <a:bodyPr anchorCtr="0" anchor="t" bIns="91425" lIns="91425" spcFirstLastPara="1" rIns="91425" wrap="square" tIns="91425">
            <a:noAutofit/>
          </a:bodyPr>
          <a:lstStyle/>
          <a:p>
            <a:pPr indent="0" lvl="1" marL="342900" rtl="0" algn="l">
              <a:lnSpc>
                <a:spcPct val="150000"/>
              </a:lnSpc>
              <a:spcBef>
                <a:spcPts val="0"/>
              </a:spcBef>
              <a:spcAft>
                <a:spcPts val="0"/>
              </a:spcAft>
              <a:buSzPts val="1400"/>
              <a:buNone/>
            </a:pPr>
            <a:r>
              <a:rPr b="1" lang="en-US" sz="1600" u="sng">
                <a:latin typeface="Calibri"/>
                <a:ea typeface="Calibri"/>
                <a:cs typeface="Calibri"/>
                <a:sym typeface="Calibri"/>
              </a:rPr>
              <a:t>Unified </a:t>
            </a:r>
            <a:r>
              <a:rPr b="1" lang="en-US" sz="1600" u="sng">
                <a:latin typeface="Calibri"/>
                <a:ea typeface="Calibri"/>
                <a:cs typeface="Calibri"/>
                <a:sym typeface="Calibri"/>
              </a:rPr>
              <a:t>Model</a:t>
            </a:r>
            <a:endParaRPr b="1" sz="1600" u="sng">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Char char="Ꙩ"/>
            </a:pPr>
            <a:r>
              <a:rPr lang="en-US">
                <a:latin typeface="Calibri"/>
                <a:ea typeface="Calibri"/>
                <a:cs typeface="Calibri"/>
                <a:sym typeface="Calibri"/>
              </a:rPr>
              <a:t>Multi-task: Fake News, Hate Speech, and Toxicity detection.</a:t>
            </a:r>
            <a:endParaRPr/>
          </a:p>
          <a:p>
            <a:pPr indent="-317500" lvl="0" marL="457200" rtl="0" algn="l">
              <a:lnSpc>
                <a:spcPct val="150000"/>
              </a:lnSpc>
              <a:spcBef>
                <a:spcPts val="0"/>
              </a:spcBef>
              <a:spcAft>
                <a:spcPts val="0"/>
              </a:spcAft>
              <a:buSzPts val="1400"/>
              <a:buFont typeface="Calibri"/>
              <a:buChar char="Ꙩ"/>
            </a:pPr>
            <a:r>
              <a:rPr lang="en-US">
                <a:latin typeface="Calibri"/>
                <a:ea typeface="Calibri"/>
                <a:cs typeface="Calibri"/>
                <a:sym typeface="Calibri"/>
              </a:rPr>
              <a:t>Model Used:</a:t>
            </a:r>
            <a:r>
              <a:rPr lang="en-US">
                <a:latin typeface="Calibri"/>
                <a:ea typeface="Calibri"/>
                <a:cs typeface="Calibri"/>
                <a:sym typeface="Calibri"/>
              </a:rPr>
              <a:t> </a:t>
            </a:r>
            <a:r>
              <a:rPr lang="en-US">
                <a:latin typeface="Calibri"/>
                <a:ea typeface="Calibri"/>
                <a:cs typeface="Calibri"/>
                <a:sym typeface="Calibri"/>
              </a:rPr>
              <a:t>bert-base-german-cased model</a:t>
            </a:r>
            <a:endParaRPr/>
          </a:p>
          <a:p>
            <a:pPr indent="-317500" lvl="0" marL="457200" rtl="0" algn="l">
              <a:lnSpc>
                <a:spcPct val="150000"/>
              </a:lnSpc>
              <a:spcBef>
                <a:spcPts val="0"/>
              </a:spcBef>
              <a:spcAft>
                <a:spcPts val="0"/>
              </a:spcAft>
              <a:buSzPts val="1400"/>
              <a:buFont typeface="Calibri"/>
              <a:buChar char="Ꙩ"/>
            </a:pPr>
            <a:r>
              <a:rPr lang="en-US">
                <a:latin typeface="Calibri"/>
                <a:ea typeface="Calibri"/>
                <a:cs typeface="Calibri"/>
                <a:sym typeface="Calibri"/>
              </a:rPr>
              <a:t>Dataset: Combined all datasets mentioned above to create a unified dataset to classify 3 features.</a:t>
            </a:r>
            <a:endParaRPr/>
          </a:p>
          <a:p>
            <a:pPr indent="-317500" lvl="0" marL="457200" rtl="0" algn="l">
              <a:lnSpc>
                <a:spcPct val="150000"/>
              </a:lnSpc>
              <a:spcBef>
                <a:spcPts val="0"/>
              </a:spcBef>
              <a:spcAft>
                <a:spcPts val="0"/>
              </a:spcAft>
              <a:buSzPts val="1400"/>
              <a:buFont typeface="Calibri"/>
              <a:buChar char="Ꙩ"/>
            </a:pPr>
            <a:r>
              <a:rPr lang="en-US">
                <a:latin typeface="Calibri"/>
                <a:ea typeface="Calibri"/>
                <a:cs typeface="Calibri"/>
                <a:sym typeface="Calibri"/>
              </a:rPr>
              <a:t>Hyperparameters: </a:t>
            </a:r>
            <a:endParaRPr>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Char char="○"/>
            </a:pPr>
            <a:r>
              <a:rPr lang="en-US">
                <a:latin typeface="Calibri"/>
                <a:ea typeface="Calibri"/>
                <a:cs typeface="Calibri"/>
                <a:sym typeface="Calibri"/>
              </a:rPr>
              <a:t>3 epochs, </a:t>
            </a:r>
            <a:endParaRPr>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Char char="○"/>
            </a:pPr>
            <a:r>
              <a:rPr lang="en-US">
                <a:latin typeface="Calibri"/>
                <a:ea typeface="Calibri"/>
                <a:cs typeface="Calibri"/>
                <a:sym typeface="Calibri"/>
              </a:rPr>
              <a:t>Batch size </a:t>
            </a:r>
            <a:r>
              <a:rPr lang="en-US">
                <a:latin typeface="Calibri"/>
                <a:ea typeface="Calibri"/>
                <a:cs typeface="Calibri"/>
                <a:sym typeface="Calibri"/>
              </a:rPr>
              <a:t>32</a:t>
            </a:r>
            <a:r>
              <a:rPr lang="en-US">
                <a:latin typeface="Calibri"/>
                <a:ea typeface="Calibri"/>
                <a:cs typeface="Calibri"/>
                <a:sym typeface="Calibri"/>
              </a:rPr>
              <a:t>,</a:t>
            </a:r>
            <a:endParaRPr>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Char char="○"/>
            </a:pPr>
            <a:r>
              <a:rPr lang="en-US">
                <a:latin typeface="Calibri"/>
                <a:ea typeface="Calibri"/>
                <a:cs typeface="Calibri"/>
                <a:sym typeface="Calibri"/>
              </a:rPr>
              <a:t>Adam</a:t>
            </a:r>
            <a:r>
              <a:rPr lang="en-US">
                <a:latin typeface="Calibri"/>
                <a:ea typeface="Calibri"/>
                <a:cs typeface="Calibri"/>
                <a:sym typeface="Calibri"/>
              </a:rPr>
              <a:t> optimizer</a:t>
            </a:r>
            <a:endParaRPr>
              <a:latin typeface="Calibri"/>
              <a:ea typeface="Calibri"/>
              <a:cs typeface="Calibri"/>
              <a:sym typeface="Calibri"/>
            </a:endParaRPr>
          </a:p>
          <a:p>
            <a:pPr indent="-228600" lvl="0" marL="457200" rtl="0" algn="l">
              <a:lnSpc>
                <a:spcPct val="150000"/>
              </a:lnSpc>
              <a:spcBef>
                <a:spcPts val="0"/>
              </a:spcBef>
              <a:spcAft>
                <a:spcPts val="0"/>
              </a:spcAft>
              <a:buSzPts val="1400"/>
              <a:buFont typeface="Calibri"/>
              <a:buNone/>
            </a:pPr>
            <a:r>
              <a:t/>
            </a:r>
            <a:endParaRPr>
              <a:latin typeface="Calibri"/>
              <a:ea typeface="Calibri"/>
              <a:cs typeface="Calibri"/>
              <a:sym typeface="Calibri"/>
            </a:endParaRPr>
          </a:p>
          <a:p>
            <a:pPr indent="-125412" lvl="1" marL="557212" rtl="0" algn="l">
              <a:lnSpc>
                <a:spcPct val="150000"/>
              </a:lnSpc>
              <a:spcBef>
                <a:spcPts val="0"/>
              </a:spcBef>
              <a:spcAft>
                <a:spcPts val="0"/>
              </a:spcAft>
              <a:buSzPts val="1400"/>
              <a:buFont typeface="Arial"/>
              <a:buNone/>
            </a:pPr>
            <a:r>
              <a:t/>
            </a:r>
            <a:endParaRPr>
              <a:latin typeface="Calibri"/>
              <a:ea typeface="Calibri"/>
              <a:cs typeface="Calibri"/>
              <a:sym typeface="Calibri"/>
            </a:endParaRPr>
          </a:p>
        </p:txBody>
      </p:sp>
      <p:sp>
        <p:nvSpPr>
          <p:cNvPr id="288" name="Google Shape;288;p23"/>
          <p:cNvSpPr txBox="1"/>
          <p:nvPr>
            <p:ph idx="12" type="sldNum"/>
          </p:nvPr>
        </p:nvSpPr>
        <p:spPr>
          <a:xfrm>
            <a:off x="8331459" y="468840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4"/>
          <p:cNvSpPr txBox="1"/>
          <p:nvPr>
            <p:ph type="title"/>
          </p:nvPr>
        </p:nvSpPr>
        <p:spPr>
          <a:xfrm>
            <a:off x="286625" y="119850"/>
            <a:ext cx="6564300" cy="45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800"/>
              <a:t>Unified Model Workflow</a:t>
            </a:r>
            <a:endParaRPr sz="2800"/>
          </a:p>
        </p:txBody>
      </p:sp>
      <p:pic>
        <p:nvPicPr>
          <p:cNvPr id="294" name="Google Shape;294;p24"/>
          <p:cNvPicPr preferRelativeResize="0"/>
          <p:nvPr/>
        </p:nvPicPr>
        <p:blipFill>
          <a:blip r:embed="rId3">
            <a:alphaModFix/>
          </a:blip>
          <a:stretch>
            <a:fillRect/>
          </a:stretch>
        </p:blipFill>
        <p:spPr>
          <a:xfrm>
            <a:off x="60638" y="639500"/>
            <a:ext cx="8895724" cy="4356651"/>
          </a:xfrm>
          <a:prstGeom prst="rect">
            <a:avLst/>
          </a:prstGeom>
          <a:noFill/>
          <a:ln>
            <a:noFill/>
          </a:ln>
        </p:spPr>
      </p:pic>
      <p:sp>
        <p:nvSpPr>
          <p:cNvPr id="295" name="Google Shape;295;p24"/>
          <p:cNvSpPr txBox="1"/>
          <p:nvPr>
            <p:ph idx="12" type="sldNum"/>
          </p:nvPr>
        </p:nvSpPr>
        <p:spPr>
          <a:xfrm>
            <a:off x="8448225" y="4675450"/>
            <a:ext cx="397500" cy="320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5"/>
          <p:cNvSpPr txBox="1"/>
          <p:nvPr>
            <p:ph idx="4294967295" type="title"/>
          </p:nvPr>
        </p:nvSpPr>
        <p:spPr>
          <a:xfrm>
            <a:off x="1515300" y="121525"/>
            <a:ext cx="7128300" cy="508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3000"/>
              <a:buFont typeface="Sora"/>
              <a:buNone/>
            </a:pPr>
            <a:r>
              <a:rPr b="1" lang="en-US" sz="2800">
                <a:solidFill>
                  <a:schemeClr val="dk2"/>
                </a:solidFill>
              </a:rPr>
              <a:t>Single-Task VS Multi-Task Models</a:t>
            </a:r>
            <a:endParaRPr sz="2800">
              <a:solidFill>
                <a:schemeClr val="dk2"/>
              </a:solidFill>
            </a:endParaRPr>
          </a:p>
        </p:txBody>
      </p:sp>
      <p:graphicFrame>
        <p:nvGraphicFramePr>
          <p:cNvPr id="301" name="Google Shape;301;p25"/>
          <p:cNvGraphicFramePr/>
          <p:nvPr/>
        </p:nvGraphicFramePr>
        <p:xfrm>
          <a:off x="842021" y="801118"/>
          <a:ext cx="3000000" cy="3000000"/>
        </p:xfrm>
        <a:graphic>
          <a:graphicData uri="http://schemas.openxmlformats.org/drawingml/2006/table">
            <a:tbl>
              <a:tblPr bandRow="1" firstRow="1">
                <a:noFill/>
                <a:tableStyleId>{AE6E5342-C3E9-4B91-923E-AD6574A7CBED}</a:tableStyleId>
              </a:tblPr>
              <a:tblGrid>
                <a:gridCol w="2590550"/>
                <a:gridCol w="1128025"/>
                <a:gridCol w="878750"/>
                <a:gridCol w="712675"/>
                <a:gridCol w="886425"/>
                <a:gridCol w="794075"/>
                <a:gridCol w="1037150"/>
              </a:tblGrid>
              <a:tr h="592525">
                <a:tc>
                  <a:txBody>
                    <a:bodyPr/>
                    <a:lstStyle/>
                    <a:p>
                      <a:pPr indent="0" lvl="0" marL="0" marR="0" rtl="0" algn="ctr">
                        <a:lnSpc>
                          <a:spcPct val="100000"/>
                        </a:lnSpc>
                        <a:spcBef>
                          <a:spcPts val="0"/>
                        </a:spcBef>
                        <a:spcAft>
                          <a:spcPts val="0"/>
                        </a:spcAft>
                        <a:buNone/>
                      </a:pPr>
                      <a:r>
                        <a:rPr lang="en-US" sz="1300" u="none" cap="none" strike="noStrike"/>
                        <a:t>Model Name</a:t>
                      </a:r>
                      <a:endParaRPr sz="1600"/>
                    </a:p>
                  </a:txBody>
                  <a:tcPr marT="45725" marB="45725" marR="91450" marL="91450" anchor="ctr">
                    <a:lnL cap="flat" cmpd="sng" w="38100">
                      <a:solidFill>
                        <a:schemeClr val="dk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u="none" cap="none" strike="noStrike"/>
                        <a:t>Task</a:t>
                      </a:r>
                      <a:endParaRPr sz="1600"/>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u="none" cap="none" strike="noStrike"/>
                        <a:t>Precision</a:t>
                      </a:r>
                      <a:endParaRPr sz="1600"/>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u="none" cap="none" strike="noStrike"/>
                        <a:t>Recall</a:t>
                      </a:r>
                      <a:endParaRPr sz="1600"/>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u="none" cap="none" strike="noStrike"/>
                        <a:t>F1-Score</a:t>
                      </a:r>
                      <a:endParaRPr sz="1600"/>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u="none" cap="none" strike="noStrike"/>
                        <a:t>Accuracy</a:t>
                      </a:r>
                      <a:endParaRPr sz="1600"/>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u="none" cap="none" strike="noStrike"/>
                        <a:t>Model Type</a:t>
                      </a:r>
                      <a:endParaRPr sz="1600"/>
                    </a:p>
                  </a:txBody>
                  <a:tcPr marT="45725" marB="45725" marR="91450" marL="91450" anchor="ctr">
                    <a:lnL cap="flat" cmpd="sng" w="38100">
                      <a:solidFill>
                        <a:schemeClr val="lt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469050">
                <a:tc>
                  <a:txBody>
                    <a:bodyPr/>
                    <a:lstStyle/>
                    <a:p>
                      <a:pPr indent="0" lvl="0" marL="0" marR="0" rtl="0" algn="ctr">
                        <a:lnSpc>
                          <a:spcPct val="100000"/>
                        </a:lnSpc>
                        <a:spcBef>
                          <a:spcPts val="0"/>
                        </a:spcBef>
                        <a:spcAft>
                          <a:spcPts val="0"/>
                        </a:spcAft>
                        <a:buNone/>
                      </a:pPr>
                      <a:r>
                        <a:rPr lang="en-US" sz="1300" u="none" cap="none" strike="noStrike"/>
                        <a:t>xlm-roberta-base</a:t>
                      </a:r>
                      <a:endParaRPr sz="1300" u="none" cap="none" strike="noStrike"/>
                    </a:p>
                    <a:p>
                      <a:pPr indent="0" lvl="0" marL="0" marR="0" rtl="0" algn="ctr">
                        <a:lnSpc>
                          <a:spcPct val="100000"/>
                        </a:lnSpc>
                        <a:spcBef>
                          <a:spcPts val="0"/>
                        </a:spcBef>
                        <a:spcAft>
                          <a:spcPts val="0"/>
                        </a:spcAft>
                        <a:buNone/>
                      </a:pPr>
                      <a:r>
                        <a:rPr lang="en-US" sz="1300" u="none" cap="none" strike="noStrike"/>
                        <a:t>(GAHD_Dataset)</a:t>
                      </a:r>
                      <a:endParaRPr sz="1600"/>
                    </a:p>
                  </a:txBody>
                  <a:tcPr marT="45725" marB="45725" marR="91450" marL="91450" anchor="ctr">
                    <a:lnL cap="flat" cmpd="sng" w="38100">
                      <a:solidFill>
                        <a:schemeClr val="dk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sz="1300"/>
                        <a:t>hate_speech</a:t>
                      </a:r>
                      <a:endParaRPr sz="1600"/>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a:t>79%</a:t>
                      </a:r>
                      <a:endParaRPr sz="1600"/>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a:t>78%</a:t>
                      </a:r>
                      <a:endParaRPr sz="1600"/>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a:t>77%</a:t>
                      </a:r>
                      <a:endParaRPr b="1" i="0" u="none" cap="none" strike="noStrike">
                        <a:solidFill>
                          <a:srgbClr val="000000"/>
                        </a:solidFill>
                        <a:latin typeface="Calibri"/>
                        <a:ea typeface="Calibri"/>
                        <a:cs typeface="Calibri"/>
                        <a:sym typeface="Calibri"/>
                      </a:endParaRPr>
                    </a:p>
                  </a:txBody>
                  <a:tcPr marT="3625" marB="0" marR="3625" marL="36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a:t>78.1%</a:t>
                      </a:r>
                      <a:endParaRPr sz="1600"/>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lt1"/>
                      </a:solidFill>
                      <a:prstDash val="solid"/>
                      <a:round/>
                      <a:headEnd len="sm" w="sm" type="none"/>
                      <a:tailEnd len="sm" w="sm" type="none"/>
                    </a:lnB>
                    <a:solidFill>
                      <a:srgbClr val="D9EAD3"/>
                    </a:solidFill>
                  </a:tcPr>
                </a:tc>
                <a:tc>
                  <a:txBody>
                    <a:bodyPr/>
                    <a:lstStyle/>
                    <a:p>
                      <a:pPr indent="0" lvl="0" marL="0" marR="0" rtl="0" algn="ctr">
                        <a:lnSpc>
                          <a:spcPct val="100000"/>
                        </a:lnSpc>
                        <a:spcBef>
                          <a:spcPts val="0"/>
                        </a:spcBef>
                        <a:spcAft>
                          <a:spcPts val="0"/>
                        </a:spcAft>
                        <a:buNone/>
                      </a:pPr>
                      <a:r>
                        <a:rPr lang="en-US" sz="1300" u="none" cap="none" strike="noStrike"/>
                        <a:t>Single-Task</a:t>
                      </a:r>
                      <a:endParaRPr sz="1600"/>
                    </a:p>
                  </a:txBody>
                  <a:tcPr marT="45725" marB="45725" marR="91450" marL="91450" anchor="ctr">
                    <a:lnL cap="flat" cmpd="sng" w="38100">
                      <a:solidFill>
                        <a:schemeClr val="lt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lt1"/>
                      </a:solidFill>
                      <a:prstDash val="solid"/>
                      <a:round/>
                      <a:headEnd len="sm" w="sm" type="none"/>
                      <a:tailEnd len="sm" w="sm" type="none"/>
                    </a:lnB>
                  </a:tcPr>
                </a:tc>
              </a:tr>
              <a:tr h="475350">
                <a:tc>
                  <a:txBody>
                    <a:bodyPr/>
                    <a:lstStyle/>
                    <a:p>
                      <a:pPr indent="0" lvl="0" marL="0" marR="0" rtl="0" algn="ctr">
                        <a:lnSpc>
                          <a:spcPct val="100000"/>
                        </a:lnSpc>
                        <a:spcBef>
                          <a:spcPts val="0"/>
                        </a:spcBef>
                        <a:spcAft>
                          <a:spcPts val="0"/>
                        </a:spcAft>
                        <a:buNone/>
                      </a:pPr>
                      <a:r>
                        <a:rPr lang="en-US" sz="1300" u="none" cap="none" strike="noStrike"/>
                        <a:t>distilbert-base-german-cased (DefaktS_Twitter_dataset)</a:t>
                      </a:r>
                      <a:endParaRPr sz="1600"/>
                    </a:p>
                  </a:txBody>
                  <a:tcPr marT="45725" marB="45725" marR="91450" marL="91450" anchor="ctr">
                    <a:lnL cap="flat" cmpd="sng" w="38100">
                      <a:solidFill>
                        <a:schemeClr val="dk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u="none" cap="none" strike="noStrike"/>
                        <a:t>fake_news</a:t>
                      </a:r>
                      <a:endParaRPr sz="1600"/>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u="none" cap="none" strike="noStrike"/>
                        <a:t>90%</a:t>
                      </a:r>
                      <a:endParaRPr sz="1600"/>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u="none" cap="none" strike="noStrike"/>
                        <a:t>9</a:t>
                      </a:r>
                      <a:r>
                        <a:rPr lang="en-US" sz="1300"/>
                        <a:t>1%</a:t>
                      </a:r>
                      <a:endParaRPr sz="1600"/>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u="none" cap="none" strike="noStrike"/>
                        <a:t>91</a:t>
                      </a:r>
                      <a:r>
                        <a:rPr lang="en-US" sz="1300"/>
                        <a:t>%</a:t>
                      </a:r>
                      <a:endParaRPr sz="1600"/>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a:t>91%</a:t>
                      </a:r>
                      <a:endParaRPr sz="1600"/>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9EAD3"/>
                    </a:solidFill>
                  </a:tcPr>
                </a:tc>
                <a:tc>
                  <a:txBody>
                    <a:bodyPr/>
                    <a:lstStyle/>
                    <a:p>
                      <a:pPr indent="0" lvl="0" marL="0" marR="0" rtl="0" algn="ctr">
                        <a:lnSpc>
                          <a:spcPct val="100000"/>
                        </a:lnSpc>
                        <a:spcBef>
                          <a:spcPts val="0"/>
                        </a:spcBef>
                        <a:spcAft>
                          <a:spcPts val="0"/>
                        </a:spcAft>
                        <a:buNone/>
                      </a:pPr>
                      <a:r>
                        <a:rPr lang="en-US" sz="1300" u="none" cap="none" strike="noStrike"/>
                        <a:t>Single-Task</a:t>
                      </a:r>
                      <a:endParaRPr sz="1600"/>
                    </a:p>
                  </a:txBody>
                  <a:tcPr marT="45725" marB="45725" marR="91450" marL="91450" anchor="ctr">
                    <a:lnL cap="flat" cmpd="sng" w="38100">
                      <a:solidFill>
                        <a:schemeClr val="lt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469050">
                <a:tc>
                  <a:txBody>
                    <a:bodyPr/>
                    <a:lstStyle/>
                    <a:p>
                      <a:pPr indent="0" lvl="0" marL="0" marR="0" rtl="0" algn="ctr">
                        <a:lnSpc>
                          <a:spcPct val="100000"/>
                        </a:lnSpc>
                        <a:spcBef>
                          <a:spcPts val="0"/>
                        </a:spcBef>
                        <a:spcAft>
                          <a:spcPts val="0"/>
                        </a:spcAft>
                        <a:buNone/>
                      </a:pPr>
                      <a:r>
                        <a:rPr lang="en-US" sz="1300" u="none" cap="none" strike="noStrike"/>
                        <a:t>bert-base-multilingual-cased</a:t>
                      </a:r>
                      <a:endParaRPr sz="1300" u="none" cap="none" strike="noStrike"/>
                    </a:p>
                    <a:p>
                      <a:pPr indent="0" lvl="0" marL="0" marR="0" rtl="0" algn="ctr">
                        <a:lnSpc>
                          <a:spcPct val="100000"/>
                        </a:lnSpc>
                        <a:spcBef>
                          <a:spcPts val="0"/>
                        </a:spcBef>
                        <a:spcAft>
                          <a:spcPts val="0"/>
                        </a:spcAft>
                        <a:buNone/>
                      </a:pPr>
                      <a:r>
                        <a:rPr lang="en-US" sz="1300" u="none" cap="none" strike="noStrike"/>
                        <a:t>(</a:t>
                      </a:r>
                      <a:r>
                        <a:rPr lang="en-US" sz="1300" u="none" cap="none" strike="noStrike"/>
                        <a:t>multilingual_dataset)</a:t>
                      </a:r>
                      <a:endParaRPr sz="1600"/>
                    </a:p>
                  </a:txBody>
                  <a:tcPr marT="45725" marB="45725" marR="91450" marL="91450" anchor="ctr">
                    <a:lnL cap="flat" cmpd="sng" w="38100">
                      <a:solidFill>
                        <a:schemeClr val="dk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a:t>toxicity</a:t>
                      </a:r>
                      <a:endParaRPr/>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u="none" cap="none" strike="noStrike"/>
                        <a:t>88</a:t>
                      </a:r>
                      <a:r>
                        <a:rPr lang="en-US" sz="1300"/>
                        <a:t>%</a:t>
                      </a:r>
                      <a:endParaRPr sz="1600"/>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u="none" cap="none" strike="noStrike"/>
                        <a:t>88</a:t>
                      </a:r>
                      <a:r>
                        <a:rPr lang="en-US" sz="1300"/>
                        <a:t>%</a:t>
                      </a:r>
                      <a:endParaRPr sz="1600"/>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u="none" cap="none" strike="noStrike"/>
                        <a:t>88</a:t>
                      </a:r>
                      <a:r>
                        <a:rPr lang="en-US" sz="1300"/>
                        <a:t>%</a:t>
                      </a:r>
                      <a:endParaRPr sz="1600"/>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US"/>
                        <a:t>88%</a:t>
                      </a:r>
                      <a:endParaRPr sz="1600"/>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dk1"/>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None/>
                      </a:pPr>
                      <a:r>
                        <a:rPr lang="en-US" sz="1300" u="none" cap="none" strike="noStrike"/>
                        <a:t>Single-Task</a:t>
                      </a:r>
                      <a:endParaRPr sz="1600"/>
                    </a:p>
                  </a:txBody>
                  <a:tcPr marT="45725" marB="45725" marR="91450" marL="91450" anchor="ctr">
                    <a:lnL cap="flat" cmpd="sng" w="38100">
                      <a:solidFill>
                        <a:schemeClr val="lt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dk1"/>
                      </a:solidFill>
                      <a:prstDash val="solid"/>
                      <a:round/>
                      <a:headEnd len="sm" w="sm" type="none"/>
                      <a:tailEnd len="sm" w="sm" type="none"/>
                    </a:lnB>
                  </a:tcPr>
                </a:tc>
              </a:tr>
              <a:tr h="312400">
                <a:tc rowSpan="3">
                  <a:txBody>
                    <a:bodyPr/>
                    <a:lstStyle/>
                    <a:p>
                      <a:pPr indent="0" lvl="0" marL="0" rtl="0" algn="ctr">
                        <a:spcBef>
                          <a:spcPts val="0"/>
                        </a:spcBef>
                        <a:spcAft>
                          <a:spcPts val="0"/>
                        </a:spcAft>
                        <a:buNone/>
                      </a:pPr>
                      <a:r>
                        <a:rPr lang="en-US" sz="1300"/>
                        <a:t>U</a:t>
                      </a:r>
                      <a:r>
                        <a:rPr lang="en-US" sz="1300">
                          <a:solidFill>
                            <a:schemeClr val="dk1"/>
                          </a:solidFill>
                          <a:latin typeface="Calibri"/>
                          <a:ea typeface="Calibri"/>
                          <a:cs typeface="Calibri"/>
                          <a:sym typeface="Calibri"/>
                        </a:rPr>
                        <a:t>nified </a:t>
                      </a:r>
                      <a:r>
                        <a:rPr lang="en-US" sz="1300"/>
                        <a:t>M</a:t>
                      </a:r>
                      <a:r>
                        <a:rPr lang="en-US" sz="1300">
                          <a:solidFill>
                            <a:schemeClr val="dk1"/>
                          </a:solidFill>
                          <a:latin typeface="Calibri"/>
                          <a:ea typeface="Calibri"/>
                          <a:cs typeface="Calibri"/>
                          <a:sym typeface="Calibri"/>
                        </a:rPr>
                        <a:t>odel </a:t>
                      </a:r>
                      <a:endParaRPr sz="1300">
                        <a:solidFill>
                          <a:schemeClr val="dk1"/>
                        </a:solidFill>
                        <a:latin typeface="Calibri"/>
                        <a:ea typeface="Calibri"/>
                        <a:cs typeface="Calibri"/>
                        <a:sym typeface="Calibri"/>
                      </a:endParaRPr>
                    </a:p>
                    <a:p>
                      <a:pPr indent="0" lvl="0" marL="0" rtl="0" algn="ctr">
                        <a:spcBef>
                          <a:spcPts val="0"/>
                        </a:spcBef>
                        <a:spcAft>
                          <a:spcPts val="0"/>
                        </a:spcAft>
                        <a:buNone/>
                      </a:pPr>
                      <a:r>
                        <a:rPr lang="en-US" sz="1300">
                          <a:solidFill>
                            <a:schemeClr val="dk1"/>
                          </a:solidFill>
                          <a:latin typeface="Calibri"/>
                          <a:ea typeface="Calibri"/>
                          <a:cs typeface="Calibri"/>
                          <a:sym typeface="Calibri"/>
                        </a:rPr>
                        <a:t>(trained using bert-base-german-cased)</a:t>
                      </a:r>
                      <a:endParaRPr sz="1300">
                        <a:solidFill>
                          <a:schemeClr val="dk1"/>
                        </a:solidFill>
                        <a:latin typeface="Calibri"/>
                        <a:ea typeface="Calibri"/>
                        <a:cs typeface="Calibri"/>
                        <a:sym typeface="Calibri"/>
                      </a:endParaRPr>
                    </a:p>
                  </a:txBody>
                  <a:tcPr marT="45725" marB="45725" marR="91450" marL="91450" anchor="ctr">
                    <a:lnL cap="flat" cmpd="sng" w="38100">
                      <a:solidFill>
                        <a:schemeClr val="dk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Clr>
                          <a:srgbClr val="000000"/>
                        </a:buClr>
                        <a:buFont typeface="Arial"/>
                        <a:buNone/>
                      </a:pPr>
                      <a:r>
                        <a:rPr lang="en-US" sz="1300"/>
                        <a:t>hate_speech</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spcBef>
                          <a:spcPts val="0"/>
                        </a:spcBef>
                        <a:spcAft>
                          <a:spcPts val="0"/>
                        </a:spcAft>
                        <a:buClr>
                          <a:srgbClr val="000000"/>
                        </a:buClr>
                        <a:buFont typeface="Arial"/>
                        <a:buNone/>
                      </a:pPr>
                      <a:r>
                        <a:rPr lang="en-US"/>
                        <a:t>76%</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a:t>73%</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a:t>74%</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a:t>76%</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F2CC"/>
                    </a:solidFill>
                  </a:tcPr>
                </a:tc>
                <a:tc rowSpan="3">
                  <a:txBody>
                    <a:bodyPr/>
                    <a:lstStyle/>
                    <a:p>
                      <a:pPr indent="0" lvl="0" marL="0" marR="0" rtl="0" algn="ctr">
                        <a:lnSpc>
                          <a:spcPct val="100000"/>
                        </a:lnSpc>
                        <a:spcBef>
                          <a:spcPts val="0"/>
                        </a:spcBef>
                        <a:spcAft>
                          <a:spcPts val="0"/>
                        </a:spcAft>
                        <a:buNone/>
                      </a:pPr>
                      <a:r>
                        <a:rPr lang="en-US" sz="1300"/>
                        <a:t>Multi-Task</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12375">
                <a:tc vMerge="1"/>
                <a:tc>
                  <a:txBody>
                    <a:bodyPr/>
                    <a:lstStyle/>
                    <a:p>
                      <a:pPr indent="0" lvl="0" marL="0" marR="0" rtl="0" algn="ctr">
                        <a:lnSpc>
                          <a:spcPct val="100000"/>
                        </a:lnSpc>
                        <a:spcBef>
                          <a:spcPts val="0"/>
                        </a:spcBef>
                        <a:spcAft>
                          <a:spcPts val="0"/>
                        </a:spcAft>
                        <a:buNone/>
                      </a:pPr>
                      <a:r>
                        <a:rPr lang="en-US" sz="1300" u="none" cap="none" strike="noStrike"/>
                        <a:t>fake_news</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a:t>81%</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a:t>84%</a:t>
                      </a:r>
                      <a:endParaRPr sz="1300"/>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a:t>85%</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a:t>85%</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F2CC"/>
                    </a:solidFill>
                  </a:tcPr>
                </a:tc>
                <a:tc vMerge="1"/>
              </a:tr>
              <a:tr h="285625">
                <a:tc vMerge="1"/>
                <a:tc>
                  <a:txBody>
                    <a:bodyPr/>
                    <a:lstStyle/>
                    <a:p>
                      <a:pPr indent="0" lvl="0" marL="0" rtl="0" algn="ctr">
                        <a:spcBef>
                          <a:spcPts val="0"/>
                        </a:spcBef>
                        <a:spcAft>
                          <a:spcPts val="0"/>
                        </a:spcAft>
                        <a:buClr>
                          <a:srgbClr val="000000"/>
                        </a:buClr>
                        <a:buFont typeface="Arial"/>
                        <a:buNone/>
                      </a:pPr>
                      <a:r>
                        <a:rPr lang="en-US" sz="1300"/>
                        <a:t>toxicity</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a:t>90%</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a:t>89%</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a:t>90%</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a:t>91%</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dk1"/>
                      </a:solidFill>
                      <a:prstDash val="solid"/>
                      <a:round/>
                      <a:headEnd len="sm" w="sm" type="none"/>
                      <a:tailEnd len="sm" w="sm" type="none"/>
                    </a:lnB>
                    <a:solidFill>
                      <a:srgbClr val="D9EAD3"/>
                    </a:solidFill>
                  </a:tcPr>
                </a:tc>
                <a:tc vMerge="1"/>
              </a:tr>
              <a:tr h="347400">
                <a:tc rowSpan="3">
                  <a:txBody>
                    <a:bodyPr/>
                    <a:lstStyle/>
                    <a:p>
                      <a:pPr indent="0" lvl="0" marL="0" marR="0" rtl="0" algn="ctr">
                        <a:lnSpc>
                          <a:spcPct val="100000"/>
                        </a:lnSpc>
                        <a:spcBef>
                          <a:spcPts val="0"/>
                        </a:spcBef>
                        <a:spcAft>
                          <a:spcPts val="0"/>
                        </a:spcAft>
                        <a:buNone/>
                      </a:pPr>
                      <a:r>
                        <a:rPr lang="en-US" sz="1300"/>
                        <a:t>U</a:t>
                      </a:r>
                      <a:r>
                        <a:rPr lang="en-US" sz="1300">
                          <a:solidFill>
                            <a:schemeClr val="dk1"/>
                          </a:solidFill>
                          <a:latin typeface="Calibri"/>
                          <a:ea typeface="Calibri"/>
                          <a:cs typeface="Calibri"/>
                          <a:sym typeface="Calibri"/>
                        </a:rPr>
                        <a:t>nified Model</a:t>
                      </a:r>
                      <a:endParaRPr sz="13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lang="en-US" sz="1300"/>
                        <a:t>(</a:t>
                      </a:r>
                      <a:r>
                        <a:rPr lang="en-US" sz="1300">
                          <a:solidFill>
                            <a:schemeClr val="dk1"/>
                          </a:solidFill>
                          <a:latin typeface="Calibri"/>
                          <a:ea typeface="Calibri"/>
                          <a:cs typeface="Calibri"/>
                          <a:sym typeface="Calibri"/>
                        </a:rPr>
                        <a:t>t5-model)</a:t>
                      </a:r>
                      <a:endParaRPr sz="1300" u="none" cap="none" strike="noStrike">
                        <a:solidFill>
                          <a:schemeClr val="dk1"/>
                        </a:solidFill>
                        <a:latin typeface="Calibri"/>
                        <a:ea typeface="Calibri"/>
                        <a:cs typeface="Calibri"/>
                        <a:sym typeface="Calibri"/>
                      </a:endParaRPr>
                    </a:p>
                  </a:txBody>
                  <a:tcPr marT="45725" marB="45725" marR="91450" marL="91450" anchor="ctr">
                    <a:lnL cap="flat" cmpd="sng" w="38100">
                      <a:solidFill>
                        <a:schemeClr val="dk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Clr>
                          <a:srgbClr val="000000"/>
                        </a:buClr>
                        <a:buFont typeface="Arial"/>
                        <a:buNone/>
                      </a:pPr>
                      <a:r>
                        <a:rPr lang="en-US" sz="1300"/>
                        <a:t>hate_speech</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a:t>54%</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a:t>48%</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a:t>42%</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a:t>68%</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lt1"/>
                      </a:solidFill>
                      <a:prstDash val="solid"/>
                      <a:round/>
                      <a:headEnd len="sm" w="sm" type="none"/>
                      <a:tailEnd len="sm" w="sm" type="none"/>
                    </a:lnB>
                  </a:tcPr>
                </a:tc>
                <a:tc rowSpan="3">
                  <a:txBody>
                    <a:bodyPr/>
                    <a:lstStyle/>
                    <a:p>
                      <a:pPr indent="0" lvl="0" marL="0" marR="0" rtl="0" algn="ctr">
                        <a:lnSpc>
                          <a:spcPct val="100000"/>
                        </a:lnSpc>
                        <a:spcBef>
                          <a:spcPts val="0"/>
                        </a:spcBef>
                        <a:spcAft>
                          <a:spcPts val="0"/>
                        </a:spcAft>
                        <a:buNone/>
                      </a:pPr>
                      <a:r>
                        <a:rPr lang="en-US" sz="1300">
                          <a:solidFill>
                            <a:schemeClr val="dk1"/>
                          </a:solidFill>
                          <a:latin typeface="Calibri"/>
                          <a:ea typeface="Calibri"/>
                          <a:cs typeface="Calibri"/>
                          <a:sym typeface="Calibri"/>
                        </a:rPr>
                        <a:t>Multi-Task</a:t>
                      </a:r>
                      <a:endParaRPr sz="1300" u="none" cap="none" strike="noStrike">
                        <a:solidFill>
                          <a:schemeClr val="dk1"/>
                        </a:solidFill>
                        <a:latin typeface="Calibri"/>
                        <a:ea typeface="Calibri"/>
                        <a:cs typeface="Calibri"/>
                        <a:sym typeface="Calibri"/>
                      </a:endParaRPr>
                    </a:p>
                  </a:txBody>
                  <a:tcPr marT="45725" marB="45725" marR="91450" marL="91450" anchor="ctr">
                    <a:lnL cap="flat" cmpd="sng" w="38100">
                      <a:solidFill>
                        <a:schemeClr val="lt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312400">
                <a:tc vMerge="1"/>
                <a:tc>
                  <a:txBody>
                    <a:bodyPr/>
                    <a:lstStyle/>
                    <a:p>
                      <a:pPr indent="0" lvl="0" marL="0" marR="0" rtl="0" algn="ctr">
                        <a:lnSpc>
                          <a:spcPct val="100000"/>
                        </a:lnSpc>
                        <a:spcBef>
                          <a:spcPts val="0"/>
                        </a:spcBef>
                        <a:spcAft>
                          <a:spcPts val="0"/>
                        </a:spcAft>
                        <a:buNone/>
                      </a:pPr>
                      <a:r>
                        <a:rPr lang="en-US" sz="1300" u="none" cap="none" strike="noStrike"/>
                        <a:t>fake_news</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a:t>71%</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a:t>50%</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a:t>51%</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300"/>
                        <a:t>73%</a:t>
                      </a:r>
                      <a:endParaRPr sz="13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vMerge="1"/>
              </a:tr>
              <a:tr h="285625">
                <a:tc vMerge="1"/>
                <a:tc>
                  <a:txBody>
                    <a:bodyPr/>
                    <a:lstStyle/>
                    <a:p>
                      <a:pPr indent="0" lvl="0" marL="0" rtl="0" algn="ctr">
                        <a:spcBef>
                          <a:spcPts val="0"/>
                        </a:spcBef>
                        <a:spcAft>
                          <a:spcPts val="0"/>
                        </a:spcAft>
                        <a:buClr>
                          <a:srgbClr val="000000"/>
                        </a:buClr>
                        <a:buFont typeface="Arial"/>
                        <a:buNone/>
                      </a:pPr>
                      <a:r>
                        <a:rPr lang="en-US" sz="1100"/>
                        <a:t>toxicity</a:t>
                      </a:r>
                      <a:endParaRPr sz="11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100"/>
                        <a:t>45%</a:t>
                      </a:r>
                      <a:endParaRPr sz="11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100"/>
                        <a:t>49%</a:t>
                      </a:r>
                      <a:endParaRPr sz="11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100"/>
                        <a:t>40%</a:t>
                      </a:r>
                      <a:endParaRPr sz="11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US" sz="1100"/>
                        <a:t>51%</a:t>
                      </a:r>
                      <a:endParaRPr sz="1100" u="none" cap="none" strike="noStrike"/>
                    </a:p>
                  </a:txBody>
                  <a:tcPr marT="45725" marB="45725" marR="91450" marL="9145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dk1"/>
                      </a:solidFill>
                      <a:prstDash val="solid"/>
                      <a:round/>
                      <a:headEnd len="sm" w="sm" type="none"/>
                      <a:tailEnd len="sm" w="sm" type="none"/>
                    </a:lnB>
                  </a:tcPr>
                </a:tc>
                <a:tc vMerge="1"/>
              </a:tr>
            </a:tbl>
          </a:graphicData>
        </a:graphic>
      </p:graphicFrame>
      <p:sp>
        <p:nvSpPr>
          <p:cNvPr id="302" name="Google Shape;302;p25"/>
          <p:cNvSpPr txBox="1"/>
          <p:nvPr>
            <p:ph idx="12" type="sldNum"/>
          </p:nvPr>
        </p:nvSpPr>
        <p:spPr>
          <a:xfrm>
            <a:off x="8392909" y="4667926"/>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6"/>
          <p:cNvSpPr txBox="1"/>
          <p:nvPr>
            <p:ph type="ctrTitle"/>
          </p:nvPr>
        </p:nvSpPr>
        <p:spPr>
          <a:xfrm>
            <a:off x="1125450" y="1456125"/>
            <a:ext cx="6433500" cy="17505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US" sz="2600">
                <a:latin typeface="Lato"/>
                <a:ea typeface="Lato"/>
                <a:cs typeface="Lato"/>
                <a:sym typeface="Lato"/>
              </a:rPr>
              <a:t>PROMPTING</a:t>
            </a:r>
            <a:endParaRPr sz="6000"/>
          </a:p>
        </p:txBody>
      </p:sp>
      <p:sp>
        <p:nvSpPr>
          <p:cNvPr id="308" name="Google Shape;308;p26"/>
          <p:cNvSpPr txBox="1"/>
          <p:nvPr>
            <p:ph idx="12" type="sldNum"/>
          </p:nvPr>
        </p:nvSpPr>
        <p:spPr>
          <a:xfrm>
            <a:off x="8249509" y="46781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07"/>
                                        </p:tgtEl>
                                        <p:attrNameLst>
                                          <p:attrName>style.visibility</p:attrName>
                                        </p:attrNameLst>
                                      </p:cBhvr>
                                      <p:to>
                                        <p:strVal val="visible"/>
                                      </p:to>
                                    </p:set>
                                    <p:anim calcmode="lin" valueType="num">
                                      <p:cBhvr additive="base">
                                        <p:cTn dur="1000"/>
                                        <p:tgtEl>
                                          <p:spTgt spid="307"/>
                                        </p:tgtEl>
                                        <p:attrNameLst>
                                          <p:attrName>ppt_w</p:attrName>
                                        </p:attrNameLst>
                                      </p:cBhvr>
                                      <p:tavLst>
                                        <p:tav fmla="" tm="0">
                                          <p:val>
                                            <p:strVal val="0"/>
                                          </p:val>
                                        </p:tav>
                                        <p:tav fmla="" tm="100000">
                                          <p:val>
                                            <p:strVal val="#ppt_w"/>
                                          </p:val>
                                        </p:tav>
                                      </p:tavLst>
                                    </p:anim>
                                    <p:anim calcmode="lin" valueType="num">
                                      <p:cBhvr additive="base">
                                        <p:cTn dur="1000"/>
                                        <p:tgtEl>
                                          <p:spTgt spid="30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7"/>
          <p:cNvSpPr txBox="1"/>
          <p:nvPr>
            <p:ph type="title"/>
          </p:nvPr>
        </p:nvSpPr>
        <p:spPr>
          <a:xfrm>
            <a:off x="611750" y="138075"/>
            <a:ext cx="4563900" cy="640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US" sz="2800"/>
              <a:t>Prompting</a:t>
            </a:r>
            <a:endParaRPr sz="2800"/>
          </a:p>
        </p:txBody>
      </p:sp>
      <p:sp>
        <p:nvSpPr>
          <p:cNvPr id="314" name="Google Shape;314;p27"/>
          <p:cNvSpPr txBox="1"/>
          <p:nvPr/>
        </p:nvSpPr>
        <p:spPr>
          <a:xfrm>
            <a:off x="558398" y="1143372"/>
            <a:ext cx="8547900" cy="34326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US">
                <a:latin typeface="Times New Roman"/>
                <a:ea typeface="Times New Roman"/>
                <a:cs typeface="Times New Roman"/>
                <a:sym typeface="Times New Roman"/>
              </a:rPr>
              <a:t>Note: There are </a:t>
            </a:r>
            <a:r>
              <a:rPr b="1" lang="en-US">
                <a:latin typeface="Times New Roman"/>
                <a:ea typeface="Times New Roman"/>
                <a:cs typeface="Times New Roman"/>
                <a:sym typeface="Times New Roman"/>
              </a:rPr>
              <a:t>altogether</a:t>
            </a:r>
            <a:r>
              <a:rPr b="1" lang="en-US">
                <a:latin typeface="Times New Roman"/>
                <a:ea typeface="Times New Roman"/>
                <a:cs typeface="Times New Roman"/>
                <a:sym typeface="Times New Roman"/>
              </a:rPr>
              <a:t> 6 different prompts we tried individually. One of them is listed here:</a:t>
            </a:r>
            <a:endParaRPr b="1">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1" lang="en-US">
                <a:latin typeface="Times New Roman"/>
                <a:ea typeface="Times New Roman"/>
                <a:cs typeface="Times New Roman"/>
                <a:sym typeface="Times New Roman"/>
              </a:rPr>
              <a:t>-&gt; </a:t>
            </a:r>
            <a:r>
              <a:rPr b="1" i="0" lang="en-US" u="none" cap="none" strike="noStrike">
                <a:solidFill>
                  <a:srgbClr val="000000"/>
                </a:solidFill>
                <a:latin typeface="Times New Roman"/>
                <a:ea typeface="Times New Roman"/>
                <a:cs typeface="Times New Roman"/>
                <a:sym typeface="Times New Roman"/>
              </a:rPr>
              <a:t>Role:</a:t>
            </a:r>
            <a:endParaRPr>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i="0" lang="en-US" u="none" cap="none" strike="noStrike">
                <a:solidFill>
                  <a:srgbClr val="000000"/>
                </a:solidFill>
                <a:latin typeface="Times New Roman"/>
                <a:ea typeface="Times New Roman"/>
                <a:cs typeface="Times New Roman"/>
                <a:sym typeface="Times New Roman"/>
              </a:rPr>
              <a:t>You are a content </a:t>
            </a:r>
            <a:r>
              <a:rPr lang="en-US">
                <a:latin typeface="Times New Roman"/>
                <a:ea typeface="Times New Roman"/>
                <a:cs typeface="Times New Roman"/>
                <a:sym typeface="Times New Roman"/>
              </a:rPr>
              <a:t>analyser</a:t>
            </a:r>
            <a:r>
              <a:rPr i="0" lang="en-US" u="none" cap="none" strike="noStrike">
                <a:solidFill>
                  <a:srgbClr val="000000"/>
                </a:solidFill>
                <a:latin typeface="Times New Roman"/>
                <a:ea typeface="Times New Roman"/>
                <a:cs typeface="Times New Roman"/>
                <a:sym typeface="Times New Roman"/>
              </a:rPr>
              <a:t> designed to classify German-language social media posts or tweets into three categories: </a:t>
            </a:r>
            <a:endParaRPr i="0" u="none" cap="none" strike="noStrike">
              <a:solidFill>
                <a:srgbClr val="000000"/>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i="0" lang="en-US" u="none" cap="none" strike="noStrike">
                <a:solidFill>
                  <a:srgbClr val="000000"/>
                </a:solidFill>
                <a:latin typeface="Times New Roman"/>
                <a:ea typeface="Times New Roman"/>
                <a:cs typeface="Times New Roman"/>
                <a:sym typeface="Times New Roman"/>
              </a:rPr>
              <a:t>Fake News, Hate Speech, and Toxicity.</a:t>
            </a:r>
            <a:endParaRPr>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i="0" lang="en-US" u="none" cap="none" strike="noStrike">
                <a:solidFill>
                  <a:srgbClr val="000000"/>
                </a:solidFill>
                <a:latin typeface="Times New Roman"/>
                <a:ea typeface="Times New Roman"/>
                <a:cs typeface="Times New Roman"/>
                <a:sym typeface="Times New Roman"/>
              </a:rPr>
              <a:t>- Fake News Classification: `neutral_post (0)` or `possible_fake_news (1)`  </a:t>
            </a:r>
            <a:endParaRPr>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i="0" lang="en-US" u="none" cap="none" strike="noStrike">
                <a:solidFill>
                  <a:srgbClr val="000000"/>
                </a:solidFill>
                <a:latin typeface="Times New Roman"/>
                <a:ea typeface="Times New Roman"/>
                <a:cs typeface="Times New Roman"/>
                <a:sym typeface="Times New Roman"/>
              </a:rPr>
              <a:t>- Hate Speech Classification: `neutral_comment (0)` or `possible_hate_speech (1)`  </a:t>
            </a:r>
            <a:endParaRPr>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lang="en-US">
                <a:latin typeface="Times New Roman"/>
                <a:ea typeface="Times New Roman"/>
                <a:cs typeface="Times New Roman"/>
                <a:sym typeface="Times New Roman"/>
              </a:rPr>
              <a:t>-</a:t>
            </a:r>
            <a:r>
              <a:rPr i="0" lang="en-US" u="none" cap="none" strike="noStrike">
                <a:solidFill>
                  <a:srgbClr val="000000"/>
                </a:solidFill>
                <a:latin typeface="Times New Roman"/>
                <a:ea typeface="Times New Roman"/>
                <a:cs typeface="Times New Roman"/>
                <a:sym typeface="Times New Roman"/>
              </a:rPr>
              <a:t>Toxicity Classification: `non_toxic (0)` or `possible_toxic (1)`  </a:t>
            </a:r>
            <a:endParaRPr>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1" lang="en-US">
                <a:latin typeface="Times New Roman"/>
                <a:ea typeface="Times New Roman"/>
                <a:cs typeface="Times New Roman"/>
                <a:sym typeface="Times New Roman"/>
              </a:rPr>
              <a:t>-&gt;</a:t>
            </a:r>
            <a:r>
              <a:rPr lang="en-US">
                <a:latin typeface="Times New Roman"/>
                <a:ea typeface="Times New Roman"/>
                <a:cs typeface="Times New Roman"/>
                <a:sym typeface="Times New Roman"/>
              </a:rPr>
              <a:t> </a:t>
            </a:r>
            <a:r>
              <a:rPr b="1" lang="en-US">
                <a:latin typeface="Times New Roman"/>
                <a:ea typeface="Times New Roman"/>
                <a:cs typeface="Times New Roman"/>
                <a:sym typeface="Times New Roman"/>
              </a:rPr>
              <a:t>Important Guidelines</a:t>
            </a:r>
            <a:endParaRPr b="1">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1" lang="en-US">
                <a:latin typeface="Times New Roman"/>
                <a:ea typeface="Times New Roman"/>
                <a:cs typeface="Times New Roman"/>
                <a:sym typeface="Times New Roman"/>
              </a:rPr>
              <a:t>-&gt;</a:t>
            </a:r>
            <a:r>
              <a:rPr lang="en-US">
                <a:latin typeface="Times New Roman"/>
                <a:ea typeface="Times New Roman"/>
                <a:cs typeface="Times New Roman"/>
                <a:sym typeface="Times New Roman"/>
              </a:rPr>
              <a:t> </a:t>
            </a:r>
            <a:r>
              <a:rPr b="1" lang="en-US">
                <a:latin typeface="Times New Roman"/>
                <a:ea typeface="Times New Roman"/>
                <a:cs typeface="Times New Roman"/>
                <a:sym typeface="Times New Roman"/>
              </a:rPr>
              <a:t>Examples</a:t>
            </a:r>
            <a:endParaRPr b="1">
              <a:latin typeface="Times New Roman"/>
              <a:ea typeface="Times New Roman"/>
              <a:cs typeface="Times New Roman"/>
              <a:sym typeface="Times New Roman"/>
            </a:endParaRPr>
          </a:p>
          <a:p>
            <a:pPr indent="-196850" lvl="0" marL="285750" marR="0" rtl="0" algn="l">
              <a:lnSpc>
                <a:spcPct val="100000"/>
              </a:lnSpc>
              <a:spcBef>
                <a:spcPts val="0"/>
              </a:spcBef>
              <a:spcAft>
                <a:spcPts val="0"/>
              </a:spcAft>
              <a:buClr>
                <a:srgbClr val="000000"/>
              </a:buClr>
              <a:buSzPts val="1400"/>
              <a:buFont typeface="Arial"/>
              <a:buNone/>
            </a:pPr>
            <a:r>
              <a:t/>
            </a:r>
            <a:endParaRPr i="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u="none" cap="none" strike="noStrike">
              <a:solidFill>
                <a:srgbClr val="000000"/>
              </a:solidFill>
              <a:latin typeface="Times New Roman"/>
              <a:ea typeface="Times New Roman"/>
              <a:cs typeface="Times New Roman"/>
              <a:sym typeface="Times New Roman"/>
            </a:endParaRPr>
          </a:p>
        </p:txBody>
      </p:sp>
      <p:sp>
        <p:nvSpPr>
          <p:cNvPr id="315" name="Google Shape;315;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1000"/>
                                        <p:tgtEl>
                                          <p:spTgt spid="3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8"/>
          <p:cNvSpPr txBox="1"/>
          <p:nvPr>
            <p:ph type="title"/>
          </p:nvPr>
        </p:nvSpPr>
        <p:spPr>
          <a:xfrm>
            <a:off x="986025" y="43425"/>
            <a:ext cx="4616400" cy="50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1" lang="en-US" sz="2800"/>
              <a:t>Prompting Results</a:t>
            </a:r>
            <a:endParaRPr sz="2800"/>
          </a:p>
        </p:txBody>
      </p:sp>
      <p:graphicFrame>
        <p:nvGraphicFramePr>
          <p:cNvPr id="321" name="Google Shape;321;p28"/>
          <p:cNvGraphicFramePr/>
          <p:nvPr/>
        </p:nvGraphicFramePr>
        <p:xfrm>
          <a:off x="943337" y="653322"/>
          <a:ext cx="3000000" cy="3000000"/>
        </p:xfrm>
        <a:graphic>
          <a:graphicData uri="http://schemas.openxmlformats.org/drawingml/2006/table">
            <a:tbl>
              <a:tblPr>
                <a:noFill/>
                <a:tableStyleId>{9BB5A15F-8D2F-480F-BC01-926767B9482E}</a:tableStyleId>
              </a:tblPr>
              <a:tblGrid>
                <a:gridCol w="496300"/>
                <a:gridCol w="3025925"/>
                <a:gridCol w="2483625"/>
                <a:gridCol w="1251500"/>
              </a:tblGrid>
              <a:tr h="198150">
                <a:tc>
                  <a:txBody>
                    <a:bodyPr/>
                    <a:lstStyle/>
                    <a:p>
                      <a:pPr indent="0" lvl="0" marL="0" marR="0" rtl="0" algn="ctr">
                        <a:lnSpc>
                          <a:spcPct val="100000"/>
                        </a:lnSpc>
                        <a:spcBef>
                          <a:spcPts val="0"/>
                        </a:spcBef>
                        <a:spcAft>
                          <a:spcPts val="0"/>
                        </a:spcAft>
                        <a:buNone/>
                      </a:pPr>
                      <a:r>
                        <a:rPr b="1" lang="en-US" sz="1400" u="none" cap="none" strike="noStrike">
                          <a:latin typeface="Calibri"/>
                          <a:ea typeface="Calibri"/>
                          <a:cs typeface="Calibri"/>
                          <a:sym typeface="Calibri"/>
                        </a:rPr>
                        <a:t>S.no</a:t>
                      </a:r>
                      <a:endParaRPr b="1" i="0" sz="1400" u="none" cap="none" strike="noStrike">
                        <a:solidFill>
                          <a:srgbClr val="000000"/>
                        </a:solidFill>
                        <a:latin typeface="Calibri"/>
                        <a:ea typeface="Calibri"/>
                        <a:cs typeface="Calibri"/>
                        <a:sym typeface="Calibri"/>
                      </a:endParaRPr>
                    </a:p>
                  </a:txBody>
                  <a:tcPr marT="3725" marB="0" marR="3725" marL="3725" anchor="ctr"/>
                </a:tc>
                <a:tc>
                  <a:txBody>
                    <a:bodyPr/>
                    <a:lstStyle/>
                    <a:p>
                      <a:pPr indent="0" lvl="0" marL="0" marR="0" rtl="0" algn="ctr">
                        <a:lnSpc>
                          <a:spcPct val="100000"/>
                        </a:lnSpc>
                        <a:spcBef>
                          <a:spcPts val="0"/>
                        </a:spcBef>
                        <a:spcAft>
                          <a:spcPts val="0"/>
                        </a:spcAft>
                        <a:buNone/>
                      </a:pPr>
                      <a:r>
                        <a:rPr b="1" lang="en-US" sz="1400" u="none" cap="none" strike="noStrike">
                          <a:latin typeface="Calibri"/>
                          <a:ea typeface="Calibri"/>
                          <a:cs typeface="Calibri"/>
                          <a:sym typeface="Calibri"/>
                        </a:rPr>
                        <a:t>Model_Name</a:t>
                      </a:r>
                      <a:endParaRPr b="1" i="0" sz="1400" u="none" cap="none" strike="noStrike">
                        <a:solidFill>
                          <a:srgbClr val="000000"/>
                        </a:solidFill>
                        <a:latin typeface="Calibri"/>
                        <a:ea typeface="Calibri"/>
                        <a:cs typeface="Calibri"/>
                        <a:sym typeface="Calibri"/>
                      </a:endParaRPr>
                    </a:p>
                  </a:txBody>
                  <a:tcPr marT="3725" marB="0" marR="3725" marL="3725" anchor="ctr"/>
                </a:tc>
                <a:tc>
                  <a:txBody>
                    <a:bodyPr/>
                    <a:lstStyle/>
                    <a:p>
                      <a:pPr indent="0" lvl="0" marL="0" marR="0" rtl="0" algn="ctr">
                        <a:lnSpc>
                          <a:spcPct val="100000"/>
                        </a:lnSpc>
                        <a:spcBef>
                          <a:spcPts val="0"/>
                        </a:spcBef>
                        <a:spcAft>
                          <a:spcPts val="0"/>
                        </a:spcAft>
                        <a:buNone/>
                      </a:pPr>
                      <a:r>
                        <a:rPr b="1" lang="en-US" sz="1400" u="none" cap="none" strike="noStrike">
                          <a:latin typeface="Calibri"/>
                          <a:ea typeface="Calibri"/>
                          <a:cs typeface="Calibri"/>
                          <a:sym typeface="Calibri"/>
                        </a:rPr>
                        <a:t>Metrics</a:t>
                      </a:r>
                      <a:endParaRPr b="1" i="0" sz="1400" u="none" cap="none" strike="noStrike">
                        <a:solidFill>
                          <a:srgbClr val="000000"/>
                        </a:solidFill>
                        <a:latin typeface="Calibri"/>
                        <a:ea typeface="Calibri"/>
                        <a:cs typeface="Calibri"/>
                        <a:sym typeface="Calibri"/>
                      </a:endParaRPr>
                    </a:p>
                  </a:txBody>
                  <a:tcPr marT="3725" marB="0" marR="3725" marL="3725" anchor="ctr"/>
                </a:tc>
                <a:tc>
                  <a:txBody>
                    <a:bodyPr/>
                    <a:lstStyle/>
                    <a:p>
                      <a:pPr indent="0" lvl="0" marL="0" marR="0" rtl="0" algn="ctr">
                        <a:lnSpc>
                          <a:spcPct val="100000"/>
                        </a:lnSpc>
                        <a:spcBef>
                          <a:spcPts val="0"/>
                        </a:spcBef>
                        <a:spcAft>
                          <a:spcPts val="0"/>
                        </a:spcAft>
                        <a:buNone/>
                      </a:pPr>
                      <a:r>
                        <a:rPr b="1" lang="en-US" sz="1400" u="none" cap="none" strike="noStrike">
                          <a:latin typeface="Calibri"/>
                          <a:ea typeface="Calibri"/>
                          <a:cs typeface="Calibri"/>
                          <a:sym typeface="Calibri"/>
                        </a:rPr>
                        <a:t>accuracy</a:t>
                      </a:r>
                      <a:endParaRPr b="1" i="0" sz="1400" u="none" cap="none" strike="noStrike">
                        <a:solidFill>
                          <a:srgbClr val="000000"/>
                        </a:solidFill>
                        <a:latin typeface="Calibri"/>
                        <a:ea typeface="Calibri"/>
                        <a:cs typeface="Calibri"/>
                        <a:sym typeface="Calibri"/>
                      </a:endParaRPr>
                    </a:p>
                  </a:txBody>
                  <a:tcPr marT="3725" marB="0" marR="3725" marL="3725" anchor="ctr"/>
                </a:tc>
              </a:tr>
              <a:tr h="198150">
                <a:tc rowSpan="3">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1</a:t>
                      </a:r>
                      <a:endParaRPr b="0"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c rowSpan="3">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llama3.1:8b-instruct-q6_K</a:t>
                      </a:r>
                      <a:endParaRPr b="0"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fake_news</a:t>
                      </a:r>
                      <a:endParaRPr b="1"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51%</a:t>
                      </a:r>
                      <a:endParaRPr b="0"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r>
              <a:tr h="198150">
                <a:tc vMerge="1"/>
                <a:tc vMerge="1"/>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hate_speech</a:t>
                      </a:r>
                      <a:endParaRPr b="1"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57%</a:t>
                      </a:r>
                      <a:endParaRPr b="0"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r>
              <a:tr h="198150">
                <a:tc vMerge="1"/>
                <a:tc vMerge="1"/>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toxicity</a:t>
                      </a:r>
                      <a:endParaRPr b="1"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58%</a:t>
                      </a:r>
                      <a:endParaRPr b="0"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r>
              <a:tr h="198150">
                <a:tc rowSpan="3">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2</a:t>
                      </a:r>
                      <a:endParaRPr b="0" i="0" sz="1400" u="none" cap="none" strike="noStrike">
                        <a:solidFill>
                          <a:srgbClr val="000000"/>
                        </a:solidFill>
                        <a:latin typeface="Calibri"/>
                        <a:ea typeface="Calibri"/>
                        <a:cs typeface="Calibri"/>
                        <a:sym typeface="Calibri"/>
                      </a:endParaRPr>
                    </a:p>
                  </a:txBody>
                  <a:tcPr marT="3725" marB="0" marR="3725" marL="3725" anchor="ctr"/>
                </a:tc>
                <a:tc rowSpan="3">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llama3.3:70b-instruct-q6_K</a:t>
                      </a:r>
                      <a:endParaRPr b="0" i="0" sz="1400" u="none" cap="none" strike="noStrike">
                        <a:solidFill>
                          <a:srgbClr val="000000"/>
                        </a:solidFill>
                        <a:latin typeface="Calibri"/>
                        <a:ea typeface="Calibri"/>
                        <a:cs typeface="Calibri"/>
                        <a:sym typeface="Calibri"/>
                      </a:endParaRPr>
                    </a:p>
                  </a:txBody>
                  <a:tcPr marT="3725" marB="0" marR="3725" marL="3725" anchor="ctr"/>
                </a:tc>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fake_news</a:t>
                      </a:r>
                      <a:endParaRPr b="1" i="0" sz="1400" u="none" cap="none" strike="noStrike">
                        <a:solidFill>
                          <a:srgbClr val="000000"/>
                        </a:solidFill>
                        <a:latin typeface="Calibri"/>
                        <a:ea typeface="Calibri"/>
                        <a:cs typeface="Calibri"/>
                        <a:sym typeface="Calibri"/>
                      </a:endParaRPr>
                    </a:p>
                  </a:txBody>
                  <a:tcPr marT="3725" marB="0" marR="3725" marL="3725" anchor="ctr"/>
                </a:tc>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60%</a:t>
                      </a:r>
                      <a:endParaRPr b="0" i="0" sz="1400" u="none" cap="none" strike="noStrike">
                        <a:solidFill>
                          <a:srgbClr val="000000"/>
                        </a:solidFill>
                        <a:latin typeface="Calibri"/>
                        <a:ea typeface="Calibri"/>
                        <a:cs typeface="Calibri"/>
                        <a:sym typeface="Calibri"/>
                      </a:endParaRPr>
                    </a:p>
                  </a:txBody>
                  <a:tcPr marT="3725" marB="0" marR="3725" marL="3725" anchor="ctr"/>
                </a:tc>
              </a:tr>
              <a:tr h="198150">
                <a:tc vMerge="1"/>
                <a:tc vMerge="1"/>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hate_speech</a:t>
                      </a:r>
                      <a:endParaRPr b="1" i="0" sz="1400" u="none" cap="none" strike="noStrike">
                        <a:solidFill>
                          <a:srgbClr val="000000"/>
                        </a:solidFill>
                        <a:latin typeface="Calibri"/>
                        <a:ea typeface="Calibri"/>
                        <a:cs typeface="Calibri"/>
                        <a:sym typeface="Calibri"/>
                      </a:endParaRPr>
                    </a:p>
                  </a:txBody>
                  <a:tcPr marT="3725" marB="0" marR="3725" marL="3725" anchor="ctr"/>
                </a:tc>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72%</a:t>
                      </a:r>
                      <a:endParaRPr b="0" i="0" sz="1400" u="none" cap="none" strike="noStrike">
                        <a:solidFill>
                          <a:srgbClr val="000000"/>
                        </a:solidFill>
                        <a:latin typeface="Calibri"/>
                        <a:ea typeface="Calibri"/>
                        <a:cs typeface="Calibri"/>
                        <a:sym typeface="Calibri"/>
                      </a:endParaRPr>
                    </a:p>
                  </a:txBody>
                  <a:tcPr marT="3725" marB="0" marR="3725" marL="3725" anchor="ctr"/>
                </a:tc>
              </a:tr>
              <a:tr h="198150">
                <a:tc vMerge="1"/>
                <a:tc vMerge="1"/>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toxicity</a:t>
                      </a:r>
                      <a:endParaRPr b="1" i="0" sz="1400" u="none" cap="none" strike="noStrike">
                        <a:solidFill>
                          <a:srgbClr val="000000"/>
                        </a:solidFill>
                        <a:latin typeface="Calibri"/>
                        <a:ea typeface="Calibri"/>
                        <a:cs typeface="Calibri"/>
                        <a:sym typeface="Calibri"/>
                      </a:endParaRPr>
                    </a:p>
                  </a:txBody>
                  <a:tcPr marT="3725" marB="0" marR="3725" marL="3725" anchor="ctr"/>
                </a:tc>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77%</a:t>
                      </a:r>
                      <a:endParaRPr b="0" i="0" sz="1400" u="none" cap="none" strike="noStrike">
                        <a:solidFill>
                          <a:srgbClr val="000000"/>
                        </a:solidFill>
                        <a:latin typeface="Calibri"/>
                        <a:ea typeface="Calibri"/>
                        <a:cs typeface="Calibri"/>
                        <a:sym typeface="Calibri"/>
                      </a:endParaRPr>
                    </a:p>
                  </a:txBody>
                  <a:tcPr marT="3725" marB="0" marR="3725" marL="3725" anchor="ctr"/>
                </a:tc>
              </a:tr>
              <a:tr h="198150">
                <a:tc rowSpan="3">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4</a:t>
                      </a:r>
                      <a:endParaRPr b="0"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c rowSpan="3">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mistral:7b-instruct-v0.2-q6_K</a:t>
                      </a:r>
                      <a:endParaRPr b="0"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fake_news</a:t>
                      </a:r>
                      <a:endParaRPr b="1"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57%</a:t>
                      </a:r>
                      <a:endParaRPr b="0"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r>
              <a:tr h="198150">
                <a:tc vMerge="1"/>
                <a:tc vMerge="1"/>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hate_speech</a:t>
                      </a:r>
                      <a:endParaRPr b="1"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64%</a:t>
                      </a:r>
                      <a:endParaRPr b="0"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r>
              <a:tr h="198150">
                <a:tc vMerge="1"/>
                <a:tc vMerge="1"/>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toxicity</a:t>
                      </a:r>
                      <a:endParaRPr b="1"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70%</a:t>
                      </a:r>
                      <a:endParaRPr b="0"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r>
              <a:tr h="198150">
                <a:tc rowSpan="3">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5</a:t>
                      </a:r>
                      <a:endParaRPr b="0" i="0" sz="1400" u="none" cap="none" strike="noStrike">
                        <a:solidFill>
                          <a:srgbClr val="000000"/>
                        </a:solidFill>
                        <a:latin typeface="Calibri"/>
                        <a:ea typeface="Calibri"/>
                        <a:cs typeface="Calibri"/>
                        <a:sym typeface="Calibri"/>
                      </a:endParaRPr>
                    </a:p>
                  </a:txBody>
                  <a:tcPr marT="3725" marB="0" marR="3725" marL="3725" anchor="ctr"/>
                </a:tc>
                <a:tc rowSpan="3">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phi4:latest</a:t>
                      </a:r>
                      <a:endParaRPr b="0" i="0" sz="1400" u="none" cap="none" strike="noStrike">
                        <a:solidFill>
                          <a:srgbClr val="000000"/>
                        </a:solidFill>
                        <a:latin typeface="Calibri"/>
                        <a:ea typeface="Calibri"/>
                        <a:cs typeface="Calibri"/>
                        <a:sym typeface="Calibri"/>
                      </a:endParaRPr>
                    </a:p>
                  </a:txBody>
                  <a:tcPr marT="3725" marB="0" marR="3725" marL="3725" anchor="ctr"/>
                </a:tc>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fake_news</a:t>
                      </a:r>
                      <a:endParaRPr b="1" i="0" sz="1400" u="none" cap="none" strike="noStrike">
                        <a:solidFill>
                          <a:srgbClr val="000000"/>
                        </a:solidFill>
                        <a:latin typeface="Calibri"/>
                        <a:ea typeface="Calibri"/>
                        <a:cs typeface="Calibri"/>
                        <a:sym typeface="Calibri"/>
                      </a:endParaRPr>
                    </a:p>
                  </a:txBody>
                  <a:tcPr marT="3725" marB="0" marR="3725" marL="3725" anchor="ctr"/>
                </a:tc>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58%</a:t>
                      </a:r>
                      <a:endParaRPr b="0" i="0" sz="1400" u="none" cap="none" strike="noStrike">
                        <a:solidFill>
                          <a:srgbClr val="000000"/>
                        </a:solidFill>
                        <a:latin typeface="Calibri"/>
                        <a:ea typeface="Calibri"/>
                        <a:cs typeface="Calibri"/>
                        <a:sym typeface="Calibri"/>
                      </a:endParaRPr>
                    </a:p>
                  </a:txBody>
                  <a:tcPr marT="3725" marB="0" marR="3725" marL="3725" anchor="ctr"/>
                </a:tc>
              </a:tr>
              <a:tr h="198150">
                <a:tc vMerge="1"/>
                <a:tc vMerge="1"/>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hate_speech</a:t>
                      </a:r>
                      <a:endParaRPr b="1" i="0" sz="1400" u="none" cap="none" strike="noStrike">
                        <a:solidFill>
                          <a:srgbClr val="000000"/>
                        </a:solidFill>
                        <a:latin typeface="Calibri"/>
                        <a:ea typeface="Calibri"/>
                        <a:cs typeface="Calibri"/>
                        <a:sym typeface="Calibri"/>
                      </a:endParaRPr>
                    </a:p>
                  </a:txBody>
                  <a:tcPr marT="3725" marB="0" marR="3725" marL="3725" anchor="ctr"/>
                </a:tc>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71%</a:t>
                      </a:r>
                      <a:endParaRPr b="0" i="0" sz="1400" u="none" cap="none" strike="noStrike">
                        <a:solidFill>
                          <a:srgbClr val="000000"/>
                        </a:solidFill>
                        <a:latin typeface="Calibri"/>
                        <a:ea typeface="Calibri"/>
                        <a:cs typeface="Calibri"/>
                        <a:sym typeface="Calibri"/>
                      </a:endParaRPr>
                    </a:p>
                  </a:txBody>
                  <a:tcPr marT="3725" marB="0" marR="3725" marL="3725" anchor="ctr"/>
                </a:tc>
              </a:tr>
              <a:tr h="264325">
                <a:tc vMerge="1"/>
                <a:tc vMerge="1"/>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toxicity</a:t>
                      </a:r>
                      <a:endParaRPr b="1" i="0" sz="1400" u="none" cap="none" strike="noStrike">
                        <a:solidFill>
                          <a:srgbClr val="000000"/>
                        </a:solidFill>
                        <a:latin typeface="Calibri"/>
                        <a:ea typeface="Calibri"/>
                        <a:cs typeface="Calibri"/>
                        <a:sym typeface="Calibri"/>
                      </a:endParaRPr>
                    </a:p>
                  </a:txBody>
                  <a:tcPr marT="3725" marB="0" marR="3725" marL="3725" anchor="ctr"/>
                </a:tc>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68%</a:t>
                      </a:r>
                      <a:endParaRPr b="0" i="0" sz="1400" u="none" cap="none" strike="noStrike">
                        <a:solidFill>
                          <a:srgbClr val="000000"/>
                        </a:solidFill>
                        <a:latin typeface="Calibri"/>
                        <a:ea typeface="Calibri"/>
                        <a:cs typeface="Calibri"/>
                        <a:sym typeface="Calibri"/>
                      </a:endParaRPr>
                    </a:p>
                  </a:txBody>
                  <a:tcPr marT="3725" marB="0" marR="3725" marL="3725" anchor="ctr"/>
                </a:tc>
              </a:tr>
              <a:tr h="198150">
                <a:tc rowSpan="3">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6</a:t>
                      </a:r>
                      <a:endParaRPr b="0"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c rowSpan="3">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gpt-4</a:t>
                      </a:r>
                      <a:r>
                        <a:rPr lang="en-US">
                          <a:latin typeface="Calibri"/>
                          <a:ea typeface="Calibri"/>
                          <a:cs typeface="Calibri"/>
                          <a:sym typeface="Calibri"/>
                        </a:rPr>
                        <a:t>o</a:t>
                      </a:r>
                      <a:r>
                        <a:rPr lang="en-US" sz="1400" u="none" cap="none" strike="noStrike">
                          <a:latin typeface="Calibri"/>
                          <a:ea typeface="Calibri"/>
                          <a:cs typeface="Calibri"/>
                          <a:sym typeface="Calibri"/>
                        </a:rPr>
                        <a:t> mini (with zero-shot prompting)</a:t>
                      </a:r>
                      <a:endParaRPr b="0"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fake_news</a:t>
                      </a:r>
                      <a:endParaRPr b="1"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c>
                  <a:txBody>
                    <a:bodyPr/>
                    <a:lstStyle/>
                    <a:p>
                      <a:pPr indent="0" lvl="0" marL="0" marR="0" rtl="0" algn="ctr">
                        <a:lnSpc>
                          <a:spcPct val="100000"/>
                        </a:lnSpc>
                        <a:spcBef>
                          <a:spcPts val="0"/>
                        </a:spcBef>
                        <a:spcAft>
                          <a:spcPts val="0"/>
                        </a:spcAft>
                        <a:buNone/>
                      </a:pPr>
                      <a:r>
                        <a:rPr lang="en-US">
                          <a:latin typeface="Calibri"/>
                          <a:ea typeface="Calibri"/>
                          <a:cs typeface="Calibri"/>
                          <a:sym typeface="Calibri"/>
                        </a:rPr>
                        <a:t>4</a:t>
                      </a:r>
                      <a:r>
                        <a:rPr lang="en-US" sz="1400" u="none" cap="none" strike="noStrike">
                          <a:latin typeface="Calibri"/>
                          <a:ea typeface="Calibri"/>
                          <a:cs typeface="Calibri"/>
                          <a:sym typeface="Calibri"/>
                        </a:rPr>
                        <a:t>0%</a:t>
                      </a:r>
                      <a:endParaRPr b="0"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r>
              <a:tr h="198150">
                <a:tc vMerge="1"/>
                <a:tc vMerge="1"/>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hate_speech</a:t>
                      </a:r>
                      <a:endParaRPr b="1"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c>
                  <a:txBody>
                    <a:bodyPr/>
                    <a:lstStyle/>
                    <a:p>
                      <a:pPr indent="0" lvl="0" marL="0" marR="0" rtl="0" algn="ctr">
                        <a:lnSpc>
                          <a:spcPct val="100000"/>
                        </a:lnSpc>
                        <a:spcBef>
                          <a:spcPts val="0"/>
                        </a:spcBef>
                        <a:spcAft>
                          <a:spcPts val="0"/>
                        </a:spcAft>
                        <a:buNone/>
                      </a:pPr>
                      <a:r>
                        <a:rPr lang="en-US">
                          <a:latin typeface="Calibri"/>
                          <a:ea typeface="Calibri"/>
                          <a:cs typeface="Calibri"/>
                          <a:sym typeface="Calibri"/>
                        </a:rPr>
                        <a:t>4</a:t>
                      </a:r>
                      <a:r>
                        <a:rPr lang="en-US" sz="1400" u="none" cap="none" strike="noStrike">
                          <a:latin typeface="Calibri"/>
                          <a:ea typeface="Calibri"/>
                          <a:cs typeface="Calibri"/>
                          <a:sym typeface="Calibri"/>
                        </a:rPr>
                        <a:t>6%</a:t>
                      </a:r>
                      <a:endParaRPr b="0"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r>
              <a:tr h="198150">
                <a:tc vMerge="1"/>
                <a:tc vMerge="1"/>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toxicity</a:t>
                      </a:r>
                      <a:endParaRPr b="1"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c>
                  <a:txBody>
                    <a:bodyPr/>
                    <a:lstStyle/>
                    <a:p>
                      <a:pPr indent="0" lvl="0" marL="0" marR="0" rtl="0" algn="ctr">
                        <a:lnSpc>
                          <a:spcPct val="100000"/>
                        </a:lnSpc>
                        <a:spcBef>
                          <a:spcPts val="0"/>
                        </a:spcBef>
                        <a:spcAft>
                          <a:spcPts val="0"/>
                        </a:spcAft>
                        <a:buNone/>
                      </a:pPr>
                      <a:r>
                        <a:rPr lang="en-US">
                          <a:latin typeface="Calibri"/>
                          <a:ea typeface="Calibri"/>
                          <a:cs typeface="Calibri"/>
                          <a:sym typeface="Calibri"/>
                        </a:rPr>
                        <a:t>4</a:t>
                      </a:r>
                      <a:r>
                        <a:rPr lang="en-US" sz="1400" u="none" cap="none" strike="noStrike">
                          <a:latin typeface="Calibri"/>
                          <a:ea typeface="Calibri"/>
                          <a:cs typeface="Calibri"/>
                          <a:sym typeface="Calibri"/>
                        </a:rPr>
                        <a:t>6%</a:t>
                      </a:r>
                      <a:endParaRPr b="0" i="0" sz="1400" u="none" cap="none" strike="noStrike">
                        <a:solidFill>
                          <a:srgbClr val="000000"/>
                        </a:solidFill>
                        <a:latin typeface="Calibri"/>
                        <a:ea typeface="Calibri"/>
                        <a:cs typeface="Calibri"/>
                        <a:sym typeface="Calibri"/>
                      </a:endParaRPr>
                    </a:p>
                  </a:txBody>
                  <a:tcPr marT="3725" marB="0" marR="3725" marL="3725" anchor="ctr">
                    <a:solidFill>
                      <a:srgbClr val="BEDBB4"/>
                    </a:solidFill>
                  </a:tcPr>
                </a:tc>
              </a:tr>
              <a:tr h="198150">
                <a:tc rowSpan="3">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7</a:t>
                      </a:r>
                      <a:endParaRPr b="0" i="0" sz="1400" u="none" cap="none" strike="noStrike">
                        <a:solidFill>
                          <a:srgbClr val="000000"/>
                        </a:solidFill>
                        <a:latin typeface="Calibri"/>
                        <a:ea typeface="Calibri"/>
                        <a:cs typeface="Calibri"/>
                        <a:sym typeface="Calibri"/>
                      </a:endParaRPr>
                    </a:p>
                  </a:txBody>
                  <a:tcPr marT="3725" marB="0" marR="3725" marL="3725" anchor="ctr"/>
                </a:tc>
                <a:tc rowSpan="3">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gpt-4</a:t>
                      </a:r>
                      <a:r>
                        <a:rPr lang="en-US">
                          <a:latin typeface="Calibri"/>
                          <a:ea typeface="Calibri"/>
                          <a:cs typeface="Calibri"/>
                          <a:sym typeface="Calibri"/>
                        </a:rPr>
                        <a:t>o</a:t>
                      </a:r>
                      <a:r>
                        <a:rPr lang="en-US" sz="1400" u="none" cap="none" strike="noStrike">
                          <a:latin typeface="Calibri"/>
                          <a:ea typeface="Calibri"/>
                          <a:cs typeface="Calibri"/>
                          <a:sym typeface="Calibri"/>
                        </a:rPr>
                        <a:t> mini (with few-shot prompting)</a:t>
                      </a:r>
                      <a:endParaRPr b="0" i="0" sz="1400" u="none" cap="none" strike="noStrike">
                        <a:solidFill>
                          <a:srgbClr val="000000"/>
                        </a:solidFill>
                        <a:latin typeface="Calibri"/>
                        <a:ea typeface="Calibri"/>
                        <a:cs typeface="Calibri"/>
                        <a:sym typeface="Calibri"/>
                      </a:endParaRPr>
                    </a:p>
                  </a:txBody>
                  <a:tcPr marT="3725" marB="0" marR="3725" marL="3725" anchor="ctr"/>
                </a:tc>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fake_news</a:t>
                      </a:r>
                      <a:endParaRPr b="1" i="0" sz="1400" u="none" cap="none" strike="noStrike">
                        <a:solidFill>
                          <a:srgbClr val="000000"/>
                        </a:solidFill>
                        <a:latin typeface="Calibri"/>
                        <a:ea typeface="Calibri"/>
                        <a:cs typeface="Calibri"/>
                        <a:sym typeface="Calibri"/>
                      </a:endParaRPr>
                    </a:p>
                  </a:txBody>
                  <a:tcPr marT="3725" marB="0" marR="3725" marL="3725" anchor="ctr"/>
                </a:tc>
                <a:tc>
                  <a:txBody>
                    <a:bodyPr/>
                    <a:lstStyle/>
                    <a:p>
                      <a:pPr indent="0" lvl="0" marL="0" marR="0" rtl="0" algn="ctr">
                        <a:lnSpc>
                          <a:spcPct val="100000"/>
                        </a:lnSpc>
                        <a:spcBef>
                          <a:spcPts val="0"/>
                        </a:spcBef>
                        <a:spcAft>
                          <a:spcPts val="0"/>
                        </a:spcAft>
                        <a:buNone/>
                      </a:pPr>
                      <a:r>
                        <a:rPr b="1" lang="en-US" sz="1400" u="none" cap="none" strike="noStrike">
                          <a:latin typeface="Calibri"/>
                          <a:ea typeface="Calibri"/>
                          <a:cs typeface="Calibri"/>
                          <a:sym typeface="Calibri"/>
                        </a:rPr>
                        <a:t>59%</a:t>
                      </a:r>
                      <a:endParaRPr b="1" i="0" sz="1400" u="none" cap="none" strike="noStrike">
                        <a:solidFill>
                          <a:srgbClr val="000000"/>
                        </a:solidFill>
                        <a:latin typeface="Calibri"/>
                        <a:ea typeface="Calibri"/>
                        <a:cs typeface="Calibri"/>
                        <a:sym typeface="Calibri"/>
                      </a:endParaRPr>
                    </a:p>
                  </a:txBody>
                  <a:tcPr marT="3725" marB="0" marR="3725" marL="3725" anchor="ctr"/>
                </a:tc>
              </a:tr>
              <a:tr h="198150">
                <a:tc vMerge="1"/>
                <a:tc vMerge="1"/>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hate_speech</a:t>
                      </a:r>
                      <a:endParaRPr b="1" i="0" sz="1400" u="none" cap="none" strike="noStrike">
                        <a:solidFill>
                          <a:srgbClr val="000000"/>
                        </a:solidFill>
                        <a:latin typeface="Calibri"/>
                        <a:ea typeface="Calibri"/>
                        <a:cs typeface="Calibri"/>
                        <a:sym typeface="Calibri"/>
                      </a:endParaRPr>
                    </a:p>
                  </a:txBody>
                  <a:tcPr marT="3725" marB="0" marR="3725" marL="3725" anchor="ctr"/>
                </a:tc>
                <a:tc>
                  <a:txBody>
                    <a:bodyPr/>
                    <a:lstStyle/>
                    <a:p>
                      <a:pPr indent="0" lvl="0" marL="0" marR="0" rtl="0" algn="ctr">
                        <a:lnSpc>
                          <a:spcPct val="100000"/>
                        </a:lnSpc>
                        <a:spcBef>
                          <a:spcPts val="0"/>
                        </a:spcBef>
                        <a:spcAft>
                          <a:spcPts val="0"/>
                        </a:spcAft>
                        <a:buNone/>
                      </a:pPr>
                      <a:r>
                        <a:rPr b="1" lang="en-US" sz="1400" u="none" cap="none" strike="noStrike">
                          <a:latin typeface="Calibri"/>
                          <a:ea typeface="Calibri"/>
                          <a:cs typeface="Calibri"/>
                          <a:sym typeface="Calibri"/>
                        </a:rPr>
                        <a:t>79%</a:t>
                      </a:r>
                      <a:endParaRPr b="1" i="0" sz="1400" u="none" cap="none" strike="noStrike">
                        <a:solidFill>
                          <a:srgbClr val="000000"/>
                        </a:solidFill>
                        <a:latin typeface="Calibri"/>
                        <a:ea typeface="Calibri"/>
                        <a:cs typeface="Calibri"/>
                        <a:sym typeface="Calibri"/>
                      </a:endParaRPr>
                    </a:p>
                  </a:txBody>
                  <a:tcPr marT="3725" marB="0" marR="3725" marL="3725" anchor="ctr"/>
                </a:tc>
              </a:tr>
              <a:tr h="198150">
                <a:tc vMerge="1"/>
                <a:tc vMerge="1"/>
                <a:tc>
                  <a:txBody>
                    <a:bodyPr/>
                    <a:lstStyle/>
                    <a:p>
                      <a:pPr indent="0" lvl="0" marL="0" marR="0" rtl="0" algn="ctr">
                        <a:lnSpc>
                          <a:spcPct val="100000"/>
                        </a:lnSpc>
                        <a:spcBef>
                          <a:spcPts val="0"/>
                        </a:spcBef>
                        <a:spcAft>
                          <a:spcPts val="0"/>
                        </a:spcAft>
                        <a:buNone/>
                      </a:pPr>
                      <a:r>
                        <a:rPr lang="en-US" sz="1400" u="none" cap="none" strike="noStrike">
                          <a:latin typeface="Calibri"/>
                          <a:ea typeface="Calibri"/>
                          <a:cs typeface="Calibri"/>
                          <a:sym typeface="Calibri"/>
                        </a:rPr>
                        <a:t>toxicity</a:t>
                      </a:r>
                      <a:endParaRPr b="1" i="0" sz="1400" u="none" cap="none" strike="noStrike">
                        <a:solidFill>
                          <a:srgbClr val="000000"/>
                        </a:solidFill>
                        <a:latin typeface="Calibri"/>
                        <a:ea typeface="Calibri"/>
                        <a:cs typeface="Calibri"/>
                        <a:sym typeface="Calibri"/>
                      </a:endParaRPr>
                    </a:p>
                  </a:txBody>
                  <a:tcPr marT="3725" marB="0" marR="3725" marL="3725" anchor="ctr"/>
                </a:tc>
                <a:tc>
                  <a:txBody>
                    <a:bodyPr/>
                    <a:lstStyle/>
                    <a:p>
                      <a:pPr indent="0" lvl="0" marL="0" marR="0" rtl="0" algn="ctr">
                        <a:lnSpc>
                          <a:spcPct val="100000"/>
                        </a:lnSpc>
                        <a:spcBef>
                          <a:spcPts val="0"/>
                        </a:spcBef>
                        <a:spcAft>
                          <a:spcPts val="0"/>
                        </a:spcAft>
                        <a:buNone/>
                      </a:pPr>
                      <a:r>
                        <a:rPr b="1" lang="en-US" sz="1400" u="none" cap="none" strike="noStrike">
                          <a:latin typeface="Calibri"/>
                          <a:ea typeface="Calibri"/>
                          <a:cs typeface="Calibri"/>
                          <a:sym typeface="Calibri"/>
                        </a:rPr>
                        <a:t>78%</a:t>
                      </a:r>
                      <a:endParaRPr b="1" i="0" sz="1400" u="none" cap="none" strike="noStrike">
                        <a:solidFill>
                          <a:srgbClr val="000000"/>
                        </a:solidFill>
                        <a:latin typeface="Calibri"/>
                        <a:ea typeface="Calibri"/>
                        <a:cs typeface="Calibri"/>
                        <a:sym typeface="Calibri"/>
                      </a:endParaRPr>
                    </a:p>
                  </a:txBody>
                  <a:tcPr marT="3725" marB="0" marR="3725" marL="3725" anchor="ctr"/>
                </a:tc>
              </a:tr>
            </a:tbl>
          </a:graphicData>
        </a:graphic>
      </p:graphicFrame>
      <p:sp>
        <p:nvSpPr>
          <p:cNvPr id="322" name="Google Shape;322;p28"/>
          <p:cNvSpPr txBox="1"/>
          <p:nvPr>
            <p:ph idx="12" type="sldNum"/>
          </p:nvPr>
        </p:nvSpPr>
        <p:spPr>
          <a:xfrm>
            <a:off x="8413409" y="468840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9"/>
          <p:cNvSpPr txBox="1"/>
          <p:nvPr>
            <p:ph type="ctrTitle"/>
          </p:nvPr>
        </p:nvSpPr>
        <p:spPr>
          <a:xfrm>
            <a:off x="1125450" y="1456125"/>
            <a:ext cx="6433500" cy="1750500"/>
          </a:xfrm>
          <a:prstGeom prst="rect">
            <a:avLst/>
          </a:prstGeom>
        </p:spPr>
        <p:txBody>
          <a:bodyPr anchorCtr="0" anchor="ctr" bIns="91425" lIns="91425" spcFirstLastPara="1" rIns="91425" wrap="square" tIns="91425">
            <a:noAutofit/>
          </a:bodyPr>
          <a:lstStyle/>
          <a:p>
            <a:pPr indent="0" lvl="0" marL="0" rtl="0" algn="ctr">
              <a:lnSpc>
                <a:spcPct val="150000"/>
              </a:lnSpc>
              <a:spcBef>
                <a:spcPts val="0"/>
              </a:spcBef>
              <a:spcAft>
                <a:spcPts val="0"/>
              </a:spcAft>
              <a:buNone/>
            </a:pPr>
            <a:r>
              <a:rPr lang="en-US" sz="2400">
                <a:solidFill>
                  <a:schemeClr val="dk2"/>
                </a:solidFill>
              </a:rPr>
              <a:t>TESTING</a:t>
            </a:r>
            <a:endParaRPr sz="2400">
              <a:solidFill>
                <a:schemeClr val="dk2"/>
              </a:solidFill>
            </a:endParaRPr>
          </a:p>
          <a:p>
            <a:pPr indent="0" lvl="0" marL="0" rtl="0" algn="ctr">
              <a:lnSpc>
                <a:spcPct val="150000"/>
              </a:lnSpc>
              <a:spcBef>
                <a:spcPts val="0"/>
              </a:spcBef>
              <a:spcAft>
                <a:spcPts val="0"/>
              </a:spcAft>
              <a:buNone/>
            </a:pPr>
            <a:r>
              <a:rPr lang="en-US" sz="2400">
                <a:solidFill>
                  <a:schemeClr val="dk2"/>
                </a:solidFill>
              </a:rPr>
              <a:t> OF UNIFIED MODEL</a:t>
            </a:r>
            <a:endParaRPr sz="2400">
              <a:solidFill>
                <a:schemeClr val="dk2"/>
              </a:solidFill>
            </a:endParaRPr>
          </a:p>
        </p:txBody>
      </p:sp>
      <p:sp>
        <p:nvSpPr>
          <p:cNvPr id="328" name="Google Shape;328;p29"/>
          <p:cNvSpPr txBox="1"/>
          <p:nvPr>
            <p:ph idx="12" type="sldNum"/>
          </p:nvPr>
        </p:nvSpPr>
        <p:spPr>
          <a:xfrm>
            <a:off x="8208559" y="466790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327"/>
                                        </p:tgtEl>
                                        <p:attrNameLst>
                                          <p:attrName>style.visibility</p:attrName>
                                        </p:attrNameLst>
                                      </p:cBhvr>
                                      <p:to>
                                        <p:strVal val="visible"/>
                                      </p:to>
                                    </p:set>
                                    <p:anim calcmode="lin" valueType="num">
                                      <p:cBhvr additive="base">
                                        <p:cTn dur="1000"/>
                                        <p:tgtEl>
                                          <p:spTgt spid="327"/>
                                        </p:tgtEl>
                                        <p:attrNameLst>
                                          <p:attrName>ppt_w</p:attrName>
                                        </p:attrNameLst>
                                      </p:cBhvr>
                                      <p:tavLst>
                                        <p:tav fmla="" tm="0">
                                          <p:val>
                                            <p:strVal val="0"/>
                                          </p:val>
                                        </p:tav>
                                        <p:tav fmla="" tm="100000">
                                          <p:val>
                                            <p:strVal val="#ppt_w"/>
                                          </p:val>
                                        </p:tav>
                                      </p:tavLst>
                                    </p:anim>
                                    <p:anim calcmode="lin" valueType="num">
                                      <p:cBhvr additive="base">
                                        <p:cTn dur="1000"/>
                                        <p:tgtEl>
                                          <p:spTgt spid="32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332" name="Shape 332"/>
        <p:cNvGrpSpPr/>
        <p:nvPr/>
      </p:nvGrpSpPr>
      <p:grpSpPr>
        <a:xfrm>
          <a:off x="0" y="0"/>
          <a:ext cx="0" cy="0"/>
          <a:chOff x="0" y="0"/>
          <a:chExt cx="0" cy="0"/>
        </a:xfrm>
      </p:grpSpPr>
      <p:sp>
        <p:nvSpPr>
          <p:cNvPr id="333" name="Google Shape;333;p30"/>
          <p:cNvSpPr txBox="1"/>
          <p:nvPr>
            <p:ph idx="4294967295" type="ctrTitle"/>
          </p:nvPr>
        </p:nvSpPr>
        <p:spPr>
          <a:xfrm>
            <a:off x="4157700" y="1061225"/>
            <a:ext cx="4260000" cy="175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4200"/>
              <a:t> </a:t>
            </a:r>
            <a:endParaRPr sz="4200"/>
          </a:p>
        </p:txBody>
      </p:sp>
      <p:graphicFrame>
        <p:nvGraphicFramePr>
          <p:cNvPr id="334" name="Google Shape;334;p30"/>
          <p:cNvGraphicFramePr/>
          <p:nvPr/>
        </p:nvGraphicFramePr>
        <p:xfrm>
          <a:off x="948475" y="1236725"/>
          <a:ext cx="3000000" cy="3000000"/>
        </p:xfrm>
        <a:graphic>
          <a:graphicData uri="http://schemas.openxmlformats.org/drawingml/2006/table">
            <a:tbl>
              <a:tblPr>
                <a:noFill/>
                <a:tableStyleId>{20751483-DDB6-4AFA-8D6E-C8A450A1EF79}</a:tableStyleId>
              </a:tblPr>
              <a:tblGrid>
                <a:gridCol w="5696300"/>
                <a:gridCol w="697975"/>
                <a:gridCol w="779825"/>
                <a:gridCol w="743750"/>
              </a:tblGrid>
              <a:tr h="625425">
                <a:tc>
                  <a:txBody>
                    <a:bodyPr/>
                    <a:lstStyle/>
                    <a:p>
                      <a:pPr indent="0" lvl="0" marL="0" rtl="0" algn="ctr">
                        <a:spcBef>
                          <a:spcPts val="0"/>
                        </a:spcBef>
                        <a:spcAft>
                          <a:spcPts val="0"/>
                        </a:spcAft>
                        <a:buNone/>
                      </a:pPr>
                      <a:r>
                        <a:rPr b="1" lang="en-US" sz="1500">
                          <a:latin typeface="Calibri"/>
                          <a:ea typeface="Calibri"/>
                          <a:cs typeface="Calibri"/>
                          <a:sym typeface="Calibri"/>
                        </a:rPr>
                        <a:t>Tweets</a:t>
                      </a:r>
                      <a:endParaRPr b="1" sz="1500">
                        <a:latin typeface="Calibri"/>
                        <a:ea typeface="Calibri"/>
                        <a:cs typeface="Calibri"/>
                        <a:sym typeface="Calibri"/>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B7E3EC"/>
                    </a:solidFill>
                  </a:tcPr>
                </a:tc>
                <a:tc>
                  <a:txBody>
                    <a:bodyPr/>
                    <a:lstStyle/>
                    <a:p>
                      <a:pPr indent="0" lvl="0" marL="0" rtl="0" algn="ctr">
                        <a:spcBef>
                          <a:spcPts val="0"/>
                        </a:spcBef>
                        <a:spcAft>
                          <a:spcPts val="0"/>
                        </a:spcAft>
                        <a:buNone/>
                      </a:pPr>
                      <a:r>
                        <a:rPr b="1" lang="en-US">
                          <a:latin typeface="Calibri"/>
                          <a:ea typeface="Calibri"/>
                          <a:cs typeface="Calibri"/>
                          <a:sym typeface="Calibri"/>
                        </a:rPr>
                        <a:t>Fake News</a:t>
                      </a:r>
                      <a:endParaRPr b="1">
                        <a:latin typeface="Calibri"/>
                        <a:ea typeface="Calibri"/>
                        <a:cs typeface="Calibri"/>
                        <a:sym typeface="Calibri"/>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B7E3EC"/>
                    </a:solidFill>
                  </a:tcPr>
                </a:tc>
                <a:tc>
                  <a:txBody>
                    <a:bodyPr/>
                    <a:lstStyle/>
                    <a:p>
                      <a:pPr indent="0" lvl="0" marL="0" rtl="0" algn="ctr">
                        <a:spcBef>
                          <a:spcPts val="0"/>
                        </a:spcBef>
                        <a:spcAft>
                          <a:spcPts val="0"/>
                        </a:spcAft>
                        <a:buNone/>
                      </a:pPr>
                      <a:r>
                        <a:rPr b="1" lang="en-US">
                          <a:latin typeface="Calibri"/>
                          <a:ea typeface="Calibri"/>
                          <a:cs typeface="Calibri"/>
                          <a:sym typeface="Calibri"/>
                        </a:rPr>
                        <a:t>Hate Speech</a:t>
                      </a:r>
                      <a:endParaRPr b="1">
                        <a:latin typeface="Calibri"/>
                        <a:ea typeface="Calibri"/>
                        <a:cs typeface="Calibri"/>
                        <a:sym typeface="Calibri"/>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B7E3EC"/>
                    </a:solidFill>
                  </a:tcPr>
                </a:tc>
                <a:tc>
                  <a:txBody>
                    <a:bodyPr/>
                    <a:lstStyle/>
                    <a:p>
                      <a:pPr indent="0" lvl="0" marL="0" rtl="0" algn="ctr">
                        <a:spcBef>
                          <a:spcPts val="0"/>
                        </a:spcBef>
                        <a:spcAft>
                          <a:spcPts val="0"/>
                        </a:spcAft>
                        <a:buNone/>
                      </a:pPr>
                      <a:r>
                        <a:rPr b="1" lang="en-US">
                          <a:latin typeface="Calibri"/>
                          <a:ea typeface="Calibri"/>
                          <a:cs typeface="Calibri"/>
                          <a:sym typeface="Calibri"/>
                        </a:rPr>
                        <a:t>Toxicity</a:t>
                      </a:r>
                      <a:endParaRPr b="1">
                        <a:latin typeface="Calibri"/>
                        <a:ea typeface="Calibri"/>
                        <a:cs typeface="Calibri"/>
                        <a:sym typeface="Calibri"/>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B7E3EC"/>
                    </a:solidFill>
                  </a:tcPr>
                </a:tc>
              </a:tr>
              <a:tr h="370425">
                <a:tc>
                  <a:txBody>
                    <a:bodyPr/>
                    <a:lstStyle/>
                    <a:p>
                      <a:pPr indent="0" lvl="0" marL="0" rtl="0" algn="l">
                        <a:spcBef>
                          <a:spcPts val="0"/>
                        </a:spcBef>
                        <a:spcAft>
                          <a:spcPts val="0"/>
                        </a:spcAft>
                        <a:buNone/>
                      </a:pPr>
                      <a:r>
                        <a:rPr lang="en-US">
                          <a:latin typeface="Calibri"/>
                          <a:ea typeface="Calibri"/>
                          <a:cs typeface="Calibri"/>
                          <a:sym typeface="Calibri"/>
                        </a:rPr>
                        <a:t>Die Erde ist tatsächlich flach, alles andere ist eine Lüge der Wissenschaft.</a:t>
                      </a:r>
                      <a:endParaRPr>
                        <a:latin typeface="Calibri"/>
                        <a:ea typeface="Calibri"/>
                        <a:cs typeface="Calibri"/>
                        <a:sym typeface="Calibri"/>
                      </a:endParaRPr>
                    </a:p>
                  </a:txBody>
                  <a:tcPr marT="91425" marB="91425" marR="91425" marL="91425">
                    <a:lnT cap="flat" cmpd="sng" w="9525">
                      <a:solidFill>
                        <a:schemeClr val="dk2"/>
                      </a:solidFill>
                      <a:prstDash val="solid"/>
                      <a:round/>
                      <a:headEnd len="sm" w="sm" type="none"/>
                      <a:tailEnd len="sm" w="sm" type="none"/>
                    </a:lnT>
                    <a:solidFill>
                      <a:srgbClr val="D0E0E3"/>
                    </a:solidFill>
                  </a:tcPr>
                </a:tc>
                <a:tc>
                  <a:txBody>
                    <a:bodyPr/>
                    <a:lstStyle/>
                    <a:p>
                      <a:pPr indent="0" lvl="0" marL="0" rtl="0" algn="l">
                        <a:spcBef>
                          <a:spcPts val="0"/>
                        </a:spcBef>
                        <a:spcAft>
                          <a:spcPts val="0"/>
                        </a:spcAft>
                        <a:buNone/>
                      </a:pPr>
                      <a:r>
                        <a:rPr lang="en-US">
                          <a:latin typeface="Calibri"/>
                          <a:ea typeface="Calibri"/>
                          <a:cs typeface="Calibri"/>
                          <a:sym typeface="Calibri"/>
                        </a:rPr>
                        <a:t>   </a:t>
                      </a:r>
                      <a:r>
                        <a:rPr lang="en-US">
                          <a:latin typeface="Calibri"/>
                          <a:ea typeface="Calibri"/>
                          <a:cs typeface="Calibri"/>
                          <a:sym typeface="Calibri"/>
                        </a:rPr>
                        <a:t>0</a:t>
                      </a:r>
                      <a:endParaRPr sz="1100">
                        <a:latin typeface="Calibri"/>
                        <a:ea typeface="Calibri"/>
                        <a:cs typeface="Calibri"/>
                        <a:sym typeface="Calibri"/>
                      </a:endParaRPr>
                    </a:p>
                  </a:txBody>
                  <a:tcPr marT="91425" marB="91425" marR="91425" marL="91425">
                    <a:lnT cap="flat" cmpd="sng" w="9525">
                      <a:solidFill>
                        <a:schemeClr val="dk2"/>
                      </a:solidFill>
                      <a:prstDash val="solid"/>
                      <a:round/>
                      <a:headEnd len="sm" w="sm" type="none"/>
                      <a:tailEnd len="sm" w="sm" type="none"/>
                    </a:lnT>
                    <a:solidFill>
                      <a:srgbClr val="D0E0E3"/>
                    </a:solidFill>
                  </a:tcPr>
                </a:tc>
                <a:tc>
                  <a:txBody>
                    <a:bodyPr/>
                    <a:lstStyle/>
                    <a:p>
                      <a:pPr indent="0" lvl="0" marL="0" rtl="0" algn="l">
                        <a:spcBef>
                          <a:spcPts val="0"/>
                        </a:spcBef>
                        <a:spcAft>
                          <a:spcPts val="0"/>
                        </a:spcAft>
                        <a:buNone/>
                      </a:pPr>
                      <a:r>
                        <a:rPr lang="en-US">
                          <a:latin typeface="Calibri"/>
                          <a:ea typeface="Calibri"/>
                          <a:cs typeface="Calibri"/>
                          <a:sym typeface="Calibri"/>
                        </a:rPr>
                        <a:t>   </a:t>
                      </a:r>
                      <a:r>
                        <a:rPr lang="en-US">
                          <a:latin typeface="Calibri"/>
                          <a:ea typeface="Calibri"/>
                          <a:cs typeface="Calibri"/>
                          <a:sym typeface="Calibri"/>
                        </a:rPr>
                        <a:t>0</a:t>
                      </a:r>
                      <a:endParaRPr>
                        <a:latin typeface="Calibri"/>
                        <a:ea typeface="Calibri"/>
                        <a:cs typeface="Calibri"/>
                        <a:sym typeface="Calibri"/>
                      </a:endParaRPr>
                    </a:p>
                  </a:txBody>
                  <a:tcPr marT="91425" marB="91425" marR="91425" marL="91425">
                    <a:lnT cap="flat" cmpd="sng" w="9525">
                      <a:solidFill>
                        <a:schemeClr val="dk2"/>
                      </a:solidFill>
                      <a:prstDash val="solid"/>
                      <a:round/>
                      <a:headEnd len="sm" w="sm" type="none"/>
                      <a:tailEnd len="sm" w="sm" type="none"/>
                    </a:lnT>
                    <a:solidFill>
                      <a:srgbClr val="D0E0E3"/>
                    </a:solidFill>
                  </a:tcPr>
                </a:tc>
                <a:tc>
                  <a:txBody>
                    <a:bodyPr/>
                    <a:lstStyle/>
                    <a:p>
                      <a:pPr indent="0" lvl="0" marL="0" rtl="0" algn="l">
                        <a:spcBef>
                          <a:spcPts val="0"/>
                        </a:spcBef>
                        <a:spcAft>
                          <a:spcPts val="0"/>
                        </a:spcAft>
                        <a:buNone/>
                      </a:pPr>
                      <a:r>
                        <a:rPr lang="en-US">
                          <a:latin typeface="Calibri"/>
                          <a:ea typeface="Calibri"/>
                          <a:cs typeface="Calibri"/>
                          <a:sym typeface="Calibri"/>
                        </a:rPr>
                        <a:t>   </a:t>
                      </a:r>
                      <a:r>
                        <a:rPr lang="en-US">
                          <a:latin typeface="Calibri"/>
                          <a:ea typeface="Calibri"/>
                          <a:cs typeface="Calibri"/>
                          <a:sym typeface="Calibri"/>
                        </a:rPr>
                        <a:t>0</a:t>
                      </a:r>
                      <a:endParaRPr>
                        <a:latin typeface="Calibri"/>
                        <a:ea typeface="Calibri"/>
                        <a:cs typeface="Calibri"/>
                        <a:sym typeface="Calibri"/>
                      </a:endParaRPr>
                    </a:p>
                  </a:txBody>
                  <a:tcPr marT="91425" marB="91425" marR="91425" marL="91425">
                    <a:lnT cap="flat" cmpd="sng" w="9525">
                      <a:solidFill>
                        <a:schemeClr val="dk2"/>
                      </a:solidFill>
                      <a:prstDash val="solid"/>
                      <a:round/>
                      <a:headEnd len="sm" w="sm" type="none"/>
                      <a:tailEnd len="sm" w="sm" type="none"/>
                    </a:lnT>
                    <a:solidFill>
                      <a:srgbClr val="D0E0E3"/>
                    </a:solidFill>
                  </a:tcPr>
                </a:tc>
              </a:tr>
              <a:tr h="380850">
                <a:tc>
                  <a:txBody>
                    <a:bodyPr/>
                    <a:lstStyle/>
                    <a:p>
                      <a:pPr indent="0" lvl="0" marL="0" rtl="0" algn="l">
                        <a:spcBef>
                          <a:spcPts val="0"/>
                        </a:spcBef>
                        <a:spcAft>
                          <a:spcPts val="0"/>
                        </a:spcAft>
                        <a:buNone/>
                      </a:pPr>
                      <a:r>
                        <a:rPr lang="en-US">
                          <a:latin typeface="Calibri"/>
                          <a:ea typeface="Calibri"/>
                          <a:cs typeface="Calibri"/>
                          <a:sym typeface="Calibri"/>
                        </a:rPr>
                        <a:t>Deine Ideen sind der Grund, warum alles schiefgeht.</a:t>
                      </a:r>
                      <a:endParaRPr>
                        <a:highlight>
                          <a:srgbClr val="FFE599"/>
                        </a:highlight>
                        <a:latin typeface="Calibri"/>
                        <a:ea typeface="Calibri"/>
                        <a:cs typeface="Calibri"/>
                        <a:sym typeface="Calibri"/>
                      </a:endParaRPr>
                    </a:p>
                  </a:txBody>
                  <a:tcPr marT="91425" marB="91425" marR="91425" marL="91425">
                    <a:solidFill>
                      <a:srgbClr val="FFE599"/>
                    </a:solidFill>
                  </a:tcPr>
                </a:tc>
                <a:tc>
                  <a:txBody>
                    <a:bodyPr/>
                    <a:lstStyle/>
                    <a:p>
                      <a:pPr indent="0" lvl="0" marL="0" rtl="0" algn="l">
                        <a:spcBef>
                          <a:spcPts val="0"/>
                        </a:spcBef>
                        <a:spcAft>
                          <a:spcPts val="0"/>
                        </a:spcAft>
                        <a:buNone/>
                      </a:pPr>
                      <a:r>
                        <a:rPr lang="en-US">
                          <a:latin typeface="Calibri"/>
                          <a:ea typeface="Calibri"/>
                          <a:cs typeface="Calibri"/>
                          <a:sym typeface="Calibri"/>
                        </a:rPr>
                        <a:t>   </a:t>
                      </a:r>
                      <a:r>
                        <a:rPr lang="en-US">
                          <a:latin typeface="Calibri"/>
                          <a:ea typeface="Calibri"/>
                          <a:cs typeface="Calibri"/>
                          <a:sym typeface="Calibri"/>
                        </a:rPr>
                        <a:t>0</a:t>
                      </a:r>
                      <a:endParaRPr>
                        <a:latin typeface="Calibri"/>
                        <a:ea typeface="Calibri"/>
                        <a:cs typeface="Calibri"/>
                        <a:sym typeface="Calibri"/>
                      </a:endParaRPr>
                    </a:p>
                  </a:txBody>
                  <a:tcPr marT="91425" marB="91425" marR="91425" marL="91425">
                    <a:solidFill>
                      <a:srgbClr val="FFE599"/>
                    </a:solidFill>
                  </a:tcPr>
                </a:tc>
                <a:tc>
                  <a:txBody>
                    <a:bodyPr/>
                    <a:lstStyle/>
                    <a:p>
                      <a:pPr indent="0" lvl="0" marL="0" rtl="0" algn="l">
                        <a:spcBef>
                          <a:spcPts val="0"/>
                        </a:spcBef>
                        <a:spcAft>
                          <a:spcPts val="0"/>
                        </a:spcAft>
                        <a:buNone/>
                      </a:pPr>
                      <a:r>
                        <a:rPr lang="en-US">
                          <a:latin typeface="Calibri"/>
                          <a:ea typeface="Calibri"/>
                          <a:cs typeface="Calibri"/>
                          <a:sym typeface="Calibri"/>
                        </a:rPr>
                        <a:t>   </a:t>
                      </a:r>
                      <a:r>
                        <a:rPr lang="en-US">
                          <a:latin typeface="Calibri"/>
                          <a:ea typeface="Calibri"/>
                          <a:cs typeface="Calibri"/>
                          <a:sym typeface="Calibri"/>
                        </a:rPr>
                        <a:t>0</a:t>
                      </a:r>
                      <a:endParaRPr>
                        <a:latin typeface="Calibri"/>
                        <a:ea typeface="Calibri"/>
                        <a:cs typeface="Calibri"/>
                        <a:sym typeface="Calibri"/>
                      </a:endParaRPr>
                    </a:p>
                  </a:txBody>
                  <a:tcPr marT="91425" marB="91425" marR="91425" marL="91425">
                    <a:solidFill>
                      <a:srgbClr val="FFE599"/>
                    </a:solidFill>
                  </a:tcPr>
                </a:tc>
                <a:tc>
                  <a:txBody>
                    <a:bodyPr/>
                    <a:lstStyle/>
                    <a:p>
                      <a:pPr indent="0" lvl="0" marL="0" rtl="0" algn="l">
                        <a:spcBef>
                          <a:spcPts val="0"/>
                        </a:spcBef>
                        <a:spcAft>
                          <a:spcPts val="0"/>
                        </a:spcAft>
                        <a:buNone/>
                      </a:pPr>
                      <a:r>
                        <a:rPr lang="en-US">
                          <a:latin typeface="Calibri"/>
                          <a:ea typeface="Calibri"/>
                          <a:cs typeface="Calibri"/>
                          <a:sym typeface="Calibri"/>
                        </a:rPr>
                        <a:t>   </a:t>
                      </a:r>
                      <a:r>
                        <a:rPr lang="en-US">
                          <a:latin typeface="Calibri"/>
                          <a:ea typeface="Calibri"/>
                          <a:cs typeface="Calibri"/>
                          <a:sym typeface="Calibri"/>
                        </a:rPr>
                        <a:t>0</a:t>
                      </a:r>
                      <a:endParaRPr>
                        <a:latin typeface="Calibri"/>
                        <a:ea typeface="Calibri"/>
                        <a:cs typeface="Calibri"/>
                        <a:sym typeface="Calibri"/>
                      </a:endParaRPr>
                    </a:p>
                  </a:txBody>
                  <a:tcPr marT="91425" marB="91425" marR="91425" marL="91425">
                    <a:lnB cap="flat" cmpd="sng" w="9525">
                      <a:solidFill>
                        <a:schemeClr val="accent3"/>
                      </a:solidFill>
                      <a:prstDash val="solid"/>
                      <a:round/>
                      <a:headEnd len="sm" w="sm" type="none"/>
                      <a:tailEnd len="sm" w="sm" type="none"/>
                    </a:lnB>
                    <a:solidFill>
                      <a:srgbClr val="FFE599"/>
                    </a:solidFill>
                  </a:tcPr>
                </a:tc>
              </a:tr>
              <a:tr h="403550">
                <a:tc>
                  <a:txBody>
                    <a:bodyPr/>
                    <a:lstStyle/>
                    <a:p>
                      <a:pPr indent="0" lvl="0" marL="0" rtl="0" algn="l">
                        <a:spcBef>
                          <a:spcPts val="0"/>
                        </a:spcBef>
                        <a:spcAft>
                          <a:spcPts val="0"/>
                        </a:spcAft>
                        <a:buNone/>
                      </a:pPr>
                      <a:r>
                        <a:rPr lang="en-US">
                          <a:latin typeface="Calibri"/>
                          <a:ea typeface="Calibri"/>
                          <a:cs typeface="Calibri"/>
                          <a:sym typeface="Calibri"/>
                        </a:rPr>
                        <a:t>Diese Region sollte abgeschnitten und sich selbst überlassen werden.</a:t>
                      </a:r>
                      <a:endParaRPr>
                        <a:latin typeface="Calibri"/>
                        <a:ea typeface="Calibri"/>
                        <a:cs typeface="Calibri"/>
                        <a:sym typeface="Calibri"/>
                      </a:endParaRPr>
                    </a:p>
                  </a:txBody>
                  <a:tcPr marT="91425" marB="91425" marR="91425" marL="91425">
                    <a:solidFill>
                      <a:srgbClr val="D0E0E3"/>
                    </a:solidFill>
                  </a:tcPr>
                </a:tc>
                <a:tc>
                  <a:txBody>
                    <a:bodyPr/>
                    <a:lstStyle/>
                    <a:p>
                      <a:pPr indent="0" lvl="0" marL="0" rtl="0" algn="l">
                        <a:spcBef>
                          <a:spcPts val="0"/>
                        </a:spcBef>
                        <a:spcAft>
                          <a:spcPts val="0"/>
                        </a:spcAft>
                        <a:buNone/>
                      </a:pPr>
                      <a:r>
                        <a:rPr lang="en-US">
                          <a:latin typeface="Calibri"/>
                          <a:ea typeface="Calibri"/>
                          <a:cs typeface="Calibri"/>
                          <a:sym typeface="Calibri"/>
                        </a:rPr>
                        <a:t>   </a:t>
                      </a:r>
                      <a:r>
                        <a:rPr lang="en-US">
                          <a:latin typeface="Calibri"/>
                          <a:ea typeface="Calibri"/>
                          <a:cs typeface="Calibri"/>
                          <a:sym typeface="Calibri"/>
                        </a:rPr>
                        <a:t>1</a:t>
                      </a:r>
                      <a:endParaRPr>
                        <a:latin typeface="Calibri"/>
                        <a:ea typeface="Calibri"/>
                        <a:cs typeface="Calibri"/>
                        <a:sym typeface="Calibri"/>
                      </a:endParaRPr>
                    </a:p>
                  </a:txBody>
                  <a:tcPr marT="91425" marB="91425" marR="91425" marL="91425">
                    <a:solidFill>
                      <a:srgbClr val="D0E0E3"/>
                    </a:solidFill>
                  </a:tcPr>
                </a:tc>
                <a:tc>
                  <a:txBody>
                    <a:bodyPr/>
                    <a:lstStyle/>
                    <a:p>
                      <a:pPr indent="0" lvl="0" marL="0" rtl="0" algn="l">
                        <a:spcBef>
                          <a:spcPts val="0"/>
                        </a:spcBef>
                        <a:spcAft>
                          <a:spcPts val="0"/>
                        </a:spcAft>
                        <a:buNone/>
                      </a:pPr>
                      <a:r>
                        <a:rPr lang="en-US">
                          <a:latin typeface="Calibri"/>
                          <a:ea typeface="Calibri"/>
                          <a:cs typeface="Calibri"/>
                          <a:sym typeface="Calibri"/>
                        </a:rPr>
                        <a:t>   </a:t>
                      </a:r>
                      <a:r>
                        <a:rPr lang="en-US">
                          <a:latin typeface="Calibri"/>
                          <a:ea typeface="Calibri"/>
                          <a:cs typeface="Calibri"/>
                          <a:sym typeface="Calibri"/>
                        </a:rPr>
                        <a:t>0</a:t>
                      </a:r>
                      <a:endParaRPr>
                        <a:latin typeface="Calibri"/>
                        <a:ea typeface="Calibri"/>
                        <a:cs typeface="Calibri"/>
                        <a:sym typeface="Calibri"/>
                      </a:endParaRPr>
                    </a:p>
                  </a:txBody>
                  <a:tcPr marT="91425" marB="91425" marR="91425" marL="91425">
                    <a:lnR cap="flat" cmpd="sng" w="9525">
                      <a:solidFill>
                        <a:schemeClr val="accent3"/>
                      </a:solidFill>
                      <a:prstDash val="solid"/>
                      <a:round/>
                      <a:headEnd len="sm" w="sm" type="none"/>
                      <a:tailEnd len="sm" w="sm" type="none"/>
                    </a:lnR>
                    <a:solidFill>
                      <a:srgbClr val="D0E0E3"/>
                    </a:solidFill>
                  </a:tcPr>
                </a:tc>
                <a:tc>
                  <a:txBody>
                    <a:bodyPr/>
                    <a:lstStyle/>
                    <a:p>
                      <a:pPr indent="0" lvl="0" marL="0" rtl="0" algn="l">
                        <a:spcBef>
                          <a:spcPts val="0"/>
                        </a:spcBef>
                        <a:spcAft>
                          <a:spcPts val="0"/>
                        </a:spcAft>
                        <a:buNone/>
                      </a:pPr>
                      <a:r>
                        <a:rPr lang="en-US">
                          <a:latin typeface="Calibri"/>
                          <a:ea typeface="Calibri"/>
                          <a:cs typeface="Calibri"/>
                          <a:sym typeface="Calibri"/>
                        </a:rPr>
                        <a:t>   </a:t>
                      </a:r>
                      <a:r>
                        <a:rPr lang="en-US">
                          <a:latin typeface="Calibri"/>
                          <a:ea typeface="Calibri"/>
                          <a:cs typeface="Calibri"/>
                          <a:sym typeface="Calibri"/>
                        </a:rPr>
                        <a:t>0</a:t>
                      </a:r>
                      <a:endParaRPr>
                        <a:latin typeface="Calibri"/>
                        <a:ea typeface="Calibri"/>
                        <a:cs typeface="Calibri"/>
                        <a:sym typeface="Calibri"/>
                      </a:endParaRPr>
                    </a:p>
                  </a:txBody>
                  <a:tcPr marT="91425" marB="91425" marR="91425" marL="91425">
                    <a:lnL cap="flat" cmpd="sng" w="9525">
                      <a:solidFill>
                        <a:schemeClr val="accent3"/>
                      </a:solidFill>
                      <a:prstDash val="solid"/>
                      <a:round/>
                      <a:headEnd len="sm" w="sm" type="none"/>
                      <a:tailEnd len="sm" w="sm" type="none"/>
                    </a:lnL>
                    <a:lnR cap="flat" cmpd="sng" w="9525">
                      <a:solidFill>
                        <a:schemeClr val="accent3"/>
                      </a:solidFill>
                      <a:prstDash val="solid"/>
                      <a:round/>
                      <a:headEnd len="sm" w="sm" type="none"/>
                      <a:tailEnd len="sm" w="sm" type="none"/>
                    </a:lnR>
                    <a:lnT cap="flat" cmpd="sng" w="9525">
                      <a:solidFill>
                        <a:schemeClr val="accent3"/>
                      </a:solidFill>
                      <a:prstDash val="solid"/>
                      <a:round/>
                      <a:headEnd len="sm" w="sm" type="none"/>
                      <a:tailEnd len="sm" w="sm" type="none"/>
                    </a:lnT>
                    <a:lnB cap="flat" cmpd="sng" w="9525">
                      <a:solidFill>
                        <a:schemeClr val="accent3"/>
                      </a:solidFill>
                      <a:prstDash val="solid"/>
                      <a:round/>
                      <a:headEnd len="sm" w="sm" type="none"/>
                      <a:tailEnd len="sm" w="sm" type="none"/>
                    </a:lnB>
                    <a:solidFill>
                      <a:srgbClr val="D0E0E3"/>
                    </a:solidFill>
                  </a:tcPr>
                </a:tc>
              </a:tr>
              <a:tr h="394250">
                <a:tc>
                  <a:txBody>
                    <a:bodyPr/>
                    <a:lstStyle/>
                    <a:p>
                      <a:pPr indent="0" lvl="0" marL="0" rtl="0" algn="l">
                        <a:spcBef>
                          <a:spcPts val="0"/>
                        </a:spcBef>
                        <a:spcAft>
                          <a:spcPts val="0"/>
                        </a:spcAft>
                        <a:buNone/>
                      </a:pPr>
                      <a:r>
                        <a:rPr lang="en-US">
                          <a:latin typeface="Calibri"/>
                          <a:ea typeface="Calibri"/>
                          <a:cs typeface="Calibri"/>
                          <a:sym typeface="Calibri"/>
                        </a:rPr>
                        <a:t>Die Anhänger dieser Partei sind alle Idioten und gehören eingesperrt.</a:t>
                      </a:r>
                      <a:endParaRPr>
                        <a:latin typeface="Calibri"/>
                        <a:ea typeface="Calibri"/>
                        <a:cs typeface="Calibri"/>
                        <a:sym typeface="Calibri"/>
                      </a:endParaRPr>
                    </a:p>
                  </a:txBody>
                  <a:tcPr marT="91425" marB="91425" marR="91425" marL="91425">
                    <a:solidFill>
                      <a:srgbClr val="FFE599"/>
                    </a:solidFill>
                  </a:tcPr>
                </a:tc>
                <a:tc>
                  <a:txBody>
                    <a:bodyPr/>
                    <a:lstStyle/>
                    <a:p>
                      <a:pPr indent="0" lvl="0" marL="0" rtl="0" algn="l">
                        <a:spcBef>
                          <a:spcPts val="0"/>
                        </a:spcBef>
                        <a:spcAft>
                          <a:spcPts val="0"/>
                        </a:spcAft>
                        <a:buNone/>
                      </a:pPr>
                      <a:r>
                        <a:rPr lang="en-US">
                          <a:latin typeface="Calibri"/>
                          <a:ea typeface="Calibri"/>
                          <a:cs typeface="Calibri"/>
                          <a:sym typeface="Calibri"/>
                        </a:rPr>
                        <a:t>   </a:t>
                      </a:r>
                      <a:r>
                        <a:rPr lang="en-US">
                          <a:latin typeface="Calibri"/>
                          <a:ea typeface="Calibri"/>
                          <a:cs typeface="Calibri"/>
                          <a:sym typeface="Calibri"/>
                        </a:rPr>
                        <a:t>1</a:t>
                      </a:r>
                      <a:endParaRPr>
                        <a:latin typeface="Calibri"/>
                        <a:ea typeface="Calibri"/>
                        <a:cs typeface="Calibri"/>
                        <a:sym typeface="Calibri"/>
                      </a:endParaRPr>
                    </a:p>
                  </a:txBody>
                  <a:tcPr marT="91425" marB="91425" marR="91425" marL="91425">
                    <a:solidFill>
                      <a:srgbClr val="FFE599"/>
                    </a:solidFill>
                  </a:tcPr>
                </a:tc>
                <a:tc>
                  <a:txBody>
                    <a:bodyPr/>
                    <a:lstStyle/>
                    <a:p>
                      <a:pPr indent="0" lvl="0" marL="0" rtl="0" algn="l">
                        <a:spcBef>
                          <a:spcPts val="0"/>
                        </a:spcBef>
                        <a:spcAft>
                          <a:spcPts val="0"/>
                        </a:spcAft>
                        <a:buNone/>
                      </a:pPr>
                      <a:r>
                        <a:rPr lang="en-US">
                          <a:latin typeface="Calibri"/>
                          <a:ea typeface="Calibri"/>
                          <a:cs typeface="Calibri"/>
                          <a:sym typeface="Calibri"/>
                        </a:rPr>
                        <a:t>   </a:t>
                      </a:r>
                      <a:r>
                        <a:rPr lang="en-US">
                          <a:latin typeface="Calibri"/>
                          <a:ea typeface="Calibri"/>
                          <a:cs typeface="Calibri"/>
                          <a:sym typeface="Calibri"/>
                        </a:rPr>
                        <a:t>0</a:t>
                      </a:r>
                      <a:endParaRPr>
                        <a:latin typeface="Calibri"/>
                        <a:ea typeface="Calibri"/>
                        <a:cs typeface="Calibri"/>
                        <a:sym typeface="Calibri"/>
                      </a:endParaRPr>
                    </a:p>
                  </a:txBody>
                  <a:tcPr marT="91425" marB="91425" marR="91425" marL="91425">
                    <a:solidFill>
                      <a:srgbClr val="FFE599"/>
                    </a:solidFill>
                  </a:tcPr>
                </a:tc>
                <a:tc>
                  <a:txBody>
                    <a:bodyPr/>
                    <a:lstStyle/>
                    <a:p>
                      <a:pPr indent="0" lvl="0" marL="0" rtl="0" algn="l">
                        <a:spcBef>
                          <a:spcPts val="0"/>
                        </a:spcBef>
                        <a:spcAft>
                          <a:spcPts val="0"/>
                        </a:spcAft>
                        <a:buNone/>
                      </a:pPr>
                      <a:r>
                        <a:rPr lang="en-US">
                          <a:latin typeface="Calibri"/>
                          <a:ea typeface="Calibri"/>
                          <a:cs typeface="Calibri"/>
                          <a:sym typeface="Calibri"/>
                        </a:rPr>
                        <a:t>   </a:t>
                      </a:r>
                      <a:r>
                        <a:rPr lang="en-US">
                          <a:latin typeface="Calibri"/>
                          <a:ea typeface="Calibri"/>
                          <a:cs typeface="Calibri"/>
                          <a:sym typeface="Calibri"/>
                        </a:rPr>
                        <a:t>1</a:t>
                      </a:r>
                      <a:endParaRPr>
                        <a:latin typeface="Calibri"/>
                        <a:ea typeface="Calibri"/>
                        <a:cs typeface="Calibri"/>
                        <a:sym typeface="Calibri"/>
                      </a:endParaRPr>
                    </a:p>
                  </a:txBody>
                  <a:tcPr marT="91425" marB="91425" marR="91425" marL="91425">
                    <a:lnT cap="flat" cmpd="sng" w="9525">
                      <a:solidFill>
                        <a:schemeClr val="accent3"/>
                      </a:solidFill>
                      <a:prstDash val="solid"/>
                      <a:round/>
                      <a:headEnd len="sm" w="sm" type="none"/>
                      <a:tailEnd len="sm" w="sm" type="none"/>
                    </a:lnT>
                    <a:solidFill>
                      <a:srgbClr val="FFE599"/>
                    </a:solidFill>
                  </a:tcPr>
                </a:tc>
              </a:tr>
              <a:tr h="380850">
                <a:tc>
                  <a:txBody>
                    <a:bodyPr/>
                    <a:lstStyle/>
                    <a:p>
                      <a:pPr indent="0" lvl="0" marL="0" rtl="0" algn="l">
                        <a:spcBef>
                          <a:spcPts val="0"/>
                        </a:spcBef>
                        <a:spcAft>
                          <a:spcPts val="0"/>
                        </a:spcAft>
                        <a:buNone/>
                      </a:pPr>
                      <a:r>
                        <a:rPr lang="en-US">
                          <a:latin typeface="Calibri"/>
                          <a:ea typeface="Calibri"/>
                          <a:cs typeface="Calibri"/>
                          <a:sym typeface="Calibri"/>
                        </a:rPr>
                        <a:t>Diese Minderheit zerstört unser Land mit ihrer Kultur.</a:t>
                      </a:r>
                      <a:endParaRPr>
                        <a:latin typeface="Calibri"/>
                        <a:ea typeface="Calibri"/>
                        <a:cs typeface="Calibri"/>
                        <a:sym typeface="Calibri"/>
                      </a:endParaRPr>
                    </a:p>
                  </a:txBody>
                  <a:tcPr marT="91425" marB="91425" marR="91425" marL="91425">
                    <a:solidFill>
                      <a:srgbClr val="D0E0E3"/>
                    </a:solidFill>
                  </a:tcPr>
                </a:tc>
                <a:tc>
                  <a:txBody>
                    <a:bodyPr/>
                    <a:lstStyle/>
                    <a:p>
                      <a:pPr indent="0" lvl="0" marL="0" rtl="0" algn="l">
                        <a:spcBef>
                          <a:spcPts val="0"/>
                        </a:spcBef>
                        <a:spcAft>
                          <a:spcPts val="0"/>
                        </a:spcAft>
                        <a:buNone/>
                      </a:pPr>
                      <a:r>
                        <a:rPr lang="en-US">
                          <a:latin typeface="Calibri"/>
                          <a:ea typeface="Calibri"/>
                          <a:cs typeface="Calibri"/>
                          <a:sym typeface="Calibri"/>
                        </a:rPr>
                        <a:t>   </a:t>
                      </a:r>
                      <a:r>
                        <a:rPr lang="en-US">
                          <a:latin typeface="Calibri"/>
                          <a:ea typeface="Calibri"/>
                          <a:cs typeface="Calibri"/>
                          <a:sym typeface="Calibri"/>
                        </a:rPr>
                        <a:t>1</a:t>
                      </a:r>
                      <a:endParaRPr>
                        <a:latin typeface="Calibri"/>
                        <a:ea typeface="Calibri"/>
                        <a:cs typeface="Calibri"/>
                        <a:sym typeface="Calibri"/>
                      </a:endParaRPr>
                    </a:p>
                  </a:txBody>
                  <a:tcPr marT="91425" marB="91425" marR="91425" marL="91425">
                    <a:solidFill>
                      <a:srgbClr val="D0E0E3"/>
                    </a:solidFill>
                  </a:tcPr>
                </a:tc>
                <a:tc>
                  <a:txBody>
                    <a:bodyPr/>
                    <a:lstStyle/>
                    <a:p>
                      <a:pPr indent="0" lvl="0" marL="0" rtl="0" algn="l">
                        <a:spcBef>
                          <a:spcPts val="0"/>
                        </a:spcBef>
                        <a:spcAft>
                          <a:spcPts val="0"/>
                        </a:spcAft>
                        <a:buNone/>
                      </a:pPr>
                      <a:r>
                        <a:rPr lang="en-US">
                          <a:latin typeface="Calibri"/>
                          <a:ea typeface="Calibri"/>
                          <a:cs typeface="Calibri"/>
                          <a:sym typeface="Calibri"/>
                        </a:rPr>
                        <a:t>   </a:t>
                      </a:r>
                      <a:r>
                        <a:rPr lang="en-US">
                          <a:latin typeface="Calibri"/>
                          <a:ea typeface="Calibri"/>
                          <a:cs typeface="Calibri"/>
                          <a:sym typeface="Calibri"/>
                        </a:rPr>
                        <a:t>1</a:t>
                      </a:r>
                      <a:endParaRPr>
                        <a:latin typeface="Calibri"/>
                        <a:ea typeface="Calibri"/>
                        <a:cs typeface="Calibri"/>
                        <a:sym typeface="Calibri"/>
                      </a:endParaRPr>
                    </a:p>
                  </a:txBody>
                  <a:tcPr marT="91425" marB="91425" marR="91425" marL="91425">
                    <a:solidFill>
                      <a:srgbClr val="D0E0E3"/>
                    </a:solidFill>
                  </a:tcPr>
                </a:tc>
                <a:tc>
                  <a:txBody>
                    <a:bodyPr/>
                    <a:lstStyle/>
                    <a:p>
                      <a:pPr indent="0" lvl="0" marL="0" rtl="0" algn="l">
                        <a:spcBef>
                          <a:spcPts val="0"/>
                        </a:spcBef>
                        <a:spcAft>
                          <a:spcPts val="0"/>
                        </a:spcAft>
                        <a:buNone/>
                      </a:pPr>
                      <a:r>
                        <a:rPr lang="en-US">
                          <a:latin typeface="Calibri"/>
                          <a:ea typeface="Calibri"/>
                          <a:cs typeface="Calibri"/>
                          <a:sym typeface="Calibri"/>
                        </a:rPr>
                        <a:t>   </a:t>
                      </a:r>
                      <a:r>
                        <a:rPr lang="en-US">
                          <a:latin typeface="Calibri"/>
                          <a:ea typeface="Calibri"/>
                          <a:cs typeface="Calibri"/>
                          <a:sym typeface="Calibri"/>
                        </a:rPr>
                        <a:t>0</a:t>
                      </a:r>
                      <a:endParaRPr>
                        <a:latin typeface="Calibri"/>
                        <a:ea typeface="Calibri"/>
                        <a:cs typeface="Calibri"/>
                        <a:sym typeface="Calibri"/>
                      </a:endParaRPr>
                    </a:p>
                  </a:txBody>
                  <a:tcPr marT="91425" marB="91425" marR="91425" marL="91425">
                    <a:solidFill>
                      <a:srgbClr val="D0E0E3"/>
                    </a:solidFill>
                  </a:tcPr>
                </a:tc>
              </a:tr>
              <a:tr h="380850">
                <a:tc>
                  <a:txBody>
                    <a:bodyPr/>
                    <a:lstStyle/>
                    <a:p>
                      <a:pPr indent="0" lvl="0" marL="0" rtl="0" algn="l">
                        <a:spcBef>
                          <a:spcPts val="0"/>
                        </a:spcBef>
                        <a:spcAft>
                          <a:spcPts val="0"/>
                        </a:spcAft>
                        <a:buNone/>
                      </a:pPr>
                      <a:r>
                        <a:rPr lang="en-US">
                          <a:latin typeface="Calibri"/>
                          <a:ea typeface="Calibri"/>
                          <a:cs typeface="Calibri"/>
                          <a:sym typeface="Calibri"/>
                        </a:rPr>
                        <a:t>Du bist wie ein Virus, der alles zerstört, was er berührt.</a:t>
                      </a:r>
                      <a:endParaRPr>
                        <a:latin typeface="Calibri"/>
                        <a:ea typeface="Calibri"/>
                        <a:cs typeface="Calibri"/>
                        <a:sym typeface="Calibri"/>
                      </a:endParaRPr>
                    </a:p>
                  </a:txBody>
                  <a:tcPr marT="91425" marB="91425" marR="91425" marL="91425">
                    <a:solidFill>
                      <a:srgbClr val="D0E0E3"/>
                    </a:solidFill>
                  </a:tcPr>
                </a:tc>
                <a:tc>
                  <a:txBody>
                    <a:bodyPr/>
                    <a:lstStyle/>
                    <a:p>
                      <a:pPr indent="0" lvl="0" marL="0" rtl="0" algn="l">
                        <a:spcBef>
                          <a:spcPts val="0"/>
                        </a:spcBef>
                        <a:spcAft>
                          <a:spcPts val="0"/>
                        </a:spcAft>
                        <a:buNone/>
                      </a:pPr>
                      <a:r>
                        <a:rPr lang="en-US">
                          <a:latin typeface="Calibri"/>
                          <a:ea typeface="Calibri"/>
                          <a:cs typeface="Calibri"/>
                          <a:sym typeface="Calibri"/>
                        </a:rPr>
                        <a:t>   0</a:t>
                      </a:r>
                      <a:endParaRPr>
                        <a:latin typeface="Calibri"/>
                        <a:ea typeface="Calibri"/>
                        <a:cs typeface="Calibri"/>
                        <a:sym typeface="Calibri"/>
                      </a:endParaRPr>
                    </a:p>
                  </a:txBody>
                  <a:tcPr marT="91425" marB="91425" marR="91425" marL="91425">
                    <a:solidFill>
                      <a:srgbClr val="D0E0E3"/>
                    </a:solidFill>
                  </a:tcPr>
                </a:tc>
                <a:tc>
                  <a:txBody>
                    <a:bodyPr/>
                    <a:lstStyle/>
                    <a:p>
                      <a:pPr indent="0" lvl="0" marL="0" rtl="0" algn="l">
                        <a:spcBef>
                          <a:spcPts val="0"/>
                        </a:spcBef>
                        <a:spcAft>
                          <a:spcPts val="0"/>
                        </a:spcAft>
                        <a:buNone/>
                      </a:pPr>
                      <a:r>
                        <a:rPr lang="en-US">
                          <a:latin typeface="Calibri"/>
                          <a:ea typeface="Calibri"/>
                          <a:cs typeface="Calibri"/>
                          <a:sym typeface="Calibri"/>
                        </a:rPr>
                        <a:t>  0</a:t>
                      </a:r>
                      <a:endParaRPr>
                        <a:latin typeface="Calibri"/>
                        <a:ea typeface="Calibri"/>
                        <a:cs typeface="Calibri"/>
                        <a:sym typeface="Calibri"/>
                      </a:endParaRPr>
                    </a:p>
                  </a:txBody>
                  <a:tcPr marT="91425" marB="91425" marR="91425" marL="91425">
                    <a:solidFill>
                      <a:srgbClr val="D0E0E3"/>
                    </a:solidFill>
                  </a:tcPr>
                </a:tc>
                <a:tc>
                  <a:txBody>
                    <a:bodyPr/>
                    <a:lstStyle/>
                    <a:p>
                      <a:pPr indent="0" lvl="0" marL="0" rtl="0" algn="l">
                        <a:spcBef>
                          <a:spcPts val="0"/>
                        </a:spcBef>
                        <a:spcAft>
                          <a:spcPts val="0"/>
                        </a:spcAft>
                        <a:buNone/>
                      </a:pPr>
                      <a:r>
                        <a:rPr lang="en-US">
                          <a:latin typeface="Calibri"/>
                          <a:ea typeface="Calibri"/>
                          <a:cs typeface="Calibri"/>
                          <a:sym typeface="Calibri"/>
                        </a:rPr>
                        <a:t>   </a:t>
                      </a:r>
                      <a:r>
                        <a:rPr lang="en-US">
                          <a:latin typeface="Calibri"/>
                          <a:ea typeface="Calibri"/>
                          <a:cs typeface="Calibri"/>
                          <a:sym typeface="Calibri"/>
                        </a:rPr>
                        <a:t>1</a:t>
                      </a:r>
                      <a:endParaRPr>
                        <a:latin typeface="Calibri"/>
                        <a:ea typeface="Calibri"/>
                        <a:cs typeface="Calibri"/>
                        <a:sym typeface="Calibri"/>
                      </a:endParaRPr>
                    </a:p>
                  </a:txBody>
                  <a:tcPr marT="91425" marB="91425" marR="91425" marL="91425">
                    <a:solidFill>
                      <a:srgbClr val="D0E0E3"/>
                    </a:solidFill>
                  </a:tcPr>
                </a:tc>
              </a:tr>
              <a:tr h="412925">
                <a:tc>
                  <a:txBody>
                    <a:bodyPr/>
                    <a:lstStyle/>
                    <a:p>
                      <a:pPr indent="0" lvl="0" marL="0" rtl="0" algn="l">
                        <a:spcBef>
                          <a:spcPts val="0"/>
                        </a:spcBef>
                        <a:spcAft>
                          <a:spcPts val="0"/>
                        </a:spcAft>
                        <a:buNone/>
                      </a:pPr>
                      <a:r>
                        <a:rPr lang="en-US">
                          <a:latin typeface="Calibri"/>
                          <a:ea typeface="Calibri"/>
                          <a:cs typeface="Calibri"/>
                          <a:sym typeface="Calibri"/>
                        </a:rPr>
                        <a:t>Diese Sprache sollte in unserem Land verboten werden.</a:t>
                      </a:r>
                      <a:endParaRPr>
                        <a:latin typeface="Calibri"/>
                        <a:ea typeface="Calibri"/>
                        <a:cs typeface="Calibri"/>
                        <a:sym typeface="Calibri"/>
                      </a:endParaRPr>
                    </a:p>
                  </a:txBody>
                  <a:tcPr marT="91425" marB="91425" marR="91425" marL="91425">
                    <a:solidFill>
                      <a:srgbClr val="D0E0E3"/>
                    </a:solidFill>
                  </a:tcPr>
                </a:tc>
                <a:tc>
                  <a:txBody>
                    <a:bodyPr/>
                    <a:lstStyle/>
                    <a:p>
                      <a:pPr indent="0" lvl="0" marL="0" rtl="0" algn="l">
                        <a:spcBef>
                          <a:spcPts val="0"/>
                        </a:spcBef>
                        <a:spcAft>
                          <a:spcPts val="0"/>
                        </a:spcAft>
                        <a:buNone/>
                      </a:pPr>
                      <a:r>
                        <a:rPr lang="en-US">
                          <a:latin typeface="Calibri"/>
                          <a:ea typeface="Calibri"/>
                          <a:cs typeface="Calibri"/>
                          <a:sym typeface="Calibri"/>
                        </a:rPr>
                        <a:t>   </a:t>
                      </a:r>
                      <a:r>
                        <a:rPr lang="en-US">
                          <a:latin typeface="Calibri"/>
                          <a:ea typeface="Calibri"/>
                          <a:cs typeface="Calibri"/>
                          <a:sym typeface="Calibri"/>
                        </a:rPr>
                        <a:t>0</a:t>
                      </a:r>
                      <a:endParaRPr>
                        <a:latin typeface="Calibri"/>
                        <a:ea typeface="Calibri"/>
                        <a:cs typeface="Calibri"/>
                        <a:sym typeface="Calibri"/>
                      </a:endParaRPr>
                    </a:p>
                  </a:txBody>
                  <a:tcPr marT="91425" marB="91425" marR="91425" marL="91425">
                    <a:solidFill>
                      <a:srgbClr val="D0E0E3"/>
                    </a:solidFill>
                  </a:tcPr>
                </a:tc>
                <a:tc>
                  <a:txBody>
                    <a:bodyPr/>
                    <a:lstStyle/>
                    <a:p>
                      <a:pPr indent="0" lvl="0" marL="0" rtl="0" algn="l">
                        <a:spcBef>
                          <a:spcPts val="0"/>
                        </a:spcBef>
                        <a:spcAft>
                          <a:spcPts val="0"/>
                        </a:spcAft>
                        <a:buNone/>
                      </a:pPr>
                      <a:r>
                        <a:rPr lang="en-US">
                          <a:latin typeface="Calibri"/>
                          <a:ea typeface="Calibri"/>
                          <a:cs typeface="Calibri"/>
                          <a:sym typeface="Calibri"/>
                        </a:rPr>
                        <a:t>  </a:t>
                      </a:r>
                      <a:r>
                        <a:rPr lang="en-US">
                          <a:latin typeface="Calibri"/>
                          <a:ea typeface="Calibri"/>
                          <a:cs typeface="Calibri"/>
                          <a:sym typeface="Calibri"/>
                        </a:rPr>
                        <a:t>1</a:t>
                      </a:r>
                      <a:endParaRPr>
                        <a:latin typeface="Calibri"/>
                        <a:ea typeface="Calibri"/>
                        <a:cs typeface="Calibri"/>
                        <a:sym typeface="Calibri"/>
                      </a:endParaRPr>
                    </a:p>
                  </a:txBody>
                  <a:tcPr marT="91425" marB="91425" marR="91425" marL="91425">
                    <a:solidFill>
                      <a:srgbClr val="D0E0E3"/>
                    </a:solidFill>
                  </a:tcPr>
                </a:tc>
                <a:tc>
                  <a:txBody>
                    <a:bodyPr/>
                    <a:lstStyle/>
                    <a:p>
                      <a:pPr indent="0" lvl="0" marL="0" rtl="0" algn="l">
                        <a:spcBef>
                          <a:spcPts val="0"/>
                        </a:spcBef>
                        <a:spcAft>
                          <a:spcPts val="0"/>
                        </a:spcAft>
                        <a:buNone/>
                      </a:pPr>
                      <a:r>
                        <a:rPr lang="en-US">
                          <a:latin typeface="Calibri"/>
                          <a:ea typeface="Calibri"/>
                          <a:cs typeface="Calibri"/>
                          <a:sym typeface="Calibri"/>
                        </a:rPr>
                        <a:t>   </a:t>
                      </a:r>
                      <a:r>
                        <a:rPr lang="en-US">
                          <a:latin typeface="Calibri"/>
                          <a:ea typeface="Calibri"/>
                          <a:cs typeface="Calibri"/>
                          <a:sym typeface="Calibri"/>
                        </a:rPr>
                        <a:t>0</a:t>
                      </a:r>
                      <a:endParaRPr>
                        <a:latin typeface="Calibri"/>
                        <a:ea typeface="Calibri"/>
                        <a:cs typeface="Calibri"/>
                        <a:sym typeface="Calibri"/>
                      </a:endParaRPr>
                    </a:p>
                  </a:txBody>
                  <a:tcPr marT="91425" marB="91425" marR="91425" marL="91425">
                    <a:solidFill>
                      <a:srgbClr val="D0E0E3"/>
                    </a:solidFill>
                  </a:tcPr>
                </a:tc>
              </a:tr>
            </a:tbl>
          </a:graphicData>
        </a:graphic>
      </p:graphicFrame>
      <p:sp>
        <p:nvSpPr>
          <p:cNvPr id="335" name="Google Shape;335;p30"/>
          <p:cNvSpPr txBox="1"/>
          <p:nvPr/>
        </p:nvSpPr>
        <p:spPr>
          <a:xfrm>
            <a:off x="896900" y="149400"/>
            <a:ext cx="7520700" cy="9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chemeClr val="dk2"/>
                </a:solidFill>
                <a:latin typeface="Sora"/>
                <a:ea typeface="Sora"/>
                <a:cs typeface="Sora"/>
                <a:sym typeface="Sora"/>
              </a:rPr>
              <a:t>Manual Testing </a:t>
            </a:r>
            <a:r>
              <a:rPr b="1" lang="en-US" sz="2800">
                <a:solidFill>
                  <a:schemeClr val="dk2"/>
                </a:solidFill>
                <a:latin typeface="Sora"/>
                <a:ea typeface="Sora"/>
                <a:cs typeface="Sora"/>
                <a:sym typeface="Sora"/>
              </a:rPr>
              <a:t>Results </a:t>
            </a:r>
            <a:endParaRPr b="1" sz="2800">
              <a:solidFill>
                <a:schemeClr val="dk2"/>
              </a:solidFill>
              <a:latin typeface="Sora"/>
              <a:ea typeface="Sora"/>
              <a:cs typeface="Sora"/>
              <a:sym typeface="Sora"/>
            </a:endParaRPr>
          </a:p>
          <a:p>
            <a:pPr indent="0" lvl="0" marL="0" rtl="0" algn="l">
              <a:spcBef>
                <a:spcPts val="0"/>
              </a:spcBef>
              <a:spcAft>
                <a:spcPts val="0"/>
              </a:spcAft>
              <a:buNone/>
            </a:pPr>
            <a:r>
              <a:rPr lang="en-US" sz="1600">
                <a:solidFill>
                  <a:schemeClr val="dk1"/>
                </a:solidFill>
                <a:latin typeface="Calibri"/>
                <a:ea typeface="Calibri"/>
                <a:cs typeface="Calibri"/>
                <a:sym typeface="Calibri"/>
              </a:rPr>
              <a:t>Only few are shown here</a:t>
            </a:r>
            <a:endParaRPr sz="1600">
              <a:solidFill>
                <a:schemeClr val="dk1"/>
              </a:solidFill>
              <a:latin typeface="Calibri"/>
              <a:ea typeface="Calibri"/>
              <a:cs typeface="Calibri"/>
              <a:sym typeface="Calibri"/>
            </a:endParaRPr>
          </a:p>
          <a:p>
            <a:pPr indent="0" lvl="0" marL="0" rtl="0" algn="l">
              <a:spcBef>
                <a:spcPts val="0"/>
              </a:spcBef>
              <a:spcAft>
                <a:spcPts val="0"/>
              </a:spcAft>
              <a:buNone/>
            </a:pPr>
            <a:r>
              <a:rPr lang="en-US" sz="1600">
                <a:solidFill>
                  <a:schemeClr val="dk1"/>
                </a:solidFill>
                <a:highlight>
                  <a:srgbClr val="FFE599"/>
                </a:highlight>
                <a:latin typeface="Calibri"/>
                <a:ea typeface="Calibri"/>
                <a:cs typeface="Calibri"/>
                <a:sym typeface="Calibri"/>
              </a:rPr>
              <a:t>These are wrongly predicted</a:t>
            </a:r>
            <a:endParaRPr sz="1600">
              <a:solidFill>
                <a:schemeClr val="dk1"/>
              </a:solidFill>
              <a:highlight>
                <a:srgbClr val="FFE599"/>
              </a:highlight>
              <a:latin typeface="Calibri"/>
              <a:ea typeface="Calibri"/>
              <a:cs typeface="Calibri"/>
              <a:sym typeface="Calibri"/>
            </a:endParaRPr>
          </a:p>
        </p:txBody>
      </p:sp>
      <p:sp>
        <p:nvSpPr>
          <p:cNvPr id="336" name="Google Shape;336;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1"/>
          <p:cNvSpPr txBox="1"/>
          <p:nvPr>
            <p:ph type="ctrTitle"/>
          </p:nvPr>
        </p:nvSpPr>
        <p:spPr>
          <a:xfrm>
            <a:off x="1149250" y="1472000"/>
            <a:ext cx="6433500" cy="17505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US" sz="2600">
                <a:latin typeface="Lato"/>
                <a:ea typeface="Lato"/>
                <a:cs typeface="Lato"/>
                <a:sym typeface="Lato"/>
              </a:rPr>
              <a:t>RESULTS</a:t>
            </a:r>
            <a:endParaRPr sz="6000"/>
          </a:p>
        </p:txBody>
      </p:sp>
      <p:sp>
        <p:nvSpPr>
          <p:cNvPr id="342" name="Google Shape;342;p31"/>
          <p:cNvSpPr txBox="1"/>
          <p:nvPr>
            <p:ph idx="12" type="sldNum"/>
          </p:nvPr>
        </p:nvSpPr>
        <p:spPr>
          <a:xfrm>
            <a:off x="8147109" y="466790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341"/>
                                        </p:tgtEl>
                                        <p:attrNameLst>
                                          <p:attrName>style.visibility</p:attrName>
                                        </p:attrNameLst>
                                      </p:cBhvr>
                                      <p:to>
                                        <p:strVal val="visible"/>
                                      </p:to>
                                    </p:set>
                                    <p:anim calcmode="lin" valueType="num">
                                      <p:cBhvr additive="base">
                                        <p:cTn dur="1000"/>
                                        <p:tgtEl>
                                          <p:spTgt spid="341"/>
                                        </p:tgtEl>
                                        <p:attrNameLst>
                                          <p:attrName>ppt_w</p:attrName>
                                        </p:attrNameLst>
                                      </p:cBhvr>
                                      <p:tavLst>
                                        <p:tav fmla="" tm="0">
                                          <p:val>
                                            <p:strVal val="0"/>
                                          </p:val>
                                        </p:tav>
                                        <p:tav fmla="" tm="100000">
                                          <p:val>
                                            <p:strVal val="#ppt_w"/>
                                          </p:val>
                                        </p:tav>
                                      </p:tavLst>
                                    </p:anim>
                                    <p:anim calcmode="lin" valueType="num">
                                      <p:cBhvr additive="base">
                                        <p:cTn dur="1000"/>
                                        <p:tgtEl>
                                          <p:spTgt spid="34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2"/>
          <p:cNvSpPr txBox="1"/>
          <p:nvPr>
            <p:ph idx="4294967295" type="title"/>
          </p:nvPr>
        </p:nvSpPr>
        <p:spPr>
          <a:xfrm>
            <a:off x="706050" y="264550"/>
            <a:ext cx="58353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3000"/>
              <a:buFont typeface="Sora"/>
              <a:buNone/>
            </a:pPr>
            <a:r>
              <a:rPr lang="en-US" sz="2800"/>
              <a:t>Key Evaluation Metrics</a:t>
            </a:r>
            <a:endParaRPr sz="2800"/>
          </a:p>
        </p:txBody>
      </p:sp>
      <p:graphicFrame>
        <p:nvGraphicFramePr>
          <p:cNvPr id="348" name="Google Shape;348;p32"/>
          <p:cNvGraphicFramePr/>
          <p:nvPr/>
        </p:nvGraphicFramePr>
        <p:xfrm>
          <a:off x="1022080" y="1253642"/>
          <a:ext cx="3000000" cy="3000000"/>
        </p:xfrm>
        <a:graphic>
          <a:graphicData uri="http://schemas.openxmlformats.org/drawingml/2006/table">
            <a:tbl>
              <a:tblPr bandRow="1" firstRow="1">
                <a:noFill/>
                <a:tableStyleId>{AE6E5342-C3E9-4B91-923E-AD6574A7CBED}</a:tableStyleId>
              </a:tblPr>
              <a:tblGrid>
                <a:gridCol w="1759500"/>
                <a:gridCol w="1989175"/>
                <a:gridCol w="1529850"/>
                <a:gridCol w="1956375"/>
              </a:tblGrid>
              <a:tr h="637200">
                <a:tc>
                  <a:txBody>
                    <a:bodyPr/>
                    <a:lstStyle/>
                    <a:p>
                      <a:pPr indent="0" lvl="0" marL="0" marR="0" rtl="0" algn="ctr">
                        <a:lnSpc>
                          <a:spcPct val="100000"/>
                        </a:lnSpc>
                        <a:spcBef>
                          <a:spcPts val="0"/>
                        </a:spcBef>
                        <a:spcAft>
                          <a:spcPts val="0"/>
                        </a:spcAft>
                        <a:buNone/>
                      </a:pPr>
                      <a:r>
                        <a:rPr lang="en-US" sz="1200" u="none" cap="none" strike="noStrike"/>
                        <a:t>Model Name</a:t>
                      </a:r>
                      <a:endParaRPr/>
                    </a:p>
                  </a:txBody>
                  <a:tcPr marT="34300" marB="34300" marR="68575" marL="68575" anchor="ctr"/>
                </a:tc>
                <a:tc>
                  <a:txBody>
                    <a:bodyPr/>
                    <a:lstStyle/>
                    <a:p>
                      <a:pPr indent="0" lvl="0" marL="0" marR="0" rtl="0" algn="ctr">
                        <a:lnSpc>
                          <a:spcPct val="100000"/>
                        </a:lnSpc>
                        <a:spcBef>
                          <a:spcPts val="0"/>
                        </a:spcBef>
                        <a:spcAft>
                          <a:spcPts val="0"/>
                        </a:spcAft>
                        <a:buNone/>
                      </a:pPr>
                      <a:r>
                        <a:rPr lang="en-US" sz="1200" u="none" cap="none" strike="noStrike"/>
                        <a:t>Fake News Accuracy</a:t>
                      </a:r>
                      <a:endParaRPr/>
                    </a:p>
                  </a:txBody>
                  <a:tcPr marT="34300" marB="34300" marR="68575" marL="68575" anchor="ctr"/>
                </a:tc>
                <a:tc>
                  <a:txBody>
                    <a:bodyPr/>
                    <a:lstStyle/>
                    <a:p>
                      <a:pPr indent="0" lvl="0" marL="0" marR="0" rtl="0" algn="ctr">
                        <a:lnSpc>
                          <a:spcPct val="100000"/>
                        </a:lnSpc>
                        <a:spcBef>
                          <a:spcPts val="0"/>
                        </a:spcBef>
                        <a:spcAft>
                          <a:spcPts val="0"/>
                        </a:spcAft>
                        <a:buNone/>
                      </a:pPr>
                      <a:r>
                        <a:rPr lang="en-US" sz="1200" u="none" cap="none" strike="noStrike"/>
                        <a:t>Hate Speech Accuracy</a:t>
                      </a:r>
                      <a:endParaRPr/>
                    </a:p>
                  </a:txBody>
                  <a:tcPr marT="34300" marB="34300" marR="68575" marL="68575" anchor="ctr"/>
                </a:tc>
                <a:tc>
                  <a:txBody>
                    <a:bodyPr/>
                    <a:lstStyle/>
                    <a:p>
                      <a:pPr indent="0" lvl="0" marL="0" marR="0" rtl="0" algn="ctr">
                        <a:lnSpc>
                          <a:spcPct val="100000"/>
                        </a:lnSpc>
                        <a:spcBef>
                          <a:spcPts val="0"/>
                        </a:spcBef>
                        <a:spcAft>
                          <a:spcPts val="0"/>
                        </a:spcAft>
                        <a:buNone/>
                      </a:pPr>
                      <a:r>
                        <a:rPr lang="en-US" sz="1200" u="none" cap="none" strike="noStrike"/>
                        <a:t>Toxicity Accuracy</a:t>
                      </a:r>
                      <a:endParaRPr/>
                    </a:p>
                  </a:txBody>
                  <a:tcPr marT="34300" marB="34300" marR="68575" marL="68575" anchor="ctr"/>
                </a:tc>
              </a:tr>
              <a:tr h="637200">
                <a:tc>
                  <a:txBody>
                    <a:bodyPr/>
                    <a:lstStyle/>
                    <a:p>
                      <a:pPr indent="0" lvl="0" marL="0" marR="0" rtl="0" algn="ctr">
                        <a:lnSpc>
                          <a:spcPct val="100000"/>
                        </a:lnSpc>
                        <a:spcBef>
                          <a:spcPts val="0"/>
                        </a:spcBef>
                        <a:spcAft>
                          <a:spcPts val="0"/>
                        </a:spcAft>
                        <a:buNone/>
                      </a:pPr>
                      <a:r>
                        <a:rPr lang="en-US" sz="1200"/>
                        <a:t>Best </a:t>
                      </a:r>
                      <a:r>
                        <a:rPr lang="en-US" sz="1200" u="none" cap="none" strike="noStrike"/>
                        <a:t>Single-Ta</a:t>
                      </a:r>
                      <a:r>
                        <a:rPr lang="en-US" sz="1200"/>
                        <a:t>s</a:t>
                      </a:r>
                      <a:r>
                        <a:rPr lang="en-US" sz="1200" u="none" cap="none" strike="noStrike"/>
                        <a:t>k </a:t>
                      </a:r>
                      <a:endParaRPr/>
                    </a:p>
                  </a:txBody>
                  <a:tcPr marT="34300" marB="34300" marR="68575" marL="68575" anchor="ctr"/>
                </a:tc>
                <a:tc>
                  <a:txBody>
                    <a:bodyPr/>
                    <a:lstStyle/>
                    <a:p>
                      <a:pPr indent="0" lvl="0" marL="0" marR="0" rtl="0" algn="ctr">
                        <a:lnSpc>
                          <a:spcPct val="100000"/>
                        </a:lnSpc>
                        <a:spcBef>
                          <a:spcPts val="0"/>
                        </a:spcBef>
                        <a:spcAft>
                          <a:spcPts val="0"/>
                        </a:spcAft>
                        <a:buNone/>
                      </a:pPr>
                      <a:r>
                        <a:rPr lang="en-US" sz="1200" u="none" cap="none" strike="noStrike"/>
                        <a:t>91.1%</a:t>
                      </a:r>
                      <a:endParaRPr sz="1200" u="none" cap="none" strike="noStrike"/>
                    </a:p>
                    <a:p>
                      <a:pPr indent="0" lvl="0" marL="0" marR="0" rtl="0" algn="ctr">
                        <a:lnSpc>
                          <a:spcPct val="100000"/>
                        </a:lnSpc>
                        <a:spcBef>
                          <a:spcPts val="0"/>
                        </a:spcBef>
                        <a:spcAft>
                          <a:spcPts val="0"/>
                        </a:spcAft>
                        <a:buNone/>
                      </a:pPr>
                      <a:r>
                        <a:rPr lang="en-US" sz="1200"/>
                        <a:t>(</a:t>
                      </a:r>
                      <a:r>
                        <a:rPr lang="en-US" sz="1100"/>
                        <a:t>distilbert-base-german-cased</a:t>
                      </a:r>
                      <a:r>
                        <a:rPr lang="en-US" sz="1200"/>
                        <a:t>)</a:t>
                      </a:r>
                      <a:endParaRPr sz="1200"/>
                    </a:p>
                  </a:txBody>
                  <a:tcPr marT="34300" marB="34300" marR="68575" marL="68575" anchor="ctr">
                    <a:solidFill>
                      <a:schemeClr val="accent2"/>
                    </a:solidFill>
                  </a:tcPr>
                </a:tc>
                <a:tc>
                  <a:txBody>
                    <a:bodyPr/>
                    <a:lstStyle/>
                    <a:p>
                      <a:pPr indent="0" lvl="0" marL="0" rtl="0" algn="ctr">
                        <a:spcBef>
                          <a:spcPts val="0"/>
                        </a:spcBef>
                        <a:spcAft>
                          <a:spcPts val="0"/>
                        </a:spcAft>
                        <a:buNone/>
                      </a:pPr>
                      <a:r>
                        <a:rPr lang="en-US" sz="1200"/>
                        <a:t>78.1%</a:t>
                      </a:r>
                      <a:endParaRPr sz="1200"/>
                    </a:p>
                    <a:p>
                      <a:pPr indent="0" lvl="0" marL="0" rtl="0" algn="ctr">
                        <a:spcBef>
                          <a:spcPts val="0"/>
                        </a:spcBef>
                        <a:spcAft>
                          <a:spcPts val="0"/>
                        </a:spcAft>
                        <a:buNone/>
                      </a:pPr>
                      <a:r>
                        <a:rPr lang="en-US" sz="1200"/>
                        <a:t>(</a:t>
                      </a:r>
                      <a:r>
                        <a:rPr lang="en-US" sz="1100"/>
                        <a:t>xlm-roberta-base</a:t>
                      </a:r>
                      <a:r>
                        <a:rPr lang="en-US" sz="1200"/>
                        <a:t>)</a:t>
                      </a:r>
                      <a:endParaRPr sz="1200"/>
                    </a:p>
                  </a:txBody>
                  <a:tcPr marT="34300" marB="34300" marR="68575" marL="68575" anchor="ctr"/>
                </a:tc>
                <a:tc>
                  <a:txBody>
                    <a:bodyPr/>
                    <a:lstStyle/>
                    <a:p>
                      <a:pPr indent="0" lvl="0" marL="0" rtl="0" algn="ctr">
                        <a:spcBef>
                          <a:spcPts val="0"/>
                        </a:spcBef>
                        <a:spcAft>
                          <a:spcPts val="0"/>
                        </a:spcAft>
                        <a:buNone/>
                      </a:pPr>
                      <a:r>
                        <a:rPr lang="en-US" sz="1200"/>
                        <a:t>88%</a:t>
                      </a:r>
                      <a:endParaRPr sz="1200"/>
                    </a:p>
                    <a:p>
                      <a:pPr indent="0" lvl="0" marL="0" rtl="0" algn="ctr">
                        <a:spcBef>
                          <a:spcPts val="0"/>
                        </a:spcBef>
                        <a:spcAft>
                          <a:spcPts val="0"/>
                        </a:spcAft>
                        <a:buNone/>
                      </a:pPr>
                      <a:r>
                        <a:rPr lang="en-US" sz="1200"/>
                        <a:t>(</a:t>
                      </a:r>
                      <a:r>
                        <a:rPr lang="en-US" sz="1100"/>
                        <a:t>bert-base-multilingual-cased</a:t>
                      </a:r>
                      <a:r>
                        <a:rPr lang="en-US" sz="1200"/>
                        <a:t>)</a:t>
                      </a:r>
                      <a:endParaRPr sz="1200"/>
                    </a:p>
                  </a:txBody>
                  <a:tcPr marT="34300" marB="34300" marR="68575" marL="68575" anchor="ctr"/>
                </a:tc>
              </a:tr>
              <a:tr h="724625">
                <a:tc>
                  <a:txBody>
                    <a:bodyPr/>
                    <a:lstStyle/>
                    <a:p>
                      <a:pPr indent="0" lvl="0" marL="0" marR="0" rtl="0" algn="ctr">
                        <a:lnSpc>
                          <a:spcPct val="100000"/>
                        </a:lnSpc>
                        <a:spcBef>
                          <a:spcPts val="0"/>
                        </a:spcBef>
                        <a:spcAft>
                          <a:spcPts val="0"/>
                        </a:spcAft>
                        <a:buNone/>
                      </a:pPr>
                      <a:r>
                        <a:rPr lang="en-US" sz="1200"/>
                        <a:t>Best </a:t>
                      </a:r>
                      <a:r>
                        <a:rPr lang="en-US" sz="1200" u="none" cap="none" strike="noStrike"/>
                        <a:t>Multi-Task </a:t>
                      </a:r>
                      <a:endParaRPr sz="1200" u="none" cap="none" strike="noStrike"/>
                    </a:p>
                    <a:p>
                      <a:pPr indent="0" lvl="0" marL="0" marR="0" rtl="0" algn="ctr">
                        <a:lnSpc>
                          <a:spcPct val="100000"/>
                        </a:lnSpc>
                        <a:spcBef>
                          <a:spcPts val="0"/>
                        </a:spcBef>
                        <a:spcAft>
                          <a:spcPts val="0"/>
                        </a:spcAft>
                        <a:buNone/>
                      </a:pPr>
                      <a:r>
                        <a:rPr lang="en-US" sz="1200" u="none" cap="none" strike="noStrike"/>
                        <a:t>(Unified BERT)</a:t>
                      </a:r>
                      <a:endParaRPr/>
                    </a:p>
                  </a:txBody>
                  <a:tcPr marT="34300" marB="34300" marR="68575" marL="68575" anchor="ctr"/>
                </a:tc>
                <a:tc>
                  <a:txBody>
                    <a:bodyPr/>
                    <a:lstStyle/>
                    <a:p>
                      <a:pPr indent="0" lvl="0" marL="0" marR="0" rtl="0" algn="ctr">
                        <a:lnSpc>
                          <a:spcPct val="100000"/>
                        </a:lnSpc>
                        <a:spcBef>
                          <a:spcPts val="0"/>
                        </a:spcBef>
                        <a:spcAft>
                          <a:spcPts val="0"/>
                        </a:spcAft>
                        <a:buNone/>
                      </a:pPr>
                      <a:r>
                        <a:rPr lang="en-US" sz="1200" u="none" cap="none" strike="noStrike"/>
                        <a:t>8</a:t>
                      </a:r>
                      <a:r>
                        <a:rPr lang="en-US" sz="1200"/>
                        <a:t>5</a:t>
                      </a:r>
                      <a:r>
                        <a:rPr lang="en-US" sz="1200" u="none" cap="none" strike="noStrike"/>
                        <a:t>%</a:t>
                      </a:r>
                      <a:endParaRPr/>
                    </a:p>
                  </a:txBody>
                  <a:tcPr marT="34300" marB="34300" marR="68575" marL="68575" anchor="ctr"/>
                </a:tc>
                <a:tc>
                  <a:txBody>
                    <a:bodyPr/>
                    <a:lstStyle/>
                    <a:p>
                      <a:pPr indent="0" lvl="0" marL="0" marR="0" rtl="0" algn="ctr">
                        <a:lnSpc>
                          <a:spcPct val="100000"/>
                        </a:lnSpc>
                        <a:spcBef>
                          <a:spcPts val="0"/>
                        </a:spcBef>
                        <a:spcAft>
                          <a:spcPts val="0"/>
                        </a:spcAft>
                        <a:buNone/>
                      </a:pPr>
                      <a:r>
                        <a:rPr lang="en-US" sz="1200" u="none" cap="none" strike="noStrike"/>
                        <a:t>7</a:t>
                      </a:r>
                      <a:r>
                        <a:rPr lang="en-US" sz="1200"/>
                        <a:t>6</a:t>
                      </a:r>
                      <a:r>
                        <a:rPr lang="en-US" sz="1200" u="none" cap="none" strike="noStrike"/>
                        <a:t>%</a:t>
                      </a:r>
                      <a:endParaRPr/>
                    </a:p>
                  </a:txBody>
                  <a:tcPr marT="34300" marB="34300" marR="68575" marL="68575" anchor="ctr"/>
                </a:tc>
                <a:tc>
                  <a:txBody>
                    <a:bodyPr/>
                    <a:lstStyle/>
                    <a:p>
                      <a:pPr indent="0" lvl="0" marL="0" marR="0" rtl="0" algn="ctr">
                        <a:lnSpc>
                          <a:spcPct val="100000"/>
                        </a:lnSpc>
                        <a:spcBef>
                          <a:spcPts val="0"/>
                        </a:spcBef>
                        <a:spcAft>
                          <a:spcPts val="0"/>
                        </a:spcAft>
                        <a:buNone/>
                      </a:pPr>
                      <a:r>
                        <a:rPr lang="en-US" sz="1200"/>
                        <a:t>91</a:t>
                      </a:r>
                      <a:r>
                        <a:rPr lang="en-US" sz="1200" u="none" cap="none" strike="noStrike"/>
                        <a:t>%</a:t>
                      </a:r>
                      <a:endParaRPr/>
                    </a:p>
                  </a:txBody>
                  <a:tcPr marT="34300" marB="34300" marR="68575" marL="68575" anchor="ctr">
                    <a:solidFill>
                      <a:schemeClr val="accent2"/>
                    </a:solidFill>
                  </a:tcPr>
                </a:tc>
              </a:tr>
              <a:tr h="637200">
                <a:tc>
                  <a:txBody>
                    <a:bodyPr/>
                    <a:lstStyle/>
                    <a:p>
                      <a:pPr indent="0" lvl="0" marL="0" marR="0" rtl="0" algn="ctr">
                        <a:lnSpc>
                          <a:spcPct val="100000"/>
                        </a:lnSpc>
                        <a:spcBef>
                          <a:spcPts val="0"/>
                        </a:spcBef>
                        <a:spcAft>
                          <a:spcPts val="0"/>
                        </a:spcAft>
                        <a:buNone/>
                      </a:pPr>
                      <a:r>
                        <a:rPr lang="en-US" sz="1200"/>
                        <a:t>Best Prompting </a:t>
                      </a:r>
                      <a:endParaRPr sz="1200"/>
                    </a:p>
                    <a:p>
                      <a:pPr indent="0" lvl="0" marL="0" marR="0" rtl="0" algn="ctr">
                        <a:lnSpc>
                          <a:spcPct val="100000"/>
                        </a:lnSpc>
                        <a:spcBef>
                          <a:spcPts val="0"/>
                        </a:spcBef>
                        <a:spcAft>
                          <a:spcPts val="0"/>
                        </a:spcAft>
                        <a:buNone/>
                      </a:pPr>
                      <a:r>
                        <a:rPr lang="en-US" sz="1200"/>
                        <a:t>gpt-4o- mini</a:t>
                      </a:r>
                      <a:endParaRPr/>
                    </a:p>
                  </a:txBody>
                  <a:tcPr marT="34300" marB="34300" marR="68575" marL="68575" anchor="ctr"/>
                </a:tc>
                <a:tc>
                  <a:txBody>
                    <a:bodyPr/>
                    <a:lstStyle/>
                    <a:p>
                      <a:pPr indent="0" lvl="0" marL="0" marR="0" rtl="0" algn="ctr">
                        <a:lnSpc>
                          <a:spcPct val="100000"/>
                        </a:lnSpc>
                        <a:spcBef>
                          <a:spcPts val="0"/>
                        </a:spcBef>
                        <a:spcAft>
                          <a:spcPts val="0"/>
                        </a:spcAft>
                        <a:buNone/>
                      </a:pPr>
                      <a:r>
                        <a:rPr lang="en-US" sz="1200"/>
                        <a:t>59</a:t>
                      </a:r>
                      <a:r>
                        <a:rPr lang="en-US" sz="1200" u="none" cap="none" strike="noStrike"/>
                        <a:t>%</a:t>
                      </a:r>
                      <a:endParaRPr/>
                    </a:p>
                  </a:txBody>
                  <a:tcPr marT="34300" marB="34300" marR="68575" marL="68575" anchor="ctr"/>
                </a:tc>
                <a:tc>
                  <a:txBody>
                    <a:bodyPr/>
                    <a:lstStyle/>
                    <a:p>
                      <a:pPr indent="0" lvl="0" marL="0" marR="0" rtl="0" algn="ctr">
                        <a:lnSpc>
                          <a:spcPct val="100000"/>
                        </a:lnSpc>
                        <a:spcBef>
                          <a:spcPts val="0"/>
                        </a:spcBef>
                        <a:spcAft>
                          <a:spcPts val="0"/>
                        </a:spcAft>
                        <a:buNone/>
                      </a:pPr>
                      <a:r>
                        <a:rPr lang="en-US" sz="1200"/>
                        <a:t>79</a:t>
                      </a:r>
                      <a:r>
                        <a:rPr lang="en-US" sz="1200" u="none" cap="none" strike="noStrike"/>
                        <a:t>%</a:t>
                      </a:r>
                      <a:endParaRPr/>
                    </a:p>
                  </a:txBody>
                  <a:tcPr marT="34300" marB="34300" marR="68575" marL="68575" anchor="ctr">
                    <a:solidFill>
                      <a:schemeClr val="accent2"/>
                    </a:solidFill>
                  </a:tcPr>
                </a:tc>
                <a:tc>
                  <a:txBody>
                    <a:bodyPr/>
                    <a:lstStyle/>
                    <a:p>
                      <a:pPr indent="0" lvl="0" marL="0" marR="0" rtl="0" algn="ctr">
                        <a:lnSpc>
                          <a:spcPct val="100000"/>
                        </a:lnSpc>
                        <a:spcBef>
                          <a:spcPts val="0"/>
                        </a:spcBef>
                        <a:spcAft>
                          <a:spcPts val="0"/>
                        </a:spcAft>
                        <a:buNone/>
                      </a:pPr>
                      <a:r>
                        <a:rPr lang="en-US" sz="1200"/>
                        <a:t>78</a:t>
                      </a:r>
                      <a:r>
                        <a:rPr lang="en-US" sz="1200" u="none" cap="none" strike="noStrike"/>
                        <a:t>%</a:t>
                      </a:r>
                      <a:endParaRPr/>
                    </a:p>
                  </a:txBody>
                  <a:tcPr marT="34300" marB="34300" marR="68575" marL="68575" anchor="ctr"/>
                </a:tc>
              </a:tr>
            </a:tbl>
          </a:graphicData>
        </a:graphic>
      </p:graphicFrame>
      <p:sp>
        <p:nvSpPr>
          <p:cNvPr id="349" name="Google Shape;349;p32"/>
          <p:cNvSpPr txBox="1"/>
          <p:nvPr/>
        </p:nvSpPr>
        <p:spPr>
          <a:xfrm>
            <a:off x="917772" y="3774062"/>
            <a:ext cx="77235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1200" u="none" cap="none" strike="noStrike">
                <a:solidFill>
                  <a:srgbClr val="000000"/>
                </a:solidFill>
                <a:latin typeface="Calibri"/>
                <a:ea typeface="Calibri"/>
                <a:cs typeface="Calibri"/>
                <a:sym typeface="Calibri"/>
              </a:rPr>
              <a:t> </a:t>
            </a:r>
            <a:endParaRPr/>
          </a:p>
        </p:txBody>
      </p:sp>
      <p:sp>
        <p:nvSpPr>
          <p:cNvPr id="350" name="Google Shape;350;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3"/>
          <p:cNvSpPr txBox="1"/>
          <p:nvPr/>
        </p:nvSpPr>
        <p:spPr>
          <a:xfrm>
            <a:off x="1056450" y="85375"/>
            <a:ext cx="77478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700" u="none" cap="none" strike="noStrike">
                <a:solidFill>
                  <a:schemeClr val="dk1"/>
                </a:solidFill>
                <a:latin typeface="Sora"/>
                <a:ea typeface="Sora"/>
                <a:cs typeface="Sora"/>
                <a:sym typeface="Sora"/>
              </a:rPr>
              <a:t>Comparison between Individual Models trained on specific dataset</a:t>
            </a:r>
            <a:endParaRPr b="1" sz="1700">
              <a:solidFill>
                <a:schemeClr val="dk1"/>
              </a:solidFill>
              <a:latin typeface="Sora"/>
              <a:ea typeface="Sora"/>
              <a:cs typeface="Sora"/>
              <a:sym typeface="Sora"/>
            </a:endParaRPr>
          </a:p>
        </p:txBody>
      </p:sp>
      <p:pic>
        <p:nvPicPr>
          <p:cNvPr id="356" name="Google Shape;356;p33"/>
          <p:cNvPicPr preferRelativeResize="0"/>
          <p:nvPr/>
        </p:nvPicPr>
        <p:blipFill>
          <a:blip r:embed="rId3">
            <a:alphaModFix/>
          </a:blip>
          <a:stretch>
            <a:fillRect/>
          </a:stretch>
        </p:blipFill>
        <p:spPr>
          <a:xfrm>
            <a:off x="795350" y="593833"/>
            <a:ext cx="8008741" cy="4381392"/>
          </a:xfrm>
          <a:prstGeom prst="rect">
            <a:avLst/>
          </a:prstGeom>
          <a:noFill/>
          <a:ln>
            <a:noFill/>
          </a:ln>
        </p:spPr>
      </p:pic>
      <p:sp>
        <p:nvSpPr>
          <p:cNvPr id="357" name="Google Shape;357;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4"/>
          <p:cNvSpPr/>
          <p:nvPr/>
        </p:nvSpPr>
        <p:spPr>
          <a:xfrm>
            <a:off x="1854555" y="34924"/>
            <a:ext cx="5724600" cy="523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000" u="none" cap="none" strike="noStrike">
                <a:solidFill>
                  <a:schemeClr val="dk1"/>
                </a:solidFill>
                <a:latin typeface="Sora"/>
                <a:ea typeface="Sora"/>
                <a:cs typeface="Sora"/>
                <a:sym typeface="Sora"/>
              </a:rPr>
              <a:t>Unified Models Accuracy Comparison </a:t>
            </a:r>
            <a:endParaRPr b="1" sz="2000">
              <a:latin typeface="Sora"/>
              <a:ea typeface="Sora"/>
              <a:cs typeface="Sora"/>
              <a:sym typeface="Sora"/>
            </a:endParaRPr>
          </a:p>
        </p:txBody>
      </p:sp>
      <p:pic>
        <p:nvPicPr>
          <p:cNvPr id="363" name="Google Shape;363;p34"/>
          <p:cNvPicPr preferRelativeResize="0"/>
          <p:nvPr/>
        </p:nvPicPr>
        <p:blipFill>
          <a:blip r:embed="rId3">
            <a:alphaModFix/>
          </a:blip>
          <a:stretch>
            <a:fillRect/>
          </a:stretch>
        </p:blipFill>
        <p:spPr>
          <a:xfrm>
            <a:off x="1289913" y="448788"/>
            <a:ext cx="6853874" cy="4819530"/>
          </a:xfrm>
          <a:prstGeom prst="rect">
            <a:avLst/>
          </a:prstGeom>
          <a:noFill/>
          <a:ln>
            <a:noFill/>
          </a:ln>
        </p:spPr>
      </p:pic>
      <p:sp>
        <p:nvSpPr>
          <p:cNvPr id="364" name="Google Shape;364;p34"/>
          <p:cNvSpPr txBox="1"/>
          <p:nvPr>
            <p:ph idx="12" type="sldNum"/>
          </p:nvPr>
        </p:nvSpPr>
        <p:spPr>
          <a:xfrm>
            <a:off x="8259759" y="468840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5"/>
          <p:cNvSpPr txBox="1"/>
          <p:nvPr>
            <p:ph idx="4294967295" type="title"/>
          </p:nvPr>
        </p:nvSpPr>
        <p:spPr>
          <a:xfrm>
            <a:off x="293924" y="183350"/>
            <a:ext cx="5020200" cy="54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3000"/>
              <a:buFont typeface="Sora"/>
              <a:buNone/>
            </a:pPr>
            <a:r>
              <a:rPr lang="en-US" sz="2800"/>
              <a:t>  </a:t>
            </a:r>
            <a:endParaRPr sz="2800"/>
          </a:p>
        </p:txBody>
      </p:sp>
      <p:sp>
        <p:nvSpPr>
          <p:cNvPr id="370" name="Google Shape;370;p35"/>
          <p:cNvSpPr/>
          <p:nvPr/>
        </p:nvSpPr>
        <p:spPr>
          <a:xfrm>
            <a:off x="1" y="67941"/>
            <a:ext cx="138564" cy="230832"/>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371" name="Google Shape;371;p35"/>
          <p:cNvSpPr txBox="1"/>
          <p:nvPr/>
        </p:nvSpPr>
        <p:spPr>
          <a:xfrm>
            <a:off x="293925" y="1252325"/>
            <a:ext cx="8437200" cy="37710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en-US" sz="1500">
                <a:solidFill>
                  <a:schemeClr val="dk1"/>
                </a:solidFill>
                <a:latin typeface="Calibri"/>
                <a:ea typeface="Calibri"/>
                <a:cs typeface="Calibri"/>
                <a:sym typeface="Calibri"/>
              </a:rPr>
              <a:t>Key Insights:</a:t>
            </a:r>
            <a:endParaRPr b="1" sz="1500"/>
          </a:p>
          <a:p>
            <a:pPr indent="-323850" lvl="0" marL="457200" rtl="0" algn="l">
              <a:lnSpc>
                <a:spcPct val="150000"/>
              </a:lnSpc>
              <a:spcBef>
                <a:spcPts val="0"/>
              </a:spcBef>
              <a:spcAft>
                <a:spcPts val="0"/>
              </a:spcAft>
              <a:buClr>
                <a:schemeClr val="dk1"/>
              </a:buClr>
              <a:buSzPts val="1500"/>
              <a:buFont typeface="Calibri"/>
              <a:buAutoNum type="arabicPeriod"/>
            </a:pPr>
            <a:r>
              <a:rPr lang="en-US" sz="1500">
                <a:solidFill>
                  <a:schemeClr val="dk1"/>
                </a:solidFill>
                <a:latin typeface="Calibri"/>
                <a:ea typeface="Calibri"/>
                <a:cs typeface="Calibri"/>
                <a:sym typeface="Calibri"/>
              </a:rPr>
              <a:t>Single-Task models excel in precision, especially for </a:t>
            </a:r>
            <a:r>
              <a:rPr b="1" lang="en-US" sz="1500">
                <a:solidFill>
                  <a:schemeClr val="dk1"/>
                </a:solidFill>
                <a:highlight>
                  <a:srgbClr val="F9CB9C"/>
                </a:highlight>
                <a:latin typeface="Calibri"/>
                <a:ea typeface="Calibri"/>
                <a:cs typeface="Calibri"/>
                <a:sym typeface="Calibri"/>
              </a:rPr>
              <a:t>Fake News</a:t>
            </a:r>
            <a:r>
              <a:rPr b="1" lang="en-US" sz="1500">
                <a:solidFill>
                  <a:schemeClr val="dk1"/>
                </a:solidFill>
                <a:latin typeface="Calibri"/>
                <a:ea typeface="Calibri"/>
                <a:cs typeface="Calibri"/>
                <a:sym typeface="Calibri"/>
              </a:rPr>
              <a:t> </a:t>
            </a:r>
            <a:r>
              <a:rPr lang="en-US" sz="1500">
                <a:solidFill>
                  <a:schemeClr val="dk1"/>
                </a:solidFill>
                <a:latin typeface="Calibri"/>
                <a:ea typeface="Calibri"/>
                <a:cs typeface="Calibri"/>
                <a:sym typeface="Calibri"/>
              </a:rPr>
              <a:t>91% accuracy detection.</a:t>
            </a:r>
            <a:endParaRPr sz="1500">
              <a:solidFill>
                <a:schemeClr val="dk1"/>
              </a:solidFill>
              <a:latin typeface="Calibri"/>
              <a:ea typeface="Calibri"/>
              <a:cs typeface="Calibri"/>
              <a:sym typeface="Calibri"/>
            </a:endParaRPr>
          </a:p>
          <a:p>
            <a:pPr indent="-323850" lvl="0" marL="457200" rtl="0" algn="l">
              <a:lnSpc>
                <a:spcPct val="150000"/>
              </a:lnSpc>
              <a:spcBef>
                <a:spcPts val="0"/>
              </a:spcBef>
              <a:spcAft>
                <a:spcPts val="0"/>
              </a:spcAft>
              <a:buClr>
                <a:schemeClr val="dk1"/>
              </a:buClr>
              <a:buSzPts val="1500"/>
              <a:buFont typeface="Calibri"/>
              <a:buAutoNum type="arabicPeriod"/>
            </a:pPr>
            <a:r>
              <a:rPr lang="en-US" sz="1500">
                <a:solidFill>
                  <a:schemeClr val="dk1"/>
                </a:solidFill>
                <a:latin typeface="Calibri"/>
                <a:ea typeface="Calibri"/>
                <a:cs typeface="Calibri"/>
                <a:sym typeface="Calibri"/>
              </a:rPr>
              <a:t>Multi-Task models excel in achieving  91% accuracy in </a:t>
            </a:r>
            <a:r>
              <a:rPr b="1" lang="en-US" sz="1500">
                <a:solidFill>
                  <a:schemeClr val="dk1"/>
                </a:solidFill>
                <a:highlight>
                  <a:srgbClr val="DD7E6B"/>
                </a:highlight>
                <a:latin typeface="Calibri"/>
                <a:ea typeface="Calibri"/>
                <a:cs typeface="Calibri"/>
                <a:sym typeface="Calibri"/>
              </a:rPr>
              <a:t>Toxicity</a:t>
            </a:r>
            <a:r>
              <a:rPr lang="en-US" sz="1500">
                <a:solidFill>
                  <a:schemeClr val="dk1"/>
                </a:solidFill>
                <a:latin typeface="Calibri"/>
                <a:ea typeface="Calibri"/>
                <a:cs typeface="Calibri"/>
                <a:sym typeface="Calibri"/>
              </a:rPr>
              <a:t>, and a balanced  to specialized models.</a:t>
            </a:r>
            <a:endParaRPr sz="1500">
              <a:solidFill>
                <a:schemeClr val="dk1"/>
              </a:solidFill>
              <a:latin typeface="Calibri"/>
              <a:ea typeface="Calibri"/>
              <a:cs typeface="Calibri"/>
              <a:sym typeface="Calibri"/>
            </a:endParaRPr>
          </a:p>
          <a:p>
            <a:pPr indent="-323850" lvl="0" marL="457200" rtl="0" algn="l">
              <a:lnSpc>
                <a:spcPct val="150000"/>
              </a:lnSpc>
              <a:spcBef>
                <a:spcPts val="0"/>
              </a:spcBef>
              <a:spcAft>
                <a:spcPts val="0"/>
              </a:spcAft>
              <a:buClr>
                <a:schemeClr val="dk1"/>
              </a:buClr>
              <a:buSzPts val="1500"/>
              <a:buFont typeface="Calibri"/>
              <a:buAutoNum type="arabicPeriod"/>
            </a:pPr>
            <a:r>
              <a:rPr lang="en-US" sz="1500">
                <a:solidFill>
                  <a:schemeClr val="dk1"/>
                </a:solidFill>
                <a:latin typeface="Calibri"/>
                <a:ea typeface="Calibri"/>
                <a:cs typeface="Calibri"/>
                <a:sym typeface="Calibri"/>
              </a:rPr>
              <a:t>Prompting model achieved best in </a:t>
            </a:r>
            <a:r>
              <a:rPr b="1" lang="en-US" sz="1500">
                <a:solidFill>
                  <a:schemeClr val="dk1"/>
                </a:solidFill>
                <a:highlight>
                  <a:srgbClr val="B6D7A8"/>
                </a:highlight>
                <a:latin typeface="Calibri"/>
                <a:ea typeface="Calibri"/>
                <a:cs typeface="Calibri"/>
                <a:sym typeface="Calibri"/>
              </a:rPr>
              <a:t>Hate Speech</a:t>
            </a:r>
            <a:r>
              <a:rPr lang="en-US" sz="1500">
                <a:solidFill>
                  <a:schemeClr val="dk1"/>
                </a:solidFill>
                <a:latin typeface="Calibri"/>
                <a:ea typeface="Calibri"/>
                <a:cs typeface="Calibri"/>
                <a:sym typeface="Calibri"/>
              </a:rPr>
              <a:t> 79% with few shot prompting.</a:t>
            </a:r>
            <a:endParaRPr sz="1500">
              <a:solidFill>
                <a:schemeClr val="dk1"/>
              </a:solidFill>
              <a:latin typeface="Calibri"/>
              <a:ea typeface="Calibri"/>
              <a:cs typeface="Calibri"/>
              <a:sym typeface="Calibri"/>
            </a:endParaRPr>
          </a:p>
          <a:p>
            <a:pPr indent="-323850" lvl="1" marL="914400" rtl="0" algn="l">
              <a:lnSpc>
                <a:spcPct val="150000"/>
              </a:lnSpc>
              <a:spcBef>
                <a:spcPts val="0"/>
              </a:spcBef>
              <a:spcAft>
                <a:spcPts val="0"/>
              </a:spcAft>
              <a:buClr>
                <a:schemeClr val="dk1"/>
              </a:buClr>
              <a:buSzPts val="1500"/>
              <a:buFont typeface="Calibri"/>
              <a:buAutoNum type="alphaLcPeriod"/>
            </a:pPr>
            <a:r>
              <a:rPr lang="en-US" sz="1500">
                <a:solidFill>
                  <a:schemeClr val="dk1"/>
                </a:solidFill>
                <a:latin typeface="Calibri"/>
                <a:ea typeface="Calibri"/>
                <a:cs typeface="Calibri"/>
                <a:sym typeface="Calibri"/>
              </a:rPr>
              <a:t>Prompting model with zero shot gave overall the worst results with 46% in </a:t>
            </a:r>
            <a:r>
              <a:rPr b="1" lang="en-US" sz="1500">
                <a:solidFill>
                  <a:schemeClr val="dk1"/>
                </a:solidFill>
                <a:highlight>
                  <a:srgbClr val="B6D7A8"/>
                </a:highlight>
                <a:latin typeface="Calibri"/>
                <a:ea typeface="Calibri"/>
                <a:cs typeface="Calibri"/>
                <a:sym typeface="Calibri"/>
              </a:rPr>
              <a:t>Hate Speech</a:t>
            </a:r>
            <a:r>
              <a:rPr lang="en-US" sz="1500">
                <a:solidFill>
                  <a:schemeClr val="dk1"/>
                </a:solidFill>
                <a:latin typeface="Calibri"/>
                <a:ea typeface="Calibri"/>
                <a:cs typeface="Calibri"/>
                <a:sym typeface="Calibri"/>
              </a:rPr>
              <a:t> &amp; </a:t>
            </a:r>
            <a:r>
              <a:rPr b="1" lang="en-US" sz="1500">
                <a:solidFill>
                  <a:schemeClr val="dk1"/>
                </a:solidFill>
                <a:highlight>
                  <a:srgbClr val="DD7E6B"/>
                </a:highlight>
                <a:latin typeface="Calibri"/>
                <a:ea typeface="Calibri"/>
                <a:cs typeface="Calibri"/>
                <a:sym typeface="Calibri"/>
              </a:rPr>
              <a:t>Toxicity</a:t>
            </a:r>
            <a:r>
              <a:rPr b="1" lang="en-US" sz="1500">
                <a:solidFill>
                  <a:schemeClr val="dk1"/>
                </a:solidFill>
                <a:latin typeface="Calibri"/>
                <a:ea typeface="Calibri"/>
                <a:cs typeface="Calibri"/>
                <a:sym typeface="Calibri"/>
              </a:rPr>
              <a:t> </a:t>
            </a:r>
            <a:r>
              <a:rPr lang="en-US" sz="1500">
                <a:solidFill>
                  <a:schemeClr val="dk1"/>
                </a:solidFill>
                <a:latin typeface="Calibri"/>
                <a:ea typeface="Calibri"/>
                <a:cs typeface="Calibri"/>
                <a:sym typeface="Calibri"/>
              </a:rPr>
              <a:t>while 40% accuracy in fake news.</a:t>
            </a:r>
            <a:endParaRPr sz="15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1500">
              <a:solidFill>
                <a:schemeClr val="dk1"/>
              </a:solidFill>
              <a:latin typeface="Calibri"/>
              <a:ea typeface="Calibri"/>
              <a:cs typeface="Calibri"/>
              <a:sym typeface="Calibri"/>
            </a:endParaRPr>
          </a:p>
          <a:p>
            <a:pPr indent="457200" lvl="0" marL="0" rtl="0" algn="l">
              <a:lnSpc>
                <a:spcPct val="150000"/>
              </a:lnSpc>
              <a:spcBef>
                <a:spcPts val="0"/>
              </a:spcBef>
              <a:spcAft>
                <a:spcPts val="0"/>
              </a:spcAft>
              <a:buNone/>
            </a:pPr>
            <a:r>
              <a:rPr b="1" lang="en-US" sz="1500">
                <a:solidFill>
                  <a:schemeClr val="dk1"/>
                </a:solidFill>
                <a:latin typeface="Calibri"/>
                <a:ea typeface="Calibri"/>
                <a:cs typeface="Calibri"/>
                <a:sym typeface="Calibri"/>
              </a:rPr>
              <a:t>Final Verdict: </a:t>
            </a:r>
            <a:endParaRPr b="1" sz="1500">
              <a:solidFill>
                <a:schemeClr val="dk1"/>
              </a:solidFill>
              <a:latin typeface="Calibri"/>
              <a:ea typeface="Calibri"/>
              <a:cs typeface="Calibri"/>
              <a:sym typeface="Calibri"/>
            </a:endParaRPr>
          </a:p>
          <a:p>
            <a:pPr indent="457200" lvl="0" marL="0" rtl="0" algn="l">
              <a:lnSpc>
                <a:spcPct val="150000"/>
              </a:lnSpc>
              <a:spcBef>
                <a:spcPts val="0"/>
              </a:spcBef>
              <a:spcAft>
                <a:spcPts val="0"/>
              </a:spcAft>
              <a:buNone/>
            </a:pPr>
            <a:r>
              <a:rPr b="1" i="1" lang="en-US" sz="1500">
                <a:solidFill>
                  <a:schemeClr val="dk1"/>
                </a:solidFill>
                <a:latin typeface="Calibri"/>
                <a:ea typeface="Calibri"/>
                <a:cs typeface="Calibri"/>
                <a:sym typeface="Calibri"/>
              </a:rPr>
              <a:t>Use Single-Task for accuracy, Multi-Task for efficiency, and Prompting for flexibility </a:t>
            </a:r>
            <a:endParaRPr b="1" i="1" sz="1500">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1400"/>
              <a:buFont typeface="Arial"/>
              <a:buNone/>
            </a:pPr>
            <a:r>
              <a:t/>
            </a:r>
            <a:endParaRPr/>
          </a:p>
        </p:txBody>
      </p:sp>
      <p:sp>
        <p:nvSpPr>
          <p:cNvPr id="372" name="Google Shape;372;p35"/>
          <p:cNvSpPr txBox="1"/>
          <p:nvPr>
            <p:ph idx="12" type="sldNum"/>
          </p:nvPr>
        </p:nvSpPr>
        <p:spPr>
          <a:xfrm>
            <a:off x="8112284" y="474990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
        <p:nvSpPr>
          <p:cNvPr id="373" name="Google Shape;373;p35"/>
          <p:cNvSpPr txBox="1"/>
          <p:nvPr>
            <p:ph idx="1" type="subTitle"/>
          </p:nvPr>
        </p:nvSpPr>
        <p:spPr>
          <a:xfrm>
            <a:off x="2375775" y="2379467"/>
            <a:ext cx="3247500" cy="11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 </a:t>
            </a:r>
            <a:endParaRPr/>
          </a:p>
        </p:txBody>
      </p:sp>
      <p:sp>
        <p:nvSpPr>
          <p:cNvPr id="374" name="Google Shape;374;p35"/>
          <p:cNvSpPr txBox="1"/>
          <p:nvPr>
            <p:ph type="title"/>
          </p:nvPr>
        </p:nvSpPr>
        <p:spPr>
          <a:xfrm>
            <a:off x="408275" y="5482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Results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6"/>
          <p:cNvSpPr txBox="1"/>
          <p:nvPr>
            <p:ph type="ctrTitle"/>
          </p:nvPr>
        </p:nvSpPr>
        <p:spPr>
          <a:xfrm>
            <a:off x="1125450" y="1456125"/>
            <a:ext cx="6433500" cy="17505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US" sz="2800">
                <a:latin typeface="Lato"/>
                <a:ea typeface="Lato"/>
                <a:cs typeface="Lato"/>
                <a:sym typeface="Lato"/>
              </a:rPr>
              <a:t>CONCLUSION</a:t>
            </a:r>
            <a:endParaRPr sz="6200"/>
          </a:p>
        </p:txBody>
      </p:sp>
      <p:sp>
        <p:nvSpPr>
          <p:cNvPr id="380" name="Google Shape;380;p36"/>
          <p:cNvSpPr txBox="1"/>
          <p:nvPr>
            <p:ph idx="12" type="sldNum"/>
          </p:nvPr>
        </p:nvSpPr>
        <p:spPr>
          <a:xfrm>
            <a:off x="8239284" y="4657676"/>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379"/>
                                        </p:tgtEl>
                                        <p:attrNameLst>
                                          <p:attrName>style.visibility</p:attrName>
                                        </p:attrNameLst>
                                      </p:cBhvr>
                                      <p:to>
                                        <p:strVal val="visible"/>
                                      </p:to>
                                    </p:set>
                                    <p:anim calcmode="lin" valueType="num">
                                      <p:cBhvr additive="base">
                                        <p:cTn dur="1000"/>
                                        <p:tgtEl>
                                          <p:spTgt spid="379"/>
                                        </p:tgtEl>
                                        <p:attrNameLst>
                                          <p:attrName>ppt_w</p:attrName>
                                        </p:attrNameLst>
                                      </p:cBhvr>
                                      <p:tavLst>
                                        <p:tav fmla="" tm="0">
                                          <p:val>
                                            <p:strVal val="0"/>
                                          </p:val>
                                        </p:tav>
                                        <p:tav fmla="" tm="100000">
                                          <p:val>
                                            <p:strVal val="#ppt_w"/>
                                          </p:val>
                                        </p:tav>
                                      </p:tavLst>
                                    </p:anim>
                                    <p:anim calcmode="lin" valueType="num">
                                      <p:cBhvr additive="base">
                                        <p:cTn dur="1000"/>
                                        <p:tgtEl>
                                          <p:spTgt spid="37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7"/>
          <p:cNvSpPr txBox="1"/>
          <p:nvPr>
            <p:ph idx="4294967295" type="title"/>
          </p:nvPr>
        </p:nvSpPr>
        <p:spPr>
          <a:xfrm>
            <a:off x="500075" y="218850"/>
            <a:ext cx="7123200" cy="573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3000"/>
              <a:buFont typeface="Sora"/>
              <a:buNone/>
            </a:pPr>
            <a:r>
              <a:rPr b="1" lang="en-US" sz="2800"/>
              <a:t>Conclusion</a:t>
            </a:r>
            <a:endParaRPr sz="2800"/>
          </a:p>
        </p:txBody>
      </p:sp>
      <p:sp>
        <p:nvSpPr>
          <p:cNvPr id="386" name="Google Shape;386;p37"/>
          <p:cNvSpPr txBox="1"/>
          <p:nvPr>
            <p:ph idx="4294967295" type="body"/>
          </p:nvPr>
        </p:nvSpPr>
        <p:spPr>
          <a:xfrm>
            <a:off x="357823" y="990600"/>
            <a:ext cx="8237537" cy="3416300"/>
          </a:xfrm>
          <a:prstGeom prst="rect">
            <a:avLst/>
          </a:prstGeom>
          <a:noFill/>
          <a:ln>
            <a:noFill/>
          </a:ln>
        </p:spPr>
        <p:txBody>
          <a:bodyPr anchorCtr="0" anchor="t" bIns="91425" lIns="91425" spcFirstLastPara="1" rIns="91425" wrap="square" tIns="91425">
            <a:noAutofit/>
          </a:bodyPr>
          <a:lstStyle/>
          <a:p>
            <a:pPr indent="0" lvl="0" marL="139700" rtl="0" algn="just">
              <a:lnSpc>
                <a:spcPct val="150000"/>
              </a:lnSpc>
              <a:spcBef>
                <a:spcPts val="0"/>
              </a:spcBef>
              <a:spcAft>
                <a:spcPts val="0"/>
              </a:spcAft>
              <a:buSzPts val="1400"/>
              <a:buNone/>
            </a:pPr>
            <a:r>
              <a:rPr b="1" lang="en-US">
                <a:latin typeface="Calibri"/>
                <a:ea typeface="Calibri"/>
                <a:cs typeface="Calibri"/>
                <a:sym typeface="Calibri"/>
              </a:rPr>
              <a:t>We built robust classifiers</a:t>
            </a:r>
            <a:r>
              <a:rPr lang="en-US">
                <a:latin typeface="Calibri"/>
                <a:ea typeface="Calibri"/>
                <a:cs typeface="Calibri"/>
                <a:sym typeface="Calibri"/>
              </a:rPr>
              <a:t>, achieving Accuracy - </a:t>
            </a:r>
            <a:r>
              <a:rPr b="1" lang="en-US">
                <a:latin typeface="Calibri"/>
                <a:ea typeface="Calibri"/>
                <a:cs typeface="Calibri"/>
                <a:sym typeface="Calibri"/>
              </a:rPr>
              <a:t>76% </a:t>
            </a:r>
            <a:r>
              <a:rPr b="1" lang="en-US">
                <a:highlight>
                  <a:srgbClr val="B6D7A8"/>
                </a:highlight>
                <a:latin typeface="Calibri"/>
                <a:ea typeface="Calibri"/>
                <a:cs typeface="Calibri"/>
                <a:sym typeface="Calibri"/>
              </a:rPr>
              <a:t>Hate Speech</a:t>
            </a:r>
            <a:r>
              <a:rPr b="1" lang="en-US">
                <a:latin typeface="Calibri"/>
                <a:ea typeface="Calibri"/>
                <a:cs typeface="Calibri"/>
                <a:sym typeface="Calibri"/>
              </a:rPr>
              <a:t>, </a:t>
            </a:r>
            <a:r>
              <a:rPr lang="en-US">
                <a:latin typeface="Calibri"/>
                <a:ea typeface="Calibri"/>
                <a:cs typeface="Calibri"/>
                <a:sym typeface="Calibri"/>
              </a:rPr>
              <a:t> </a:t>
            </a:r>
            <a:r>
              <a:rPr b="1" lang="en-US">
                <a:latin typeface="Calibri"/>
                <a:ea typeface="Calibri"/>
                <a:cs typeface="Calibri"/>
                <a:sym typeface="Calibri"/>
              </a:rPr>
              <a:t>85% </a:t>
            </a:r>
            <a:r>
              <a:rPr b="1" lang="en-US">
                <a:highlight>
                  <a:srgbClr val="F9CB9C"/>
                </a:highlight>
                <a:latin typeface="Calibri"/>
                <a:ea typeface="Calibri"/>
                <a:cs typeface="Calibri"/>
                <a:sym typeface="Calibri"/>
              </a:rPr>
              <a:t>Fake news</a:t>
            </a:r>
            <a:r>
              <a:rPr b="1" lang="en-US">
                <a:latin typeface="Calibri"/>
                <a:ea typeface="Calibri"/>
                <a:cs typeface="Calibri"/>
                <a:sym typeface="Calibri"/>
              </a:rPr>
              <a:t>,</a:t>
            </a:r>
            <a:r>
              <a:rPr lang="en-US">
                <a:latin typeface="Calibri"/>
                <a:ea typeface="Calibri"/>
                <a:cs typeface="Calibri"/>
                <a:sym typeface="Calibri"/>
              </a:rPr>
              <a:t> </a:t>
            </a:r>
            <a:r>
              <a:rPr lang="en-US">
                <a:latin typeface="Calibri"/>
                <a:ea typeface="Calibri"/>
                <a:cs typeface="Calibri"/>
                <a:sym typeface="Calibri"/>
              </a:rPr>
              <a:t> and </a:t>
            </a:r>
            <a:r>
              <a:rPr b="1" lang="en-US">
                <a:latin typeface="Calibri"/>
                <a:ea typeface="Calibri"/>
                <a:cs typeface="Calibri"/>
                <a:sym typeface="Calibri"/>
              </a:rPr>
              <a:t>91% </a:t>
            </a:r>
            <a:r>
              <a:rPr b="1" lang="en-US">
                <a:highlight>
                  <a:srgbClr val="DD7E6B"/>
                </a:highlight>
                <a:latin typeface="Calibri"/>
                <a:ea typeface="Calibri"/>
                <a:cs typeface="Calibri"/>
                <a:sym typeface="Calibri"/>
              </a:rPr>
              <a:t>Toxicity</a:t>
            </a:r>
            <a:r>
              <a:rPr lang="en-US">
                <a:latin typeface="Calibri"/>
                <a:ea typeface="Calibri"/>
                <a:cs typeface="Calibri"/>
                <a:sym typeface="Calibri"/>
              </a:rPr>
              <a:t> and an </a:t>
            </a:r>
            <a:r>
              <a:rPr lang="en-US">
                <a:latin typeface="Calibri"/>
                <a:ea typeface="Calibri"/>
                <a:cs typeface="Calibri"/>
                <a:sym typeface="Calibri"/>
              </a:rPr>
              <a:t>F1-score</a:t>
            </a:r>
            <a:r>
              <a:rPr b="1" lang="en-US">
                <a:latin typeface="Calibri"/>
                <a:ea typeface="Calibri"/>
                <a:cs typeface="Calibri"/>
                <a:sym typeface="Calibri"/>
              </a:rPr>
              <a:t> </a:t>
            </a:r>
            <a:r>
              <a:rPr lang="en-US">
                <a:latin typeface="Calibri"/>
                <a:ea typeface="Calibri"/>
                <a:cs typeface="Calibri"/>
                <a:sym typeface="Calibri"/>
              </a:rPr>
              <a:t>of</a:t>
            </a:r>
            <a:r>
              <a:rPr b="1" lang="en-US">
                <a:latin typeface="Calibri"/>
                <a:ea typeface="Calibri"/>
                <a:cs typeface="Calibri"/>
                <a:sym typeface="Calibri"/>
              </a:rPr>
              <a:t> 74% </a:t>
            </a:r>
            <a:r>
              <a:rPr b="1" lang="en-US">
                <a:highlight>
                  <a:srgbClr val="B6D7A8"/>
                </a:highlight>
                <a:latin typeface="Calibri"/>
                <a:ea typeface="Calibri"/>
                <a:cs typeface="Calibri"/>
                <a:sym typeface="Calibri"/>
              </a:rPr>
              <a:t>Hate Speech</a:t>
            </a:r>
            <a:r>
              <a:rPr b="1" lang="en-US">
                <a:latin typeface="Calibri"/>
                <a:ea typeface="Calibri"/>
                <a:cs typeface="Calibri"/>
                <a:sym typeface="Calibri"/>
              </a:rPr>
              <a:t>, 85% </a:t>
            </a:r>
            <a:r>
              <a:rPr b="1" lang="en-US">
                <a:highlight>
                  <a:srgbClr val="F9CB9C"/>
                </a:highlight>
                <a:latin typeface="Calibri"/>
                <a:ea typeface="Calibri"/>
                <a:cs typeface="Calibri"/>
                <a:sym typeface="Calibri"/>
              </a:rPr>
              <a:t>fake news</a:t>
            </a:r>
            <a:r>
              <a:rPr b="1" lang="en-US">
                <a:latin typeface="Calibri"/>
                <a:ea typeface="Calibri"/>
                <a:cs typeface="Calibri"/>
                <a:sym typeface="Calibri"/>
              </a:rPr>
              <a:t> </a:t>
            </a:r>
            <a:r>
              <a:rPr lang="en-US">
                <a:latin typeface="Calibri"/>
                <a:ea typeface="Calibri"/>
                <a:cs typeface="Calibri"/>
                <a:sym typeface="Calibri"/>
              </a:rPr>
              <a:t>and</a:t>
            </a:r>
            <a:r>
              <a:rPr b="1" lang="en-US">
                <a:latin typeface="Calibri"/>
                <a:ea typeface="Calibri"/>
                <a:cs typeface="Calibri"/>
                <a:sym typeface="Calibri"/>
              </a:rPr>
              <a:t> 90% </a:t>
            </a:r>
            <a:r>
              <a:rPr b="1" lang="en-US">
                <a:highlight>
                  <a:srgbClr val="DD7E6B"/>
                </a:highlight>
                <a:latin typeface="Calibri"/>
                <a:ea typeface="Calibri"/>
                <a:cs typeface="Calibri"/>
                <a:sym typeface="Calibri"/>
              </a:rPr>
              <a:t>Toxicity</a:t>
            </a:r>
            <a:r>
              <a:rPr lang="en-US">
                <a:highlight>
                  <a:srgbClr val="DD7E6B"/>
                </a:highlight>
                <a:latin typeface="Calibri"/>
                <a:ea typeface="Calibri"/>
                <a:cs typeface="Calibri"/>
                <a:sym typeface="Calibri"/>
              </a:rPr>
              <a:t>.</a:t>
            </a:r>
            <a:r>
              <a:rPr lang="en-US">
                <a:latin typeface="Calibri"/>
                <a:ea typeface="Calibri"/>
                <a:cs typeface="Calibri"/>
                <a:sym typeface="Calibri"/>
              </a:rPr>
              <a:t> </a:t>
            </a:r>
            <a:r>
              <a:rPr lang="en-US">
                <a:latin typeface="Calibri"/>
                <a:ea typeface="Calibri"/>
                <a:cs typeface="Calibri"/>
                <a:sym typeface="Calibri"/>
              </a:rPr>
              <a:t>Overcoming dataset limitations</a:t>
            </a:r>
            <a:r>
              <a:rPr lang="en-US">
                <a:latin typeface="Calibri"/>
                <a:ea typeface="Calibri"/>
                <a:cs typeface="Calibri"/>
                <a:sym typeface="Calibri"/>
              </a:rPr>
              <a:t>, we optimized models and explored </a:t>
            </a:r>
            <a:r>
              <a:rPr b="1" lang="en-US">
                <a:latin typeface="Calibri"/>
                <a:ea typeface="Calibri"/>
                <a:cs typeface="Calibri"/>
                <a:sym typeface="Calibri"/>
              </a:rPr>
              <a:t>novel approaches</a:t>
            </a:r>
            <a:r>
              <a:rPr lang="en-US">
                <a:latin typeface="Calibri"/>
                <a:ea typeface="Calibri"/>
                <a:cs typeface="Calibri"/>
                <a:sym typeface="Calibri"/>
              </a:rPr>
              <a:t>. Despite challenges, our work </a:t>
            </a:r>
            <a:r>
              <a:rPr b="1" lang="en-US">
                <a:latin typeface="Calibri"/>
                <a:ea typeface="Calibri"/>
                <a:cs typeface="Calibri"/>
                <a:sym typeface="Calibri"/>
              </a:rPr>
              <a:t>advances content analysis</a:t>
            </a:r>
            <a:r>
              <a:rPr lang="en-US">
                <a:latin typeface="Calibri"/>
                <a:ea typeface="Calibri"/>
                <a:cs typeface="Calibri"/>
                <a:sym typeface="Calibri"/>
              </a:rPr>
              <a:t> and lays a foundation for future improvements.</a:t>
            </a:r>
            <a:endParaRPr b="1">
              <a:latin typeface="Calibri"/>
              <a:ea typeface="Calibri"/>
              <a:cs typeface="Calibri"/>
              <a:sym typeface="Calibri"/>
            </a:endParaRPr>
          </a:p>
          <a:p>
            <a:pPr indent="0" lvl="0" marL="139700" rtl="0" algn="just">
              <a:lnSpc>
                <a:spcPct val="150000"/>
              </a:lnSpc>
              <a:spcBef>
                <a:spcPts val="0"/>
              </a:spcBef>
              <a:spcAft>
                <a:spcPts val="0"/>
              </a:spcAft>
              <a:buSzPts val="1400"/>
              <a:buNone/>
            </a:pPr>
            <a:r>
              <a:t/>
            </a:r>
            <a:endParaRPr b="1">
              <a:latin typeface="Calibri"/>
              <a:ea typeface="Calibri"/>
              <a:cs typeface="Calibri"/>
              <a:sym typeface="Calibri"/>
            </a:endParaRPr>
          </a:p>
          <a:p>
            <a:pPr indent="0" lvl="0" marL="139700" rtl="0" algn="just">
              <a:lnSpc>
                <a:spcPct val="150000"/>
              </a:lnSpc>
              <a:spcBef>
                <a:spcPts val="0"/>
              </a:spcBef>
              <a:spcAft>
                <a:spcPts val="0"/>
              </a:spcAft>
              <a:buSzPts val="1400"/>
              <a:buNone/>
            </a:pPr>
            <a:r>
              <a:rPr b="1" lang="en-US">
                <a:latin typeface="Calibri"/>
                <a:ea typeface="Calibri"/>
                <a:cs typeface="Calibri"/>
                <a:sym typeface="Calibri"/>
              </a:rPr>
              <a:t>Key Takeaways:</a:t>
            </a:r>
            <a:endParaRPr/>
          </a:p>
          <a:p>
            <a:pPr indent="-317500" lvl="0" marL="457200" rtl="0" algn="just">
              <a:lnSpc>
                <a:spcPct val="150000"/>
              </a:lnSpc>
              <a:spcBef>
                <a:spcPts val="0"/>
              </a:spcBef>
              <a:spcAft>
                <a:spcPts val="0"/>
              </a:spcAft>
              <a:buSzPts val="1400"/>
              <a:buFont typeface="Calibri"/>
              <a:buChar char="→"/>
            </a:pPr>
            <a:r>
              <a:rPr lang="en-US">
                <a:latin typeface="Calibri"/>
                <a:ea typeface="Calibri"/>
                <a:cs typeface="Calibri"/>
                <a:sym typeface="Calibri"/>
              </a:rPr>
              <a:t>Multi-task models deliver strong performance while balancing computational efficiency.</a:t>
            </a:r>
            <a:endParaRPr/>
          </a:p>
          <a:p>
            <a:pPr indent="-317500" lvl="0" marL="457200" rtl="0" algn="just">
              <a:lnSpc>
                <a:spcPct val="150000"/>
              </a:lnSpc>
              <a:spcBef>
                <a:spcPts val="0"/>
              </a:spcBef>
              <a:spcAft>
                <a:spcPts val="0"/>
              </a:spcAft>
              <a:buSzPts val="1400"/>
              <a:buFont typeface="Calibri"/>
              <a:buChar char="→"/>
            </a:pPr>
            <a:r>
              <a:rPr lang="en-US">
                <a:latin typeface="Calibri"/>
                <a:ea typeface="Calibri"/>
                <a:cs typeface="Calibri"/>
                <a:sym typeface="Calibri"/>
              </a:rPr>
              <a:t>Quality datasets are critical for achieving high performance across diverse tasks.</a:t>
            </a:r>
            <a:endParaRPr/>
          </a:p>
          <a:p>
            <a:pPr indent="-317500" lvl="0" marL="457200" rtl="0" algn="just">
              <a:lnSpc>
                <a:spcPct val="150000"/>
              </a:lnSpc>
              <a:spcBef>
                <a:spcPts val="0"/>
              </a:spcBef>
              <a:spcAft>
                <a:spcPts val="0"/>
              </a:spcAft>
              <a:buSzPts val="1400"/>
              <a:buFont typeface="Calibri"/>
              <a:buChar char="→"/>
            </a:pPr>
            <a:r>
              <a:rPr lang="en-US">
                <a:latin typeface="Calibri"/>
                <a:ea typeface="Calibri"/>
                <a:cs typeface="Calibri"/>
                <a:sym typeface="Calibri"/>
              </a:rPr>
              <a:t>Combining innovative techniques with rigorous evaluation ensures robust and reliable classifiers.</a:t>
            </a:r>
            <a:endParaRPr/>
          </a:p>
        </p:txBody>
      </p:sp>
      <p:sp>
        <p:nvSpPr>
          <p:cNvPr id="387" name="Google Shape;387;p37"/>
          <p:cNvSpPr txBox="1"/>
          <p:nvPr>
            <p:ph idx="12" type="sldNum"/>
          </p:nvPr>
        </p:nvSpPr>
        <p:spPr>
          <a:xfrm>
            <a:off x="8225459" y="474990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8"/>
          <p:cNvSpPr txBox="1"/>
          <p:nvPr>
            <p:ph type="title"/>
          </p:nvPr>
        </p:nvSpPr>
        <p:spPr>
          <a:xfrm>
            <a:off x="801075" y="631725"/>
            <a:ext cx="5461500" cy="725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US" sz="2800">
                <a:solidFill>
                  <a:schemeClr val="dk1"/>
                </a:solidFill>
              </a:rPr>
              <a:t> </a:t>
            </a:r>
            <a:r>
              <a:rPr b="1" lang="en-US" sz="2800">
                <a:solidFill>
                  <a:schemeClr val="dk1"/>
                </a:solidFill>
              </a:rPr>
              <a:t>Challenges</a:t>
            </a:r>
            <a:endParaRPr sz="2400">
              <a:solidFill>
                <a:schemeClr val="dk1"/>
              </a:solidFill>
            </a:endParaRPr>
          </a:p>
        </p:txBody>
      </p:sp>
      <p:sp>
        <p:nvSpPr>
          <p:cNvPr id="393" name="Google Shape;393;p38"/>
          <p:cNvSpPr txBox="1"/>
          <p:nvPr>
            <p:ph idx="1" type="subTitle"/>
          </p:nvPr>
        </p:nvSpPr>
        <p:spPr>
          <a:xfrm>
            <a:off x="692775" y="1023926"/>
            <a:ext cx="7528500" cy="3338400"/>
          </a:xfrm>
          <a:prstGeom prst="rect">
            <a:avLst/>
          </a:prstGeom>
          <a:noFill/>
          <a:ln>
            <a:noFill/>
          </a:ln>
        </p:spPr>
        <p:txBody>
          <a:bodyPr anchorCtr="0" anchor="b" bIns="91425" lIns="91425" spcFirstLastPara="1" rIns="91425" wrap="square" tIns="91425">
            <a:noAutofit/>
          </a:bodyPr>
          <a:lstStyle/>
          <a:p>
            <a:pPr indent="0" lvl="0" marL="0" rtl="0" algn="l">
              <a:lnSpc>
                <a:spcPct val="150000"/>
              </a:lnSpc>
              <a:spcBef>
                <a:spcPts val="0"/>
              </a:spcBef>
              <a:spcAft>
                <a:spcPts val="0"/>
              </a:spcAft>
              <a:buClr>
                <a:schemeClr val="dk1"/>
              </a:buClr>
              <a:buSzPts val="1400"/>
              <a:buFont typeface="Arial"/>
              <a:buNone/>
            </a:pPr>
            <a:r>
              <a:t/>
            </a:r>
            <a:endParaRPr sz="1400">
              <a:solidFill>
                <a:schemeClr val="dk1"/>
              </a:solidFill>
              <a:latin typeface="Calibri"/>
              <a:ea typeface="Calibri"/>
              <a:cs typeface="Calibri"/>
              <a:sym typeface="Calibri"/>
            </a:endParaRPr>
          </a:p>
          <a:p>
            <a:pPr indent="0" lvl="1" marL="342900" rtl="0" algn="l">
              <a:lnSpc>
                <a:spcPct val="150000"/>
              </a:lnSpc>
              <a:spcBef>
                <a:spcPts val="0"/>
              </a:spcBef>
              <a:spcAft>
                <a:spcPts val="0"/>
              </a:spcAft>
              <a:buSzPts val="3000"/>
              <a:buNone/>
            </a:pPr>
            <a:r>
              <a:t/>
            </a:r>
            <a:endParaRPr sz="1400">
              <a:latin typeface="Calibri"/>
              <a:ea typeface="Calibri"/>
              <a:cs typeface="Calibri"/>
              <a:sym typeface="Calibri"/>
            </a:endParaRPr>
          </a:p>
          <a:p>
            <a:pPr indent="0" lvl="1" marL="342900" rtl="0" algn="l">
              <a:lnSpc>
                <a:spcPct val="150000"/>
              </a:lnSpc>
              <a:spcBef>
                <a:spcPts val="0"/>
              </a:spcBef>
              <a:spcAft>
                <a:spcPts val="0"/>
              </a:spcAft>
              <a:buSzPts val="3000"/>
              <a:buNone/>
            </a:pPr>
            <a:r>
              <a:t/>
            </a:r>
            <a:endParaRPr sz="1400">
              <a:latin typeface="Calibri"/>
              <a:ea typeface="Calibri"/>
              <a:cs typeface="Calibri"/>
              <a:sym typeface="Calibri"/>
            </a:endParaRPr>
          </a:p>
          <a:p>
            <a:pPr indent="0" lvl="1" marL="342900" rtl="0" algn="l">
              <a:lnSpc>
                <a:spcPct val="150000"/>
              </a:lnSpc>
              <a:spcBef>
                <a:spcPts val="0"/>
              </a:spcBef>
              <a:spcAft>
                <a:spcPts val="0"/>
              </a:spcAft>
              <a:buSzPts val="3000"/>
              <a:buNone/>
            </a:pPr>
            <a:r>
              <a:t/>
            </a:r>
            <a:endParaRPr sz="1400">
              <a:latin typeface="Calibri"/>
              <a:ea typeface="Calibri"/>
              <a:cs typeface="Calibri"/>
              <a:sym typeface="Calibri"/>
            </a:endParaRPr>
          </a:p>
          <a:p>
            <a:pPr indent="-317500" lvl="0" marL="457200" rtl="0" algn="l">
              <a:lnSpc>
                <a:spcPct val="150000"/>
              </a:lnSpc>
              <a:spcBef>
                <a:spcPts val="0"/>
              </a:spcBef>
              <a:spcAft>
                <a:spcPts val="0"/>
              </a:spcAft>
              <a:buSzPts val="3000"/>
              <a:buNone/>
            </a:pPr>
            <a:r>
              <a:t/>
            </a:r>
            <a:endParaRPr sz="1400">
              <a:latin typeface="Calibri"/>
              <a:ea typeface="Calibri"/>
              <a:cs typeface="Calibri"/>
              <a:sym typeface="Calibri"/>
            </a:endParaRPr>
          </a:p>
        </p:txBody>
      </p:sp>
      <p:sp>
        <p:nvSpPr>
          <p:cNvPr id="394" name="Google Shape;394;p38"/>
          <p:cNvSpPr/>
          <p:nvPr/>
        </p:nvSpPr>
        <p:spPr>
          <a:xfrm>
            <a:off x="1" y="67941"/>
            <a:ext cx="138564" cy="230832"/>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395" name="Google Shape;395;p38"/>
          <p:cNvSpPr txBox="1"/>
          <p:nvPr/>
        </p:nvSpPr>
        <p:spPr>
          <a:xfrm>
            <a:off x="801075" y="1253650"/>
            <a:ext cx="8002200" cy="3586500"/>
          </a:xfrm>
          <a:prstGeom prst="rect">
            <a:avLst/>
          </a:prstGeom>
          <a:noFill/>
          <a:ln>
            <a:noFill/>
          </a:ln>
        </p:spPr>
        <p:txBody>
          <a:bodyPr anchorCtr="0" anchor="b" bIns="91425" lIns="91425" spcFirstLastPara="1" rIns="91425" wrap="square" tIns="91425">
            <a:spAutoFit/>
          </a:bodyPr>
          <a:lstStyle/>
          <a:p>
            <a:pPr indent="-317500" lvl="0" marL="457200" rtl="0" algn="l">
              <a:lnSpc>
                <a:spcPct val="150000"/>
              </a:lnSpc>
              <a:spcBef>
                <a:spcPts val="0"/>
              </a:spcBef>
              <a:spcAft>
                <a:spcPts val="0"/>
              </a:spcAft>
              <a:buSzPts val="1400"/>
              <a:buFont typeface="Calibri"/>
              <a:buChar char="●"/>
            </a:pPr>
            <a:r>
              <a:rPr lang="en-US">
                <a:latin typeface="Calibri"/>
                <a:ea typeface="Calibri"/>
                <a:cs typeface="Calibri"/>
                <a:sym typeface="Calibri"/>
              </a:rPr>
              <a:t>Missing/Masked Labels:</a:t>
            </a:r>
            <a:endParaRPr>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Char char="○"/>
            </a:pPr>
            <a:r>
              <a:rPr lang="en-US">
                <a:latin typeface="Calibri"/>
                <a:ea typeface="Calibri"/>
                <a:cs typeface="Calibri"/>
                <a:sym typeface="Calibri"/>
              </a:rPr>
              <a:t>Inconsistent label availability (use of -1) leads to imbalanced training.</a:t>
            </a:r>
            <a:endParaRPr>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Char char="●"/>
            </a:pPr>
            <a:r>
              <a:rPr lang="en-US">
                <a:latin typeface="Calibri"/>
                <a:ea typeface="Calibri"/>
                <a:cs typeface="Calibri"/>
                <a:sym typeface="Calibri"/>
              </a:rPr>
              <a:t>Task Interference:</a:t>
            </a:r>
            <a:endParaRPr>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Char char="○"/>
            </a:pPr>
            <a:r>
              <a:rPr lang="en-US">
                <a:latin typeface="Calibri"/>
                <a:ea typeface="Calibri"/>
                <a:cs typeface="Calibri"/>
                <a:sym typeface="Calibri"/>
              </a:rPr>
              <a:t>Shared BERT encoder may mix conflicting signals between tasks.</a:t>
            </a:r>
            <a:endParaRPr>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Char char="●"/>
            </a:pPr>
            <a:r>
              <a:rPr lang="en-US">
                <a:latin typeface="Calibri"/>
                <a:ea typeface="Calibri"/>
                <a:cs typeface="Calibri"/>
                <a:sym typeface="Calibri"/>
              </a:rPr>
              <a:t>Data Heterogeneity:</a:t>
            </a:r>
            <a:endParaRPr>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Char char="○"/>
            </a:pPr>
            <a:r>
              <a:rPr lang="en-US">
                <a:latin typeface="Calibri"/>
                <a:ea typeface="Calibri"/>
                <a:cs typeface="Calibri"/>
                <a:sym typeface="Calibri"/>
              </a:rPr>
              <a:t>Merged datasets differ in annotation criteria and text style.</a:t>
            </a:r>
            <a:endParaRPr>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Char char="●"/>
            </a:pPr>
            <a:r>
              <a:rPr lang="en-US">
                <a:latin typeface="Calibri"/>
                <a:ea typeface="Calibri"/>
                <a:cs typeface="Calibri"/>
                <a:sym typeface="Calibri"/>
              </a:rPr>
              <a:t>Computational Overhead:</a:t>
            </a:r>
            <a:endParaRPr>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Char char="○"/>
            </a:pPr>
            <a:r>
              <a:rPr lang="en-US">
                <a:latin typeface="Calibri"/>
                <a:ea typeface="Calibri"/>
                <a:cs typeface="Calibri"/>
                <a:sym typeface="Calibri"/>
              </a:rPr>
              <a:t>Multitask setup increases memory usage and training time.</a:t>
            </a:r>
            <a:endParaRPr>
              <a:latin typeface="Calibri"/>
              <a:ea typeface="Calibri"/>
              <a:cs typeface="Calibri"/>
              <a:sym typeface="Calibri"/>
            </a:endParaRPr>
          </a:p>
          <a:p>
            <a:pPr indent="-317500" lvl="0" marL="457200" rtl="0" algn="l">
              <a:lnSpc>
                <a:spcPct val="150000"/>
              </a:lnSpc>
              <a:spcBef>
                <a:spcPts val="0"/>
              </a:spcBef>
              <a:spcAft>
                <a:spcPts val="0"/>
              </a:spcAft>
              <a:buSzPts val="1400"/>
              <a:buFont typeface="Calibri"/>
              <a:buChar char="●"/>
            </a:pPr>
            <a:r>
              <a:rPr lang="en-US">
                <a:latin typeface="Calibri"/>
                <a:ea typeface="Calibri"/>
                <a:cs typeface="Calibri"/>
                <a:sym typeface="Calibri"/>
              </a:rPr>
              <a:t>Evaluation Complexity:</a:t>
            </a:r>
            <a:endParaRPr>
              <a:latin typeface="Calibri"/>
              <a:ea typeface="Calibri"/>
              <a:cs typeface="Calibri"/>
              <a:sym typeface="Calibri"/>
            </a:endParaRPr>
          </a:p>
          <a:p>
            <a:pPr indent="-317500" lvl="1" marL="914400" rtl="0" algn="l">
              <a:lnSpc>
                <a:spcPct val="150000"/>
              </a:lnSpc>
              <a:spcBef>
                <a:spcPts val="0"/>
              </a:spcBef>
              <a:spcAft>
                <a:spcPts val="0"/>
              </a:spcAft>
              <a:buSzPts val="1400"/>
              <a:buFont typeface="Calibri"/>
              <a:buChar char="○"/>
            </a:pPr>
            <a:r>
              <a:rPr lang="en-US">
                <a:latin typeface="Calibri"/>
                <a:ea typeface="Calibri"/>
                <a:cs typeface="Calibri"/>
                <a:sym typeface="Calibri"/>
              </a:rPr>
              <a:t>Need for multi-metric analysis and careful baseline comparisons.</a:t>
            </a:r>
            <a:endParaRPr>
              <a:latin typeface="Calibri"/>
              <a:ea typeface="Calibri"/>
              <a:cs typeface="Calibri"/>
              <a:sym typeface="Calibri"/>
            </a:endParaRPr>
          </a:p>
          <a:p>
            <a:pPr indent="0" lvl="1" marL="342900" rtl="0" algn="l">
              <a:lnSpc>
                <a:spcPct val="150000"/>
              </a:lnSpc>
              <a:spcBef>
                <a:spcPts val="0"/>
              </a:spcBef>
              <a:spcAft>
                <a:spcPts val="0"/>
              </a:spcAft>
              <a:buClr>
                <a:srgbClr val="000000"/>
              </a:buClr>
              <a:buSzPts val="3000"/>
              <a:buFont typeface="Arial"/>
              <a:buNone/>
            </a:pPr>
            <a:r>
              <a:t/>
            </a:r>
            <a:endParaRPr sz="1100"/>
          </a:p>
        </p:txBody>
      </p:sp>
      <p:sp>
        <p:nvSpPr>
          <p:cNvPr id="396" name="Google Shape;396;p38"/>
          <p:cNvSpPr txBox="1"/>
          <p:nvPr>
            <p:ph idx="12" type="sldNum"/>
          </p:nvPr>
        </p:nvSpPr>
        <p:spPr>
          <a:xfrm>
            <a:off x="8411859" y="462560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3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a:t> </a:t>
            </a:r>
            <a:endParaRPr/>
          </a:p>
        </p:txBody>
      </p:sp>
      <p:sp>
        <p:nvSpPr>
          <p:cNvPr id="402" name="Google Shape;402;p39"/>
          <p:cNvSpPr txBox="1"/>
          <p:nvPr>
            <p:ph idx="1" type="subTitle"/>
          </p:nvPr>
        </p:nvSpPr>
        <p:spPr>
          <a:xfrm>
            <a:off x="720000" y="1017725"/>
            <a:ext cx="7330800" cy="3122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400"/>
              <a:buNone/>
            </a:pPr>
            <a:r>
              <a:t/>
            </a:r>
            <a:endParaRPr sz="1600"/>
          </a:p>
          <a:p>
            <a:pPr indent="-304800" lvl="1" marL="628650" rtl="0" algn="l">
              <a:lnSpc>
                <a:spcPct val="150000"/>
              </a:lnSpc>
              <a:spcBef>
                <a:spcPts val="0"/>
              </a:spcBef>
              <a:spcAft>
                <a:spcPts val="0"/>
              </a:spcAft>
              <a:buSzPts val="1700"/>
              <a:buFont typeface="Calibri"/>
              <a:buChar char="∞"/>
            </a:pPr>
            <a:r>
              <a:rPr lang="en-US" sz="1700">
                <a:latin typeface="Calibri"/>
                <a:ea typeface="Calibri"/>
                <a:cs typeface="Calibri"/>
                <a:sym typeface="Calibri"/>
              </a:rPr>
              <a:t>Expand datasets to include multilingual data.</a:t>
            </a:r>
            <a:endParaRPr sz="1700"/>
          </a:p>
          <a:p>
            <a:pPr indent="-304800" lvl="1" marL="628650" rtl="0" algn="l">
              <a:lnSpc>
                <a:spcPct val="150000"/>
              </a:lnSpc>
              <a:spcBef>
                <a:spcPts val="0"/>
              </a:spcBef>
              <a:spcAft>
                <a:spcPts val="0"/>
              </a:spcAft>
              <a:buSzPts val="1700"/>
              <a:buFont typeface="Calibri"/>
              <a:buChar char="∞"/>
            </a:pPr>
            <a:r>
              <a:rPr lang="en-US" sz="1700">
                <a:latin typeface="Calibri"/>
                <a:ea typeface="Calibri"/>
                <a:cs typeface="Calibri"/>
                <a:sym typeface="Calibri"/>
              </a:rPr>
              <a:t>Optimize latency for real-time deployment.</a:t>
            </a:r>
            <a:endParaRPr sz="1700"/>
          </a:p>
          <a:p>
            <a:pPr indent="-304800" lvl="1" marL="628650" rtl="0" algn="l">
              <a:lnSpc>
                <a:spcPct val="150000"/>
              </a:lnSpc>
              <a:spcBef>
                <a:spcPts val="0"/>
              </a:spcBef>
              <a:spcAft>
                <a:spcPts val="0"/>
              </a:spcAft>
              <a:buSzPts val="1700"/>
              <a:buFont typeface="Calibri"/>
              <a:buChar char="∞"/>
            </a:pPr>
            <a:r>
              <a:rPr lang="en-US" sz="1700">
                <a:latin typeface="Calibri"/>
                <a:ea typeface="Calibri"/>
                <a:cs typeface="Calibri"/>
                <a:sym typeface="Calibri"/>
              </a:rPr>
              <a:t>Incorporate live user feedback for retraining.</a:t>
            </a:r>
            <a:endParaRPr sz="1700"/>
          </a:p>
          <a:p>
            <a:pPr indent="0" lvl="1" marL="342900" rtl="0" algn="l">
              <a:lnSpc>
                <a:spcPct val="150000"/>
              </a:lnSpc>
              <a:spcBef>
                <a:spcPts val="0"/>
              </a:spcBef>
              <a:spcAft>
                <a:spcPts val="0"/>
              </a:spcAft>
              <a:buSzPts val="1400"/>
              <a:buNone/>
            </a:pPr>
            <a:r>
              <a:t/>
            </a:r>
            <a:endParaRPr sz="1600">
              <a:latin typeface="Calibri"/>
              <a:ea typeface="Calibri"/>
              <a:cs typeface="Calibri"/>
              <a:sym typeface="Calibri"/>
            </a:endParaRPr>
          </a:p>
          <a:p>
            <a:pPr indent="0" lvl="0" marL="0" rtl="0" algn="l">
              <a:lnSpc>
                <a:spcPct val="150000"/>
              </a:lnSpc>
              <a:spcBef>
                <a:spcPts val="0"/>
              </a:spcBef>
              <a:spcAft>
                <a:spcPts val="0"/>
              </a:spcAft>
              <a:buSzPts val="1400"/>
              <a:buNone/>
            </a:pPr>
            <a:r>
              <a:rPr b="1" lang="en-US" sz="1700">
                <a:latin typeface="Calibri"/>
                <a:ea typeface="Calibri"/>
                <a:cs typeface="Calibri"/>
                <a:sym typeface="Calibri"/>
              </a:rPr>
              <a:t>Deployment</a:t>
            </a:r>
            <a:r>
              <a:rPr lang="en-US" sz="1700">
                <a:latin typeface="Calibri"/>
                <a:ea typeface="Calibri"/>
                <a:cs typeface="Calibri"/>
                <a:sym typeface="Calibri"/>
              </a:rPr>
              <a:t>: </a:t>
            </a:r>
            <a:br>
              <a:rPr lang="en-US" sz="1600">
                <a:latin typeface="Calibri"/>
                <a:ea typeface="Calibri"/>
                <a:cs typeface="Calibri"/>
                <a:sym typeface="Calibri"/>
              </a:rPr>
            </a:br>
            <a:r>
              <a:rPr lang="en-US" sz="1600">
                <a:latin typeface="Calibri"/>
                <a:ea typeface="Calibri"/>
                <a:cs typeface="Calibri"/>
                <a:sym typeface="Calibri"/>
              </a:rPr>
              <a:t>              </a:t>
            </a:r>
            <a:r>
              <a:rPr lang="en-US" sz="1700">
                <a:latin typeface="Calibri"/>
                <a:ea typeface="Calibri"/>
                <a:cs typeface="Calibri"/>
                <a:sym typeface="Calibri"/>
              </a:rPr>
              <a:t> Real-world testing to evaluate impact on online discourse.</a:t>
            </a:r>
            <a:endParaRPr sz="1700"/>
          </a:p>
          <a:p>
            <a:pPr indent="0" lvl="0" marL="0" rtl="0" algn="l">
              <a:lnSpc>
                <a:spcPct val="150000"/>
              </a:lnSpc>
              <a:spcBef>
                <a:spcPts val="0"/>
              </a:spcBef>
              <a:spcAft>
                <a:spcPts val="0"/>
              </a:spcAft>
              <a:buSzPts val="1400"/>
              <a:buNone/>
            </a:pPr>
            <a:r>
              <a:t/>
            </a:r>
            <a:endParaRPr>
              <a:latin typeface="Calibri"/>
              <a:ea typeface="Calibri"/>
              <a:cs typeface="Calibri"/>
              <a:sym typeface="Calibri"/>
            </a:endParaRPr>
          </a:p>
        </p:txBody>
      </p:sp>
      <p:sp>
        <p:nvSpPr>
          <p:cNvPr id="403" name="Google Shape;403;p39"/>
          <p:cNvSpPr txBox="1"/>
          <p:nvPr>
            <p:ph type="title"/>
          </p:nvPr>
        </p:nvSpPr>
        <p:spPr>
          <a:xfrm>
            <a:off x="952298" y="445023"/>
            <a:ext cx="3233100" cy="365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Clr>
                <a:srgbClr val="000000"/>
              </a:buClr>
              <a:buSzPts val="1400"/>
              <a:buFont typeface="Arial"/>
              <a:buNone/>
            </a:pPr>
            <a:r>
              <a:rPr lang="en-US" sz="2800">
                <a:latin typeface="Calibri"/>
                <a:ea typeface="Calibri"/>
                <a:cs typeface="Calibri"/>
                <a:sym typeface="Calibri"/>
              </a:rPr>
              <a:t>Future Work</a:t>
            </a:r>
            <a:endParaRPr sz="2800"/>
          </a:p>
        </p:txBody>
      </p:sp>
      <p:sp>
        <p:nvSpPr>
          <p:cNvPr id="404" name="Google Shape;404;p39"/>
          <p:cNvSpPr txBox="1"/>
          <p:nvPr>
            <p:ph idx="12" type="sldNum"/>
          </p:nvPr>
        </p:nvSpPr>
        <p:spPr>
          <a:xfrm>
            <a:off x="8424009" y="464630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0"/>
          <p:cNvSpPr txBox="1"/>
          <p:nvPr>
            <p:ph idx="4294967295" type="title"/>
          </p:nvPr>
        </p:nvSpPr>
        <p:spPr>
          <a:xfrm>
            <a:off x="888050" y="67950"/>
            <a:ext cx="6624600" cy="39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3000"/>
              <a:buFont typeface="Sora"/>
              <a:buNone/>
            </a:pPr>
            <a:r>
              <a:rPr lang="en-US" sz="2800"/>
              <a:t>Team Contributions</a:t>
            </a:r>
            <a:endParaRPr sz="2800"/>
          </a:p>
        </p:txBody>
      </p:sp>
      <p:graphicFrame>
        <p:nvGraphicFramePr>
          <p:cNvPr id="410" name="Google Shape;410;p40"/>
          <p:cNvGraphicFramePr/>
          <p:nvPr/>
        </p:nvGraphicFramePr>
        <p:xfrm>
          <a:off x="888050" y="836552"/>
          <a:ext cx="3000000" cy="3000000"/>
        </p:xfrm>
        <a:graphic>
          <a:graphicData uri="http://schemas.openxmlformats.org/drawingml/2006/table">
            <a:tbl>
              <a:tblPr bandRow="1" firstRow="1">
                <a:gradFill>
                  <a:gsLst>
                    <a:gs pos="0">
                      <a:srgbClr val="B7E3EC"/>
                    </a:gs>
                    <a:gs pos="35000">
                      <a:srgbClr val="CDEBF1"/>
                    </a:gs>
                    <a:gs pos="100000">
                      <a:srgbClr val="E9F7FB"/>
                    </a:gs>
                  </a:gsLst>
                  <a:lin ang="16200000" scaled="0"/>
                </a:gradFill>
                <a:tableStyleId>{AE302279-3A16-4045-89FD-CC918BF007D4}</a:tableStyleId>
              </a:tblPr>
              <a:tblGrid>
                <a:gridCol w="1872575"/>
                <a:gridCol w="5809350"/>
              </a:tblGrid>
              <a:tr h="559725">
                <a:tc>
                  <a:txBody>
                    <a:bodyPr/>
                    <a:lstStyle/>
                    <a:p>
                      <a:pPr indent="0" lvl="0" marL="0" marR="0" rtl="0" algn="ctr">
                        <a:lnSpc>
                          <a:spcPct val="100000"/>
                        </a:lnSpc>
                        <a:spcBef>
                          <a:spcPts val="0"/>
                        </a:spcBef>
                        <a:spcAft>
                          <a:spcPts val="0"/>
                        </a:spcAft>
                        <a:buNone/>
                      </a:pPr>
                      <a:r>
                        <a:rPr lang="en-US" sz="1400" u="none" cap="none" strike="noStrike"/>
                        <a:t>Name</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t>Responsibilities</a:t>
                      </a:r>
                      <a:endParaRPr/>
                    </a:p>
                  </a:txBody>
                  <a:tcPr marT="45725" marB="45725" marR="91450" marL="91450" anchor="ctr"/>
                </a:tc>
              </a:tr>
              <a:tr h="461050">
                <a:tc>
                  <a:txBody>
                    <a:bodyPr/>
                    <a:lstStyle/>
                    <a:p>
                      <a:pPr indent="0" lvl="0" marL="0" marR="0" rtl="0" algn="ctr">
                        <a:lnSpc>
                          <a:spcPct val="100000"/>
                        </a:lnSpc>
                        <a:spcBef>
                          <a:spcPts val="0"/>
                        </a:spcBef>
                        <a:spcAft>
                          <a:spcPts val="0"/>
                        </a:spcAft>
                        <a:buNone/>
                      </a:pPr>
                      <a:r>
                        <a:rPr b="1" lang="en-US" sz="1400" u="none" cap="none" strike="noStrike"/>
                        <a:t>Aastha Shreya</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t>Prompting tasks, Unified Model using T5</a:t>
                      </a:r>
                      <a:r>
                        <a:rPr lang="en-US"/>
                        <a:t>,Final PPT.</a:t>
                      </a:r>
                      <a:endParaRPr/>
                    </a:p>
                  </a:txBody>
                  <a:tcPr marT="45725" marB="45725" marR="91450" marL="91450" anchor="ctr"/>
                </a:tc>
              </a:tr>
              <a:tr h="644175">
                <a:tc>
                  <a:txBody>
                    <a:bodyPr/>
                    <a:lstStyle/>
                    <a:p>
                      <a:pPr indent="0" lvl="0" marL="0" marR="0" rtl="0" algn="ctr">
                        <a:lnSpc>
                          <a:spcPct val="100000"/>
                        </a:lnSpc>
                        <a:spcBef>
                          <a:spcPts val="0"/>
                        </a:spcBef>
                        <a:spcAft>
                          <a:spcPts val="0"/>
                        </a:spcAft>
                        <a:buNone/>
                      </a:pPr>
                      <a:r>
                        <a:rPr b="1" lang="en-US" sz="1400" u="none" cap="none" strike="noStrike"/>
                        <a:t>Shivang Sinha</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lang="en-US"/>
                        <a:t>Dataset creation for unified model, Development of Unified model creation along with prompting in gpt-4o-mini, Final PPT.</a:t>
                      </a:r>
                      <a:endParaRPr/>
                    </a:p>
                  </a:txBody>
                  <a:tcPr marT="45725" marB="45725" marR="91450" marL="91450" anchor="ctr"/>
                </a:tc>
              </a:tr>
              <a:tr h="461050">
                <a:tc>
                  <a:txBody>
                    <a:bodyPr/>
                    <a:lstStyle/>
                    <a:p>
                      <a:pPr indent="0" lvl="0" marL="0" marR="0" rtl="0" algn="ctr">
                        <a:lnSpc>
                          <a:spcPct val="100000"/>
                        </a:lnSpc>
                        <a:spcBef>
                          <a:spcPts val="0"/>
                        </a:spcBef>
                        <a:spcAft>
                          <a:spcPts val="0"/>
                        </a:spcAft>
                        <a:buNone/>
                      </a:pPr>
                      <a:r>
                        <a:rPr b="1" lang="en-US" sz="1400" u="none" cap="none" strike="noStrike"/>
                        <a:t>Farhan Ali Arshad</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lang="en-US"/>
                        <a:t>QA</a:t>
                      </a:r>
                      <a:r>
                        <a:rPr lang="en-US" sz="1400" u="none" cap="none" strike="noStrike"/>
                        <a:t> Testing, </a:t>
                      </a:r>
                      <a:r>
                        <a:rPr lang="en-US"/>
                        <a:t>Mid-term Presentation,Prompt generation, Cleaning defakts dataset.</a:t>
                      </a:r>
                      <a:endParaRPr/>
                    </a:p>
                  </a:txBody>
                  <a:tcPr marT="45725" marB="45725" marR="91450" marL="91450" anchor="ctr"/>
                </a:tc>
              </a:tr>
              <a:tr h="644175">
                <a:tc>
                  <a:txBody>
                    <a:bodyPr/>
                    <a:lstStyle/>
                    <a:p>
                      <a:pPr indent="0" lvl="0" marL="0" marR="0" rtl="0" algn="ctr">
                        <a:lnSpc>
                          <a:spcPct val="100000"/>
                        </a:lnSpc>
                        <a:spcBef>
                          <a:spcPts val="0"/>
                        </a:spcBef>
                        <a:spcAft>
                          <a:spcPts val="0"/>
                        </a:spcAft>
                        <a:buNone/>
                      </a:pPr>
                      <a:r>
                        <a:rPr b="1" lang="en-US" sz="1400" u="none" cap="none" strike="noStrike"/>
                        <a:t>Syed Huzaifa Ali</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lang="en-US"/>
                        <a:t>P</a:t>
                      </a:r>
                      <a:r>
                        <a:rPr lang="en-US"/>
                        <a:t>roposal, Development of Individual model’s, SHAP Analysis of Individual &amp; Unified models, </a:t>
                      </a:r>
                      <a:r>
                        <a:rPr lang="en-US"/>
                        <a:t>Final PPT.</a:t>
                      </a:r>
                      <a:endParaRPr/>
                    </a:p>
                  </a:txBody>
                  <a:tcPr marT="45725" marB="45725" marR="91450" marL="91450" anchor="ctr"/>
                </a:tc>
              </a:tr>
              <a:tr h="461050">
                <a:tc>
                  <a:txBody>
                    <a:bodyPr/>
                    <a:lstStyle/>
                    <a:p>
                      <a:pPr indent="0" lvl="0" marL="0" marR="0" rtl="0" algn="ctr">
                        <a:lnSpc>
                          <a:spcPct val="100000"/>
                        </a:lnSpc>
                        <a:spcBef>
                          <a:spcPts val="0"/>
                        </a:spcBef>
                        <a:spcAft>
                          <a:spcPts val="0"/>
                        </a:spcAft>
                        <a:buNone/>
                      </a:pPr>
                      <a:r>
                        <a:rPr b="1" lang="en-US" sz="1400" u="none" cap="none" strike="noStrike"/>
                        <a:t>Donya Sheikhi</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lang="en-US"/>
                        <a:t>Final PPT creation</a:t>
                      </a:r>
                      <a:r>
                        <a:rPr lang="en-US" sz="1400" u="none" cap="none" strike="noStrike"/>
                        <a:t>, Frontend, Architecture Diagram</a:t>
                      </a:r>
                      <a:endParaRPr/>
                    </a:p>
                  </a:txBody>
                  <a:tcPr marT="45725" marB="45725" marR="91450" marL="91450" anchor="ctr"/>
                </a:tc>
              </a:tr>
              <a:tr h="461050">
                <a:tc>
                  <a:txBody>
                    <a:bodyPr/>
                    <a:lstStyle/>
                    <a:p>
                      <a:pPr indent="0" lvl="0" marL="0" marR="0" rtl="0" algn="ctr">
                        <a:lnSpc>
                          <a:spcPct val="100000"/>
                        </a:lnSpc>
                        <a:spcBef>
                          <a:spcPts val="0"/>
                        </a:spcBef>
                        <a:spcAft>
                          <a:spcPts val="0"/>
                        </a:spcAft>
                        <a:buNone/>
                      </a:pPr>
                      <a:r>
                        <a:rPr b="1" lang="en-US" sz="1400" u="none" cap="none" strike="noStrike"/>
                        <a:t>Muhammad Ahmed</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lang="en-US" sz="1400" u="none" cap="none" strike="noStrike"/>
                        <a:t>Data Collection, Preprocessing</a:t>
                      </a:r>
                      <a:endParaRPr/>
                    </a:p>
                  </a:txBody>
                  <a:tcPr marT="45725" marB="45725" marR="91450" marL="91450" anchor="ctr"/>
                </a:tc>
              </a:tr>
            </a:tbl>
          </a:graphicData>
        </a:graphic>
      </p:graphicFrame>
      <p:sp>
        <p:nvSpPr>
          <p:cNvPr id="411" name="Google Shape;411;p40"/>
          <p:cNvSpPr/>
          <p:nvPr/>
        </p:nvSpPr>
        <p:spPr>
          <a:xfrm>
            <a:off x="1" y="67941"/>
            <a:ext cx="138564" cy="230832"/>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412" name="Google Shape;412;p4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1"/>
          <p:cNvSpPr txBox="1"/>
          <p:nvPr>
            <p:ph idx="4294967295" type="title"/>
          </p:nvPr>
        </p:nvSpPr>
        <p:spPr>
          <a:xfrm>
            <a:off x="824550" y="0"/>
            <a:ext cx="7954200" cy="47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3000"/>
              <a:buFont typeface="Sora"/>
              <a:buNone/>
            </a:pPr>
            <a:r>
              <a:rPr lang="en-US" sz="1800"/>
              <a:t>End to End </a:t>
            </a:r>
            <a:r>
              <a:rPr lang="en-US" sz="1800"/>
              <a:t>Timeline</a:t>
            </a:r>
            <a:r>
              <a:rPr lang="en-US" sz="2100"/>
              <a:t> </a:t>
            </a:r>
            <a:r>
              <a:rPr lang="en-US" sz="1800"/>
              <a:t>Management- Mattermost Board</a:t>
            </a:r>
            <a:endParaRPr sz="1800"/>
          </a:p>
          <a:p>
            <a:pPr indent="0" lvl="0" marL="0" rtl="0" algn="l">
              <a:lnSpc>
                <a:spcPct val="100000"/>
              </a:lnSpc>
              <a:spcBef>
                <a:spcPts val="0"/>
              </a:spcBef>
              <a:spcAft>
                <a:spcPts val="0"/>
              </a:spcAft>
              <a:buClr>
                <a:schemeClr val="dk1"/>
              </a:buClr>
              <a:buSzPts val="3000"/>
              <a:buFont typeface="Sora"/>
              <a:buNone/>
            </a:pPr>
            <a:r>
              <a:rPr lang="en-US" sz="1500"/>
              <a:t>Just for reference </a:t>
            </a:r>
            <a:endParaRPr sz="1500"/>
          </a:p>
        </p:txBody>
      </p:sp>
      <p:sp>
        <p:nvSpPr>
          <p:cNvPr id="418" name="Google Shape;418;p41"/>
          <p:cNvSpPr/>
          <p:nvPr/>
        </p:nvSpPr>
        <p:spPr>
          <a:xfrm>
            <a:off x="1" y="67941"/>
            <a:ext cx="138564" cy="230832"/>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pic>
        <p:nvPicPr>
          <p:cNvPr descr="A screenshot of a computer&#10;&#10;Description automatically generated" id="419" name="Google Shape;419;p41"/>
          <p:cNvPicPr preferRelativeResize="0"/>
          <p:nvPr/>
        </p:nvPicPr>
        <p:blipFill rotWithShape="1">
          <a:blip r:embed="rId3">
            <a:alphaModFix/>
          </a:blip>
          <a:srcRect b="0" l="0" r="0" t="0"/>
          <a:stretch/>
        </p:blipFill>
        <p:spPr>
          <a:xfrm>
            <a:off x="764543" y="930550"/>
            <a:ext cx="8209456" cy="3793151"/>
          </a:xfrm>
          <a:prstGeom prst="rect">
            <a:avLst/>
          </a:prstGeom>
          <a:noFill/>
          <a:ln>
            <a:noFill/>
          </a:ln>
        </p:spPr>
      </p:pic>
      <p:sp>
        <p:nvSpPr>
          <p:cNvPr id="420" name="Google Shape;420;p4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descr="3D Bullseye | Please give attribution to 'ccPixs.com' (and p… | Flickr" id="421" name="Google Shape;421;p41"/>
          <p:cNvPicPr preferRelativeResize="0"/>
          <p:nvPr/>
        </p:nvPicPr>
        <p:blipFill>
          <a:blip r:embed="rId4">
            <a:alphaModFix/>
          </a:blip>
          <a:stretch>
            <a:fillRect/>
          </a:stretch>
        </p:blipFill>
        <p:spPr>
          <a:xfrm>
            <a:off x="8269189" y="67950"/>
            <a:ext cx="704809" cy="4701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2"/>
          <p:cNvSpPr txBox="1"/>
          <p:nvPr>
            <p:ph idx="1" type="subTitle"/>
          </p:nvPr>
        </p:nvSpPr>
        <p:spPr>
          <a:xfrm>
            <a:off x="484200" y="1444625"/>
            <a:ext cx="8048700" cy="3324600"/>
          </a:xfrm>
          <a:prstGeom prst="rect">
            <a:avLst/>
          </a:prstGeom>
          <a:noFill/>
          <a:ln>
            <a:noFill/>
          </a:ln>
        </p:spPr>
        <p:txBody>
          <a:bodyPr anchorCtr="0" anchor="ctr" bIns="45700" lIns="91425" spcFirstLastPara="1" rIns="91425" wrap="square" tIns="45700">
            <a:spAutoFit/>
          </a:bodyPr>
          <a:lstStyle/>
          <a:p>
            <a:pPr indent="-171450" lvl="0" marL="171450" rtl="0" algn="just">
              <a:lnSpc>
                <a:spcPct val="15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Devlin, J., Chang, M.-W., Lee, K., and Toutanova, K. (2019). BERT: Pre-training of Deep Bidirectional Transformers for Language Understanding. </a:t>
            </a:r>
            <a:r>
              <a:rPr b="0" i="1" lang="en-US" sz="1200" u="none" cap="none" strike="noStrike">
                <a:solidFill>
                  <a:schemeClr val="dk1"/>
                </a:solidFill>
                <a:latin typeface="Calibri"/>
                <a:ea typeface="Calibri"/>
                <a:cs typeface="Calibri"/>
                <a:sym typeface="Calibri"/>
              </a:rPr>
              <a:t>Proceedings of NAACL-HLT</a:t>
            </a:r>
            <a:r>
              <a:rPr b="0" i="0" lang="en-US" sz="1200" u="none" cap="none" strike="noStrike">
                <a:solidFill>
                  <a:schemeClr val="dk1"/>
                </a:solidFill>
                <a:latin typeface="Calibri"/>
                <a:ea typeface="Calibri"/>
                <a:cs typeface="Calibri"/>
                <a:sym typeface="Calibri"/>
              </a:rPr>
              <a:t>.</a:t>
            </a:r>
            <a:endParaRPr/>
          </a:p>
          <a:p>
            <a:pPr indent="-171450" lvl="0" marL="171450" rtl="0" algn="just">
              <a:lnSpc>
                <a:spcPct val="15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Reimers, N., and Gurevych, I. (2019). Sentence-BERT: Sentence Embeddings using Siamese BERT-Networks. </a:t>
            </a:r>
            <a:r>
              <a:rPr b="0" i="1" lang="en-US" sz="1200" u="none" cap="none" strike="noStrike">
                <a:solidFill>
                  <a:schemeClr val="dk1"/>
                </a:solidFill>
                <a:latin typeface="Calibri"/>
                <a:ea typeface="Calibri"/>
                <a:cs typeface="Calibri"/>
                <a:sym typeface="Calibri"/>
              </a:rPr>
              <a:t>Proceedings of EMNLP-IJCNLP</a:t>
            </a:r>
            <a:r>
              <a:rPr b="0" i="0" lang="en-US" sz="1200" u="none" cap="none" strike="noStrike">
                <a:solidFill>
                  <a:schemeClr val="dk1"/>
                </a:solidFill>
                <a:latin typeface="Calibri"/>
                <a:ea typeface="Calibri"/>
                <a:cs typeface="Calibri"/>
                <a:sym typeface="Calibri"/>
              </a:rPr>
              <a:t>.</a:t>
            </a:r>
            <a:endParaRPr/>
          </a:p>
          <a:p>
            <a:pPr indent="-171450" lvl="0" marL="171450" rtl="0" algn="just">
              <a:lnSpc>
                <a:spcPct val="15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Wulczyn, E., Thain, N., and Dixon, L. (2017). Ex Machina: Personal Attacks Seen at Scale. </a:t>
            </a:r>
            <a:r>
              <a:rPr b="0" i="1" lang="en-US" sz="1200" u="none" cap="none" strike="noStrike">
                <a:solidFill>
                  <a:schemeClr val="dk1"/>
                </a:solidFill>
                <a:latin typeface="Calibri"/>
                <a:ea typeface="Calibri"/>
                <a:cs typeface="Calibri"/>
                <a:sym typeface="Calibri"/>
              </a:rPr>
              <a:t>Proceedings of WWW</a:t>
            </a:r>
            <a:r>
              <a:rPr b="0" i="0" lang="en-US" sz="1200" u="none" cap="none" strike="noStrike">
                <a:solidFill>
                  <a:schemeClr val="dk1"/>
                </a:solidFill>
                <a:latin typeface="Calibri"/>
                <a:ea typeface="Calibri"/>
                <a:cs typeface="Calibri"/>
                <a:sym typeface="Calibri"/>
              </a:rPr>
              <a:t>.</a:t>
            </a:r>
            <a:endParaRPr/>
          </a:p>
          <a:p>
            <a:pPr indent="-171450" lvl="0" marL="171450" rtl="0" algn="just">
              <a:lnSpc>
                <a:spcPct val="15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Founta, A. M., Djouvas, C., Chatzakou, D., et al. (2018). Large Scale Crowdsourcing and Characterization of Twitter Abusive Behavior. </a:t>
            </a:r>
            <a:r>
              <a:rPr b="0" i="1" lang="en-US" sz="1200" u="none" cap="none" strike="noStrike">
                <a:solidFill>
                  <a:schemeClr val="dk1"/>
                </a:solidFill>
                <a:latin typeface="Calibri"/>
                <a:ea typeface="Calibri"/>
                <a:cs typeface="Calibri"/>
                <a:sym typeface="Calibri"/>
              </a:rPr>
              <a:t>Proceedings of ICWSM</a:t>
            </a:r>
            <a:r>
              <a:rPr b="0" i="0" lang="en-US" sz="1200" u="none" cap="none" strike="noStrike">
                <a:solidFill>
                  <a:schemeClr val="dk1"/>
                </a:solidFill>
                <a:latin typeface="Calibri"/>
                <a:ea typeface="Calibri"/>
                <a:cs typeface="Calibri"/>
                <a:sym typeface="Calibri"/>
              </a:rPr>
              <a:t>.</a:t>
            </a:r>
            <a:endParaRPr/>
          </a:p>
          <a:p>
            <a:pPr indent="-171450" lvl="0" marL="171450" rtl="0" algn="just">
              <a:lnSpc>
                <a:spcPct val="15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Powers, D. M. (2011). Evaluation: From Precision, Recall and F-Measure to ROC, Informedness, Markedness &amp; Correlation. </a:t>
            </a:r>
            <a:r>
              <a:rPr b="0" i="1" lang="en-US" sz="1200" u="none" cap="none" strike="noStrike">
                <a:solidFill>
                  <a:schemeClr val="dk1"/>
                </a:solidFill>
                <a:latin typeface="Calibri"/>
                <a:ea typeface="Calibri"/>
                <a:cs typeface="Calibri"/>
                <a:sym typeface="Calibri"/>
              </a:rPr>
              <a:t>Journal of Machine Learning Technologies</a:t>
            </a:r>
            <a:r>
              <a:rPr b="0" i="0" lang="en-US" sz="1200" u="none" cap="none" strike="noStrike">
                <a:solidFill>
                  <a:schemeClr val="dk1"/>
                </a:solidFill>
                <a:latin typeface="Calibri"/>
                <a:ea typeface="Calibri"/>
                <a:cs typeface="Calibri"/>
                <a:sym typeface="Calibri"/>
              </a:rPr>
              <a:t>.</a:t>
            </a:r>
            <a:endParaRPr/>
          </a:p>
          <a:p>
            <a:pPr indent="-171450" lvl="0" marL="171450" rtl="0" algn="just">
              <a:lnSpc>
                <a:spcPct val="15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Kobayashi, S. (2018). Contextual Augmentation: Data Augmentation by Words with Paradigmatic Relations. </a:t>
            </a:r>
            <a:r>
              <a:rPr b="0" i="1" lang="en-US" sz="1200" u="none" cap="none" strike="noStrike">
                <a:solidFill>
                  <a:schemeClr val="dk1"/>
                </a:solidFill>
                <a:latin typeface="Calibri"/>
                <a:ea typeface="Calibri"/>
                <a:cs typeface="Calibri"/>
                <a:sym typeface="Calibri"/>
              </a:rPr>
              <a:t>Proceedings of NAACL-HLT</a:t>
            </a:r>
            <a:r>
              <a:rPr b="0" i="0" lang="en-US" sz="1200" u="none" cap="none" strike="noStrike">
                <a:solidFill>
                  <a:schemeClr val="dk1"/>
                </a:solidFill>
                <a:latin typeface="Calibri"/>
                <a:ea typeface="Calibri"/>
                <a:cs typeface="Calibri"/>
                <a:sym typeface="Calibri"/>
              </a:rPr>
              <a:t>.</a:t>
            </a:r>
            <a:endParaRPr/>
          </a:p>
          <a:p>
            <a:pPr indent="-171450" lvl="0" marL="171450" rtl="0" algn="just">
              <a:lnSpc>
                <a:spcPct val="150000"/>
              </a:lnSpc>
              <a:spcBef>
                <a:spcPts val="0"/>
              </a:spcBef>
              <a:spcAft>
                <a:spcPts val="0"/>
              </a:spcAft>
              <a:buClr>
                <a:schemeClr val="dk1"/>
              </a:buClr>
              <a:buSzPts val="1200"/>
              <a:buFont typeface="Noto Sans Symbols"/>
              <a:buChar char="▪"/>
            </a:pPr>
            <a:r>
              <a:rPr b="0" i="0" lang="en-US" sz="1200" u="none" cap="none" strike="noStrike">
                <a:solidFill>
                  <a:schemeClr val="dk1"/>
                </a:solidFill>
                <a:latin typeface="Calibri"/>
                <a:ea typeface="Calibri"/>
                <a:cs typeface="Calibri"/>
                <a:sym typeface="Calibri"/>
              </a:rPr>
              <a:t>Binns, R. (2018). Fairness in Machine Learning: Lessons from Political Philosophy. </a:t>
            </a:r>
            <a:r>
              <a:rPr b="0" i="1" lang="en-US" sz="1200" u="none" cap="none" strike="noStrike">
                <a:solidFill>
                  <a:schemeClr val="dk1"/>
                </a:solidFill>
                <a:latin typeface="Calibri"/>
                <a:ea typeface="Calibri"/>
                <a:cs typeface="Calibri"/>
                <a:sym typeface="Calibri"/>
              </a:rPr>
              <a:t>Proceedings of FAT</a:t>
            </a:r>
            <a:r>
              <a:rPr b="0" i="0" lang="en-US" sz="1200" u="none" cap="none" strike="noStrike">
                <a:solidFill>
                  <a:schemeClr val="dk1"/>
                </a:solidFill>
                <a:latin typeface="Calibri"/>
                <a:ea typeface="Calibri"/>
                <a:cs typeface="Calibri"/>
                <a:sym typeface="Calibri"/>
              </a:rPr>
              <a:t>.</a:t>
            </a:r>
            <a:endParaRPr/>
          </a:p>
        </p:txBody>
      </p:sp>
      <p:sp>
        <p:nvSpPr>
          <p:cNvPr id="427" name="Google Shape;427;p4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800"/>
              <a:t>References</a:t>
            </a:r>
            <a:endParaRPr sz="2800"/>
          </a:p>
        </p:txBody>
      </p:sp>
      <p:sp>
        <p:nvSpPr>
          <p:cNvPr id="428" name="Google Shape;428;p42"/>
          <p:cNvSpPr txBox="1"/>
          <p:nvPr>
            <p:ph idx="12" type="sldNum"/>
          </p:nvPr>
        </p:nvSpPr>
        <p:spPr>
          <a:xfrm>
            <a:off x="8133034" y="474990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3"/>
          <p:cNvSpPr txBox="1"/>
          <p:nvPr>
            <p:ph type="ctrTitle"/>
          </p:nvPr>
        </p:nvSpPr>
        <p:spPr>
          <a:xfrm>
            <a:off x="981750" y="1045775"/>
            <a:ext cx="7350600" cy="8538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rgbClr val="191919"/>
              </a:buClr>
              <a:buSzPts val="5778"/>
              <a:buNone/>
            </a:pPr>
            <a:r>
              <a:rPr lang="en-US" sz="2800"/>
              <a:t>Thanks For your Attention</a:t>
            </a:r>
            <a:endParaRPr sz="2800"/>
          </a:p>
        </p:txBody>
      </p:sp>
      <p:sp>
        <p:nvSpPr>
          <p:cNvPr id="434" name="Google Shape;434;p43"/>
          <p:cNvSpPr txBox="1"/>
          <p:nvPr>
            <p:ph idx="1" type="subTitle"/>
          </p:nvPr>
        </p:nvSpPr>
        <p:spPr>
          <a:xfrm>
            <a:off x="4243075" y="1899575"/>
            <a:ext cx="4208400" cy="365700"/>
          </a:xfrm>
          <a:prstGeom prst="rect">
            <a:avLst/>
          </a:prstGeom>
          <a:solidFill>
            <a:schemeClr val="lt2"/>
          </a:solidFill>
          <a:ln>
            <a:noFill/>
          </a:ln>
        </p:spPr>
        <p:txBody>
          <a:bodyPr anchorCtr="0" anchor="ctr" bIns="91425" lIns="91425" spcFirstLastPara="1" rIns="91425" wrap="square" tIns="91425">
            <a:noAutofit/>
          </a:bodyPr>
          <a:lstStyle/>
          <a:p>
            <a:pPr indent="-317500" lvl="0" marL="457200" rtl="0" algn="l">
              <a:lnSpc>
                <a:spcPct val="115000"/>
              </a:lnSpc>
              <a:spcBef>
                <a:spcPts val="0"/>
              </a:spcBef>
              <a:spcAft>
                <a:spcPts val="0"/>
              </a:spcAft>
              <a:buSzPts val="1400"/>
              <a:buNone/>
            </a:pPr>
            <a:r>
              <a:rPr lang="en-US" sz="2000">
                <a:latin typeface="Calibri"/>
                <a:ea typeface="Calibri"/>
                <a:cs typeface="Calibri"/>
                <a:sym typeface="Calibri"/>
              </a:rPr>
              <a:t>Q&amp;A?</a:t>
            </a:r>
            <a:endParaRPr sz="2000"/>
          </a:p>
        </p:txBody>
      </p:sp>
      <p:sp>
        <p:nvSpPr>
          <p:cNvPr id="435" name="Google Shape;435;p4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I Essentials Workshop by Slidesgo">
  <a:themeElements>
    <a:clrScheme name="Simple Light">
      <a:dk1>
        <a:srgbClr val="0C343D"/>
      </a:dk1>
      <a:lt1>
        <a:srgbClr val="F3F7F8"/>
      </a:lt1>
      <a:dk2>
        <a:srgbClr val="134F5C"/>
      </a:dk2>
      <a:lt2>
        <a:srgbClr val="45818E"/>
      </a:lt2>
      <a:accent1>
        <a:srgbClr val="76A5AF"/>
      </a:accent1>
      <a:accent2>
        <a:srgbClr val="D9EAD3"/>
      </a:accent2>
      <a:accent3>
        <a:srgbClr val="88ADA5"/>
      </a:accent3>
      <a:accent4>
        <a:srgbClr val="F3F3F3"/>
      </a:accent4>
      <a:accent5>
        <a:srgbClr val="FFFFFF"/>
      </a:accent5>
      <a:accent6>
        <a:srgbClr val="FFFFFF"/>
      </a:accent6>
      <a:hlink>
        <a:srgbClr val="0C343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